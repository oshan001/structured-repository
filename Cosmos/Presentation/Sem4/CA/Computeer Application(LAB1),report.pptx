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1" r:id="rId6"/>
    <p:sldId id="263" r:id="rId7"/>
    <p:sldId id="265" r:id="rId8"/>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32" d="100"/>
          <a:sy n="32" d="100"/>
        </p:scale>
        <p:origin x="208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2624547-9D73-4523-B449-785333D6E080}"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FD881-76E4-4F7F-B5A3-3EDA099033F4}" type="slidenum">
              <a:rPr lang="en-US" smtClean="0"/>
              <a:t>‹#›</a:t>
            </a:fld>
            <a:endParaRPr lang="en-US"/>
          </a:p>
        </p:txBody>
      </p:sp>
    </p:spTree>
    <p:extLst>
      <p:ext uri="{BB962C8B-B14F-4D97-AF65-F5344CB8AC3E}">
        <p14:creationId xmlns:p14="http://schemas.microsoft.com/office/powerpoint/2010/main" val="971636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624547-9D73-4523-B449-785333D6E080}"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FD881-76E4-4F7F-B5A3-3EDA099033F4}" type="slidenum">
              <a:rPr lang="en-US" smtClean="0"/>
              <a:t>‹#›</a:t>
            </a:fld>
            <a:endParaRPr lang="en-US"/>
          </a:p>
        </p:txBody>
      </p:sp>
    </p:spTree>
    <p:extLst>
      <p:ext uri="{BB962C8B-B14F-4D97-AF65-F5344CB8AC3E}">
        <p14:creationId xmlns:p14="http://schemas.microsoft.com/office/powerpoint/2010/main" val="1526315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624547-9D73-4523-B449-785333D6E080}"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FD881-76E4-4F7F-B5A3-3EDA099033F4}" type="slidenum">
              <a:rPr lang="en-US" smtClean="0"/>
              <a:t>‹#›</a:t>
            </a:fld>
            <a:endParaRPr lang="en-US"/>
          </a:p>
        </p:txBody>
      </p:sp>
    </p:spTree>
    <p:extLst>
      <p:ext uri="{BB962C8B-B14F-4D97-AF65-F5344CB8AC3E}">
        <p14:creationId xmlns:p14="http://schemas.microsoft.com/office/powerpoint/2010/main" val="1794353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624547-9D73-4523-B449-785333D6E080}"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FD881-76E4-4F7F-B5A3-3EDA099033F4}" type="slidenum">
              <a:rPr lang="en-US" smtClean="0"/>
              <a:t>‹#›</a:t>
            </a:fld>
            <a:endParaRPr lang="en-US"/>
          </a:p>
        </p:txBody>
      </p:sp>
    </p:spTree>
    <p:extLst>
      <p:ext uri="{BB962C8B-B14F-4D97-AF65-F5344CB8AC3E}">
        <p14:creationId xmlns:p14="http://schemas.microsoft.com/office/powerpoint/2010/main" val="385924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624547-9D73-4523-B449-785333D6E080}" type="datetimeFigureOut">
              <a:rPr lang="en-US" smtClean="0"/>
              <a:t>5/14/2025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8FD881-76E4-4F7F-B5A3-3EDA099033F4}" type="slidenum">
              <a:rPr lang="en-US" smtClean="0"/>
              <a:t>‹#›</a:t>
            </a:fld>
            <a:endParaRPr lang="en-US"/>
          </a:p>
        </p:txBody>
      </p:sp>
    </p:spTree>
    <p:extLst>
      <p:ext uri="{BB962C8B-B14F-4D97-AF65-F5344CB8AC3E}">
        <p14:creationId xmlns:p14="http://schemas.microsoft.com/office/powerpoint/2010/main" val="658550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624547-9D73-4523-B449-785333D6E080}" type="datetimeFigureOut">
              <a:rPr lang="en-US" smtClean="0"/>
              <a:t>5/14/2025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8FD881-76E4-4F7F-B5A3-3EDA099033F4}" type="slidenum">
              <a:rPr lang="en-US" smtClean="0"/>
              <a:t>‹#›</a:t>
            </a:fld>
            <a:endParaRPr lang="en-US"/>
          </a:p>
        </p:txBody>
      </p:sp>
    </p:spTree>
    <p:extLst>
      <p:ext uri="{BB962C8B-B14F-4D97-AF65-F5344CB8AC3E}">
        <p14:creationId xmlns:p14="http://schemas.microsoft.com/office/powerpoint/2010/main" val="3948465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624547-9D73-4523-B449-785333D6E080}" type="datetimeFigureOut">
              <a:rPr lang="en-US" smtClean="0"/>
              <a:t>5/14/2025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8FD881-76E4-4F7F-B5A3-3EDA099033F4}" type="slidenum">
              <a:rPr lang="en-US" smtClean="0"/>
              <a:t>‹#›</a:t>
            </a:fld>
            <a:endParaRPr lang="en-US"/>
          </a:p>
        </p:txBody>
      </p:sp>
    </p:spTree>
    <p:extLst>
      <p:ext uri="{BB962C8B-B14F-4D97-AF65-F5344CB8AC3E}">
        <p14:creationId xmlns:p14="http://schemas.microsoft.com/office/powerpoint/2010/main" val="52650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72624547-9D73-4523-B449-785333D6E080}"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FD881-76E4-4F7F-B5A3-3EDA099033F4}" type="slidenum">
              <a:rPr lang="en-US" smtClean="0"/>
              <a:t>‹#›</a:t>
            </a:fld>
            <a:endParaRPr lang="en-US"/>
          </a:p>
        </p:txBody>
      </p:sp>
    </p:spTree>
    <p:extLst>
      <p:ext uri="{BB962C8B-B14F-4D97-AF65-F5344CB8AC3E}">
        <p14:creationId xmlns:p14="http://schemas.microsoft.com/office/powerpoint/2010/main" val="3514400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US"/>
              <a:t>Click icon to add picture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72624547-9D73-4523-B449-785333D6E080}"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8FD881-76E4-4F7F-B5A3-3EDA099033F4}" type="slidenum">
              <a:rPr lang="en-US" smtClean="0"/>
              <a:t>‹#›</a:t>
            </a:fld>
            <a:endParaRPr lang="en-US"/>
          </a:p>
        </p:txBody>
      </p:sp>
    </p:spTree>
    <p:extLst>
      <p:ext uri="{BB962C8B-B14F-4D97-AF65-F5344CB8AC3E}">
        <p14:creationId xmlns:p14="http://schemas.microsoft.com/office/powerpoint/2010/main" val="1713193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624547-9D73-4523-B449-785333D6E080}"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FD881-76E4-4F7F-B5A3-3EDA099033F4}" type="slidenum">
              <a:rPr lang="en-US" smtClean="0"/>
              <a:t>‹#›</a:t>
            </a:fld>
            <a:endParaRPr lang="en-US"/>
          </a:p>
        </p:txBody>
      </p:sp>
    </p:spTree>
    <p:extLst>
      <p:ext uri="{BB962C8B-B14F-4D97-AF65-F5344CB8AC3E}">
        <p14:creationId xmlns:p14="http://schemas.microsoft.com/office/powerpoint/2010/main" val="3544539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624547-9D73-4523-B449-785333D6E080}"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8FD881-76E4-4F7F-B5A3-3EDA099033F4}" type="slidenum">
              <a:rPr lang="en-US" smtClean="0"/>
              <a:t>‹#›</a:t>
            </a:fld>
            <a:endParaRPr lang="en-US"/>
          </a:p>
        </p:txBody>
      </p:sp>
    </p:spTree>
    <p:extLst>
      <p:ext uri="{BB962C8B-B14F-4D97-AF65-F5344CB8AC3E}">
        <p14:creationId xmlns:p14="http://schemas.microsoft.com/office/powerpoint/2010/main" val="2101747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72624547-9D73-4523-B449-785333D6E080}" type="datetimeFigureOut">
              <a:rPr lang="en-US" smtClean="0"/>
              <a:t>5/14/2025</a:t>
            </a:fld>
            <a:endParaRPr lang="en-US"/>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A48FD881-76E4-4F7F-B5A3-3EDA099033F4}" type="slidenum">
              <a:rPr lang="en-US" smtClean="0"/>
              <a:t>‹#›</a:t>
            </a:fld>
            <a:endParaRPr lang="en-US"/>
          </a:p>
        </p:txBody>
      </p:sp>
    </p:spTree>
    <p:extLst>
      <p:ext uri="{BB962C8B-B14F-4D97-AF65-F5344CB8AC3E}">
        <p14:creationId xmlns:p14="http://schemas.microsoft.com/office/powerpoint/2010/main" val="42515278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jpg"/><Relationship Id="rId1" Type="http://schemas.openxmlformats.org/officeDocument/2006/relationships/slideLayout" Target="../slideLayouts/slideLayout2.xml"/><Relationship Id="rId6" Type="http://schemas.openxmlformats.org/officeDocument/2006/relationships/image" Target="../media/image11.jp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EBA80E5-68F1-BE53-6764-EEBA555DF37C}"/>
              </a:ext>
            </a:extLst>
          </p:cNvPr>
          <p:cNvSpPr>
            <a:spLocks noGrp="1"/>
          </p:cNvSpPr>
          <p:nvPr>
            <p:ph type="subTitle" idx="1"/>
          </p:nvPr>
        </p:nvSpPr>
        <p:spPr>
          <a:xfrm>
            <a:off x="265471" y="206476"/>
            <a:ext cx="7462684" cy="10751575"/>
          </a:xfrm>
        </p:spPr>
        <p:txBody>
          <a:bodyPr>
            <a:normAutofit/>
          </a:bodyPr>
          <a:lstStyle/>
          <a:p>
            <a:pPr algn="l"/>
            <a:r>
              <a:rPr lang="en-US" sz="1612" b="1" i="1" u="sng" dirty="0"/>
              <a:t>Tittle:</a:t>
            </a:r>
          </a:p>
          <a:p>
            <a:pPr algn="l"/>
            <a:r>
              <a:rPr lang="en-US" i="1" dirty="0"/>
              <a:t> Introduction to Digital Logic Simulator</a:t>
            </a:r>
          </a:p>
          <a:p>
            <a:pPr algn="l"/>
            <a:r>
              <a:rPr lang="en-US" sz="1612" b="1" i="1" u="sng" dirty="0"/>
              <a:t>Objective:</a:t>
            </a:r>
          </a:p>
          <a:p>
            <a:pPr marL="212607" indent="-212607" algn="l">
              <a:buFont typeface="Arial" panose="020B0604020202020204" pitchFamily="34" charset="0"/>
              <a:buChar char="•"/>
            </a:pPr>
            <a:r>
              <a:rPr lang="en-US" i="1" dirty="0"/>
              <a:t>To learn how to use Digital Logic sim</a:t>
            </a:r>
          </a:p>
          <a:p>
            <a:pPr marL="212607" indent="-212607" algn="l">
              <a:buFont typeface="Arial" panose="020B0604020202020204" pitchFamily="34" charset="0"/>
              <a:buChar char="•"/>
            </a:pPr>
            <a:r>
              <a:rPr lang="en-US" i="1" dirty="0"/>
              <a:t>To learn how to create all types of gates using AND gates &amp; NOT gates</a:t>
            </a:r>
          </a:p>
          <a:p>
            <a:pPr algn="l"/>
            <a:r>
              <a:rPr lang="en-US" b="1" i="1" u="sng" dirty="0"/>
              <a:t>Theory:</a:t>
            </a:r>
          </a:p>
          <a:p>
            <a:pPr algn="l"/>
            <a:r>
              <a:rPr lang="en-US" sz="2000" i="1" dirty="0"/>
              <a:t>1)NOT gates</a:t>
            </a:r>
          </a:p>
          <a:p>
            <a:pPr algn="l"/>
            <a:r>
              <a:rPr lang="en-US" sz="2000" i="1" dirty="0"/>
              <a:t>  A type of  in which if input is high output will low(inverse).</a:t>
            </a:r>
          </a:p>
          <a:p>
            <a:pPr algn="l"/>
            <a:r>
              <a:rPr lang="en-US" sz="2000" i="1" dirty="0"/>
              <a:t>Symbol:                           Truth Table:               In DL Sim:                                                                                                </a:t>
            </a:r>
          </a:p>
          <a:p>
            <a:pPr algn="l"/>
            <a:endParaRPr lang="en-US" sz="1240" i="1" dirty="0"/>
          </a:p>
          <a:p>
            <a:pPr algn="l"/>
            <a:endParaRPr lang="en-US" sz="1240" i="1" dirty="0"/>
          </a:p>
          <a:p>
            <a:pPr algn="l"/>
            <a:endParaRPr lang="en-US" sz="1240" i="1" dirty="0"/>
          </a:p>
          <a:p>
            <a:pPr algn="l"/>
            <a:endParaRPr lang="en-US" sz="1240" i="1" dirty="0"/>
          </a:p>
          <a:p>
            <a:pPr algn="l"/>
            <a:endParaRPr lang="en-US" sz="1240" i="1" dirty="0"/>
          </a:p>
          <a:p>
            <a:pPr algn="l"/>
            <a:r>
              <a:rPr lang="en-US" sz="2000" i="1" dirty="0"/>
              <a:t>2)AND gate</a:t>
            </a:r>
          </a:p>
          <a:p>
            <a:pPr algn="l"/>
            <a:r>
              <a:rPr lang="en-US" sz="2000" i="1" dirty="0"/>
              <a:t>   A type of logic gate in which the output is high only if all of the </a:t>
            </a:r>
          </a:p>
          <a:p>
            <a:pPr algn="l"/>
            <a:r>
              <a:rPr lang="en-US" sz="2000" i="1" dirty="0"/>
              <a:t>   input are high and, its Boolean expression </a:t>
            </a:r>
            <a:r>
              <a:rPr lang="en-US" sz="2000" i="1" dirty="0">
                <a:sym typeface="Wingdings" panose="05000000000000000000" pitchFamily="2" charset="2"/>
              </a:rPr>
              <a:t>is</a:t>
            </a:r>
            <a:r>
              <a:rPr lang="en-US" sz="2000" i="1" dirty="0"/>
              <a:t>  Y=</a:t>
            </a:r>
            <a:r>
              <a:rPr lang="en-US" sz="2000" b="1" i="1" dirty="0"/>
              <a:t>A.B</a:t>
            </a:r>
            <a:r>
              <a:rPr lang="en-US" sz="2000" i="1" dirty="0"/>
              <a:t> </a:t>
            </a:r>
          </a:p>
          <a:p>
            <a:pPr algn="l"/>
            <a:r>
              <a:rPr lang="en-US" sz="2000" i="1" dirty="0"/>
              <a:t>              Symbol:                              Truth Table:</a:t>
            </a:r>
          </a:p>
          <a:p>
            <a:pPr algn="l"/>
            <a:endParaRPr lang="en-US" sz="2000" i="1" dirty="0"/>
          </a:p>
          <a:p>
            <a:pPr algn="l"/>
            <a:endParaRPr lang="en-US" sz="2000" i="1" dirty="0"/>
          </a:p>
          <a:p>
            <a:pPr algn="l"/>
            <a:endParaRPr lang="en-US" sz="2000" i="1" dirty="0"/>
          </a:p>
          <a:p>
            <a:pPr algn="l"/>
            <a:endParaRPr lang="en-US" sz="2000" i="1" dirty="0"/>
          </a:p>
          <a:p>
            <a:pPr algn="l"/>
            <a:r>
              <a:rPr lang="en-US" sz="2000" i="1" dirty="0"/>
              <a:t>    In DL Sim:</a:t>
            </a:r>
          </a:p>
          <a:p>
            <a:pPr algn="l"/>
            <a:endParaRPr lang="en-US" sz="2000" i="1" dirty="0"/>
          </a:p>
          <a:p>
            <a:pPr algn="l"/>
            <a:endParaRPr lang="en-US" sz="2000" i="1" dirty="0"/>
          </a:p>
          <a:p>
            <a:pPr algn="l"/>
            <a:endParaRPr lang="en-US" sz="2000" i="1" dirty="0"/>
          </a:p>
          <a:p>
            <a:pPr algn="l"/>
            <a:endParaRPr lang="en-US" sz="2000" i="1" dirty="0"/>
          </a:p>
          <a:p>
            <a:pPr algn="l"/>
            <a:endParaRPr lang="en-US" sz="2000" i="1" dirty="0"/>
          </a:p>
        </p:txBody>
      </p:sp>
      <p:pic>
        <p:nvPicPr>
          <p:cNvPr id="7" name="Picture 6">
            <a:extLst>
              <a:ext uri="{FF2B5EF4-FFF2-40B4-BE49-F238E27FC236}">
                <a16:creationId xmlns:a16="http://schemas.microsoft.com/office/drawing/2014/main" id="{679455A7-7993-DA95-0396-5CD3745FEB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223" y="3829542"/>
            <a:ext cx="1745191" cy="628269"/>
          </a:xfrm>
          <a:prstGeom prst="rect">
            <a:avLst/>
          </a:prstGeom>
        </p:spPr>
      </p:pic>
      <p:pic>
        <p:nvPicPr>
          <p:cNvPr id="9" name="Picture 8">
            <a:extLst>
              <a:ext uri="{FF2B5EF4-FFF2-40B4-BE49-F238E27FC236}">
                <a16:creationId xmlns:a16="http://schemas.microsoft.com/office/drawing/2014/main" id="{3A8FA683-F694-024A-FA17-A833813B92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2826" y="3887439"/>
            <a:ext cx="1745191" cy="1336282"/>
          </a:xfrm>
          <a:prstGeom prst="rect">
            <a:avLst/>
          </a:prstGeom>
        </p:spPr>
      </p:pic>
      <p:pic>
        <p:nvPicPr>
          <p:cNvPr id="12" name="Picture 11">
            <a:extLst>
              <a:ext uri="{FF2B5EF4-FFF2-40B4-BE49-F238E27FC236}">
                <a16:creationId xmlns:a16="http://schemas.microsoft.com/office/drawing/2014/main" id="{19E9F120-4AFC-3C65-F858-3AAFBC0D29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6429" y="3993470"/>
            <a:ext cx="2946234" cy="1124221"/>
          </a:xfrm>
          <a:prstGeom prst="rect">
            <a:avLst/>
          </a:prstGeom>
        </p:spPr>
      </p:pic>
      <p:pic>
        <p:nvPicPr>
          <p:cNvPr id="14" name="Picture 13">
            <a:extLst>
              <a:ext uri="{FF2B5EF4-FFF2-40B4-BE49-F238E27FC236}">
                <a16:creationId xmlns:a16="http://schemas.microsoft.com/office/drawing/2014/main" id="{16F78E3C-D1D8-D237-536B-37C7E216F0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571" y="6624078"/>
            <a:ext cx="2990850" cy="1533525"/>
          </a:xfrm>
          <a:prstGeom prst="rect">
            <a:avLst/>
          </a:prstGeom>
        </p:spPr>
      </p:pic>
      <p:pic>
        <p:nvPicPr>
          <p:cNvPr id="16" name="Picture 15">
            <a:extLst>
              <a:ext uri="{FF2B5EF4-FFF2-40B4-BE49-F238E27FC236}">
                <a16:creationId xmlns:a16="http://schemas.microsoft.com/office/drawing/2014/main" id="{81930DE7-5850-3414-7A71-A926679304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27600" y="6624283"/>
            <a:ext cx="4157023" cy="2440300"/>
          </a:xfrm>
          <a:prstGeom prst="rect">
            <a:avLst/>
          </a:prstGeom>
        </p:spPr>
      </p:pic>
      <p:pic>
        <p:nvPicPr>
          <p:cNvPr id="22" name="Picture 21">
            <a:extLst>
              <a:ext uri="{FF2B5EF4-FFF2-40B4-BE49-F238E27FC236}">
                <a16:creationId xmlns:a16="http://schemas.microsoft.com/office/drawing/2014/main" id="{A69D47EE-4BD9-55C6-7626-B0B5A5714B8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4421" y="8788067"/>
            <a:ext cx="3099986" cy="1457528"/>
          </a:xfrm>
          <a:prstGeom prst="rect">
            <a:avLst/>
          </a:prstGeom>
        </p:spPr>
      </p:pic>
    </p:spTree>
    <p:extLst>
      <p:ext uri="{BB962C8B-B14F-4D97-AF65-F5344CB8AC3E}">
        <p14:creationId xmlns:p14="http://schemas.microsoft.com/office/powerpoint/2010/main" val="3749175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74176A-94AE-7228-2D9D-19462CAC4640}"/>
              </a:ext>
            </a:extLst>
          </p:cNvPr>
          <p:cNvSpPr>
            <a:spLocks noGrp="1"/>
          </p:cNvSpPr>
          <p:nvPr>
            <p:ph idx="1"/>
          </p:nvPr>
        </p:nvSpPr>
        <p:spPr>
          <a:xfrm>
            <a:off x="353961" y="353960"/>
            <a:ext cx="7359445" cy="10545098"/>
          </a:xfrm>
        </p:spPr>
        <p:txBody>
          <a:bodyPr>
            <a:normAutofit/>
          </a:bodyPr>
          <a:lstStyle/>
          <a:p>
            <a:pPr marL="0" indent="0">
              <a:buNone/>
            </a:pPr>
            <a:r>
              <a:rPr lang="en-US" sz="2000" i="1" dirty="0"/>
              <a:t>3)OR Gate</a:t>
            </a:r>
          </a:p>
          <a:p>
            <a:pPr>
              <a:buNone/>
            </a:pPr>
            <a:r>
              <a:rPr lang="en-US" sz="2000" i="1" dirty="0"/>
              <a:t>   A type of logic gate in which the output is high if at least one of the inputs is high and, its Boolean expression </a:t>
            </a:r>
            <a:r>
              <a:rPr lang="en-US" sz="2000" i="1" dirty="0">
                <a:sym typeface="Wingdings" panose="05000000000000000000" pitchFamily="2" charset="2"/>
              </a:rPr>
              <a:t>is</a:t>
            </a:r>
            <a:r>
              <a:rPr lang="en-US" sz="2000" i="1" dirty="0"/>
              <a:t>  Y=</a:t>
            </a:r>
            <a:r>
              <a:rPr lang="en-US" sz="2000" b="1" i="1" dirty="0"/>
              <a:t>A+B</a:t>
            </a:r>
            <a:r>
              <a:rPr lang="en-US" sz="2000" i="1" dirty="0"/>
              <a:t> </a:t>
            </a:r>
          </a:p>
          <a:p>
            <a:pPr>
              <a:buNone/>
            </a:pPr>
            <a:r>
              <a:rPr lang="en-US" sz="2000" i="1" dirty="0"/>
              <a:t>Symbol:                                               Truth Table:</a:t>
            </a:r>
          </a:p>
          <a:p>
            <a:pPr>
              <a:buNone/>
            </a:pPr>
            <a:endParaRPr lang="en-US" sz="2000" i="1" dirty="0"/>
          </a:p>
          <a:p>
            <a:pPr>
              <a:buNone/>
            </a:pPr>
            <a:endParaRPr lang="en-US" sz="2000" i="1" dirty="0"/>
          </a:p>
          <a:p>
            <a:pPr>
              <a:buNone/>
            </a:pPr>
            <a:endParaRPr lang="en-US" sz="2000" i="1" dirty="0"/>
          </a:p>
          <a:p>
            <a:pPr>
              <a:buNone/>
            </a:pPr>
            <a:endParaRPr lang="en-US" sz="2000" i="1" dirty="0"/>
          </a:p>
          <a:p>
            <a:pPr>
              <a:buNone/>
            </a:pPr>
            <a:r>
              <a:rPr lang="en-US" sz="2000" i="1" dirty="0"/>
              <a:t>In DL Sim:</a:t>
            </a:r>
          </a:p>
          <a:p>
            <a:pPr>
              <a:buNone/>
            </a:pPr>
            <a:endParaRPr lang="en-US" sz="2800" i="1" dirty="0"/>
          </a:p>
          <a:p>
            <a:pPr>
              <a:buNone/>
            </a:pPr>
            <a:endParaRPr lang="en-US" sz="2000" i="1" dirty="0"/>
          </a:p>
          <a:p>
            <a:pPr>
              <a:buNone/>
            </a:pPr>
            <a:r>
              <a:rPr lang="en-US" sz="2000" i="1" dirty="0"/>
              <a:t>4)NAND Gate</a:t>
            </a:r>
            <a:br>
              <a:rPr lang="en-US" sz="2000" i="1" dirty="0"/>
            </a:br>
            <a:r>
              <a:rPr lang="en-US" sz="2000" i="1" dirty="0"/>
              <a:t>A type of logic gate in which the output is high unless all of the inputs are high and, its Boolean expression </a:t>
            </a:r>
            <a:r>
              <a:rPr lang="en-US" sz="2000" i="1" dirty="0">
                <a:sym typeface="Wingdings" panose="05000000000000000000" pitchFamily="2" charset="2"/>
              </a:rPr>
              <a:t>is</a:t>
            </a:r>
            <a:r>
              <a:rPr lang="en-US" sz="2000" i="1" dirty="0"/>
              <a:t>  Y=(</a:t>
            </a:r>
            <a:r>
              <a:rPr lang="en-US" sz="2000" b="1" i="1" dirty="0"/>
              <a:t>A.B)’</a:t>
            </a:r>
            <a:endParaRPr lang="en-US" sz="2000" i="1" dirty="0"/>
          </a:p>
          <a:p>
            <a:pPr>
              <a:buNone/>
            </a:pPr>
            <a:r>
              <a:rPr lang="en-US" sz="2000" i="1" dirty="0"/>
              <a:t>Symbol:                                                              Truth Table:</a:t>
            </a:r>
          </a:p>
          <a:p>
            <a:pPr>
              <a:buNone/>
            </a:pPr>
            <a:endParaRPr lang="en-US" sz="2000" i="1" dirty="0"/>
          </a:p>
          <a:p>
            <a:pPr>
              <a:buNone/>
            </a:pPr>
            <a:endParaRPr lang="en-US" sz="2000" i="1" dirty="0"/>
          </a:p>
          <a:p>
            <a:pPr>
              <a:buNone/>
            </a:pPr>
            <a:endParaRPr lang="en-US" sz="2000" i="1" dirty="0"/>
          </a:p>
          <a:p>
            <a:pPr>
              <a:buNone/>
            </a:pPr>
            <a:endParaRPr lang="en-US" sz="2000" i="1" dirty="0"/>
          </a:p>
          <a:p>
            <a:pPr>
              <a:buNone/>
            </a:pPr>
            <a:r>
              <a:rPr lang="en-US" sz="2000" i="1" dirty="0"/>
              <a:t>In DL Sim:</a:t>
            </a:r>
          </a:p>
          <a:p>
            <a:pPr>
              <a:buNone/>
            </a:pPr>
            <a:endParaRPr lang="en-US" sz="2000" i="1" dirty="0"/>
          </a:p>
          <a:p>
            <a:pPr>
              <a:buNone/>
            </a:pPr>
            <a:endParaRPr lang="en-US" sz="2000" i="1" dirty="0"/>
          </a:p>
          <a:p>
            <a:pPr>
              <a:buNone/>
            </a:pPr>
            <a:endParaRPr lang="en-US" sz="2000" i="1" dirty="0"/>
          </a:p>
          <a:p>
            <a:pPr>
              <a:buNone/>
            </a:pPr>
            <a:endParaRPr lang="en-US" sz="2000" i="1" dirty="0"/>
          </a:p>
          <a:p>
            <a:pPr>
              <a:buNone/>
            </a:pPr>
            <a:r>
              <a:rPr lang="en-US" sz="2000" i="1" dirty="0"/>
              <a:t>5) NOR Gate</a:t>
            </a:r>
            <a:br>
              <a:rPr lang="en-US" sz="2000" i="1" dirty="0"/>
            </a:br>
            <a:r>
              <a:rPr lang="en-US" sz="2000" i="1" dirty="0"/>
              <a:t>A type of logic gate in which the output is high only if all of the inputs are low and, its Boolean expression </a:t>
            </a:r>
            <a:r>
              <a:rPr lang="en-US" sz="2000" i="1" dirty="0">
                <a:sym typeface="Wingdings" panose="05000000000000000000" pitchFamily="2" charset="2"/>
              </a:rPr>
              <a:t>is</a:t>
            </a:r>
            <a:r>
              <a:rPr lang="en-US" sz="2000" i="1" dirty="0"/>
              <a:t>  Y=</a:t>
            </a:r>
            <a:r>
              <a:rPr lang="en-US" sz="2000" b="1" i="1" dirty="0"/>
              <a:t>(A+B)’</a:t>
            </a:r>
          </a:p>
          <a:p>
            <a:pPr>
              <a:buNone/>
            </a:pPr>
            <a:endParaRPr lang="en-US" sz="2000" i="1" dirty="0"/>
          </a:p>
          <a:p>
            <a:pPr>
              <a:buNone/>
            </a:pPr>
            <a:endParaRPr lang="en-US" sz="2000" i="1" dirty="0"/>
          </a:p>
          <a:p>
            <a:pPr>
              <a:buNone/>
            </a:pPr>
            <a:endParaRPr lang="en-US" sz="2000" i="1" dirty="0"/>
          </a:p>
        </p:txBody>
      </p:sp>
      <p:pic>
        <p:nvPicPr>
          <p:cNvPr id="5" name="Picture 4">
            <a:extLst>
              <a:ext uri="{FF2B5EF4-FFF2-40B4-BE49-F238E27FC236}">
                <a16:creationId xmlns:a16="http://schemas.microsoft.com/office/drawing/2014/main" id="{9F7CF587-82BC-FBDC-6BFD-B264E897CF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881" y="1886214"/>
            <a:ext cx="3305175" cy="1381125"/>
          </a:xfrm>
          <a:prstGeom prst="rect">
            <a:avLst/>
          </a:prstGeom>
        </p:spPr>
      </p:pic>
      <p:pic>
        <p:nvPicPr>
          <p:cNvPr id="7" name="Picture 6">
            <a:extLst>
              <a:ext uri="{FF2B5EF4-FFF2-40B4-BE49-F238E27FC236}">
                <a16:creationId xmlns:a16="http://schemas.microsoft.com/office/drawing/2014/main" id="{D98E0C5E-1A60-3CB5-4ABB-BA808BA9F4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7709" y="1914866"/>
            <a:ext cx="2552700" cy="1514475"/>
          </a:xfrm>
          <a:prstGeom prst="rect">
            <a:avLst/>
          </a:prstGeom>
        </p:spPr>
      </p:pic>
      <p:pic>
        <p:nvPicPr>
          <p:cNvPr id="9" name="Picture 8">
            <a:extLst>
              <a:ext uri="{FF2B5EF4-FFF2-40B4-BE49-F238E27FC236}">
                <a16:creationId xmlns:a16="http://schemas.microsoft.com/office/drawing/2014/main" id="{6CFE7AB5-9A4B-7596-1524-3122052643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9715" y="7752569"/>
            <a:ext cx="3641103" cy="1296652"/>
          </a:xfrm>
          <a:prstGeom prst="rect">
            <a:avLst/>
          </a:prstGeom>
        </p:spPr>
      </p:pic>
      <p:pic>
        <p:nvPicPr>
          <p:cNvPr id="11" name="Picture 10">
            <a:extLst>
              <a:ext uri="{FF2B5EF4-FFF2-40B4-BE49-F238E27FC236}">
                <a16:creationId xmlns:a16="http://schemas.microsoft.com/office/drawing/2014/main" id="{619F2702-5087-3AF4-4DC4-CBC5EFBC14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56495" y="3479817"/>
            <a:ext cx="3258005" cy="962159"/>
          </a:xfrm>
          <a:prstGeom prst="rect">
            <a:avLst/>
          </a:prstGeom>
        </p:spPr>
      </p:pic>
      <p:pic>
        <p:nvPicPr>
          <p:cNvPr id="13" name="Picture 12">
            <a:extLst>
              <a:ext uri="{FF2B5EF4-FFF2-40B4-BE49-F238E27FC236}">
                <a16:creationId xmlns:a16="http://schemas.microsoft.com/office/drawing/2014/main" id="{059270B4-F5AA-F30E-3A19-559A5D5891D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6767" y="5831221"/>
            <a:ext cx="3562350" cy="1123950"/>
          </a:xfrm>
          <a:prstGeom prst="rect">
            <a:avLst/>
          </a:prstGeom>
        </p:spPr>
      </p:pic>
      <p:pic>
        <p:nvPicPr>
          <p:cNvPr id="15" name="Picture 14">
            <a:extLst>
              <a:ext uri="{FF2B5EF4-FFF2-40B4-BE49-F238E27FC236}">
                <a16:creationId xmlns:a16="http://schemas.microsoft.com/office/drawing/2014/main" id="{D918FD16-BF32-9EE7-2469-05FD09FFDF0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57316" y="5887700"/>
            <a:ext cx="3095625" cy="1476375"/>
          </a:xfrm>
          <a:prstGeom prst="rect">
            <a:avLst/>
          </a:prstGeom>
        </p:spPr>
      </p:pic>
    </p:spTree>
    <p:extLst>
      <p:ext uri="{BB962C8B-B14F-4D97-AF65-F5344CB8AC3E}">
        <p14:creationId xmlns:p14="http://schemas.microsoft.com/office/powerpoint/2010/main" val="2604762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6472EA-1E41-DF10-FECB-E228B0F53EC0}"/>
              </a:ext>
            </a:extLst>
          </p:cNvPr>
          <p:cNvSpPr>
            <a:spLocks noGrp="1"/>
          </p:cNvSpPr>
          <p:nvPr>
            <p:ph idx="1"/>
          </p:nvPr>
        </p:nvSpPr>
        <p:spPr>
          <a:xfrm>
            <a:off x="519727" y="353961"/>
            <a:ext cx="7039947" cy="10220633"/>
          </a:xfrm>
        </p:spPr>
        <p:txBody>
          <a:bodyPr>
            <a:normAutofit/>
          </a:bodyPr>
          <a:lstStyle/>
          <a:p>
            <a:pPr>
              <a:buNone/>
            </a:pPr>
            <a:r>
              <a:rPr lang="en-US" sz="2000" i="1" dirty="0"/>
              <a:t>Symbol:                                                          Truth Table:</a:t>
            </a:r>
          </a:p>
          <a:p>
            <a:pPr>
              <a:buNone/>
            </a:pPr>
            <a:endParaRPr lang="en-US" sz="2000" i="1" dirty="0"/>
          </a:p>
          <a:p>
            <a:pPr>
              <a:buNone/>
            </a:pPr>
            <a:endParaRPr lang="en-US" sz="2000" i="1" dirty="0"/>
          </a:p>
          <a:p>
            <a:pPr>
              <a:buNone/>
            </a:pPr>
            <a:endParaRPr lang="en-US" sz="2000" i="1" dirty="0"/>
          </a:p>
          <a:p>
            <a:pPr>
              <a:buNone/>
            </a:pPr>
            <a:endParaRPr lang="en-US" sz="2000" i="1" dirty="0"/>
          </a:p>
          <a:p>
            <a:pPr>
              <a:buNone/>
            </a:pPr>
            <a:endParaRPr lang="en-US" sz="2000" i="1" dirty="0"/>
          </a:p>
          <a:p>
            <a:pPr>
              <a:buNone/>
            </a:pPr>
            <a:r>
              <a:rPr lang="en-US" sz="2000" i="1" dirty="0"/>
              <a:t>In DL Sim:</a:t>
            </a:r>
          </a:p>
          <a:p>
            <a:pPr>
              <a:buNone/>
            </a:pPr>
            <a:endParaRPr lang="en-US" sz="2000" i="1" dirty="0"/>
          </a:p>
          <a:p>
            <a:pPr>
              <a:buNone/>
            </a:pPr>
            <a:endParaRPr lang="en-US" sz="2000" i="1" dirty="0"/>
          </a:p>
          <a:p>
            <a:pPr>
              <a:buNone/>
            </a:pPr>
            <a:endParaRPr lang="en-US" sz="2000" i="1" dirty="0"/>
          </a:p>
          <a:p>
            <a:pPr>
              <a:buNone/>
            </a:pPr>
            <a:endParaRPr lang="en-US" sz="2000" i="1" dirty="0"/>
          </a:p>
          <a:p>
            <a:pPr>
              <a:buNone/>
            </a:pPr>
            <a:endParaRPr lang="en-US" sz="2000" i="1" dirty="0"/>
          </a:p>
          <a:p>
            <a:pPr>
              <a:buNone/>
            </a:pPr>
            <a:endParaRPr lang="en-US" sz="2000" i="1" dirty="0"/>
          </a:p>
          <a:p>
            <a:pPr>
              <a:buNone/>
            </a:pPr>
            <a:r>
              <a:rPr lang="en-US" sz="2000" i="1" dirty="0"/>
              <a:t>6) XOR Gate (Exclusive OR)</a:t>
            </a:r>
          </a:p>
          <a:p>
            <a:pPr marL="0" indent="0">
              <a:buNone/>
            </a:pPr>
            <a:r>
              <a:rPr lang="en-US" sz="2000" i="1" dirty="0"/>
              <a:t>    A type of logic gate in which the output is high only if exactly one of the  input is high and, its Boolean expression </a:t>
            </a:r>
            <a:r>
              <a:rPr lang="en-US" sz="2000" i="1" dirty="0">
                <a:sym typeface="Wingdings" panose="05000000000000000000" pitchFamily="2" charset="2"/>
              </a:rPr>
              <a:t>is</a:t>
            </a:r>
            <a:r>
              <a:rPr lang="en-US" sz="2000" i="1" dirty="0"/>
              <a:t>  Y=</a:t>
            </a:r>
            <a:r>
              <a:rPr lang="en-US" sz="2000" b="1" i="1" dirty="0"/>
              <a:t>BA’+AB’</a:t>
            </a:r>
          </a:p>
          <a:p>
            <a:pPr marL="0" indent="0">
              <a:buNone/>
            </a:pPr>
            <a:r>
              <a:rPr lang="en-US" sz="2000" i="1" dirty="0"/>
              <a:t>Symbol:                                          Truth Table:</a:t>
            </a:r>
          </a:p>
          <a:p>
            <a:pPr marL="0" indent="0">
              <a:buNone/>
            </a:pPr>
            <a:endParaRPr lang="en-US" sz="2000" i="1" dirty="0"/>
          </a:p>
          <a:p>
            <a:pPr marL="0" indent="0">
              <a:buNone/>
            </a:pPr>
            <a:endParaRPr lang="en-US" sz="2000" i="1" dirty="0"/>
          </a:p>
          <a:p>
            <a:pPr marL="0" indent="0">
              <a:buNone/>
            </a:pPr>
            <a:endParaRPr lang="en-US" sz="2000" i="1" dirty="0"/>
          </a:p>
          <a:p>
            <a:pPr marL="0" indent="0">
              <a:buNone/>
            </a:pPr>
            <a:endParaRPr lang="en-US" sz="2000" i="1" dirty="0"/>
          </a:p>
          <a:p>
            <a:pPr marL="0" indent="0">
              <a:buNone/>
            </a:pPr>
            <a:r>
              <a:rPr lang="en-US" sz="2000" i="1" dirty="0"/>
              <a:t>In DL Sim:</a:t>
            </a:r>
          </a:p>
        </p:txBody>
      </p:sp>
      <p:pic>
        <p:nvPicPr>
          <p:cNvPr id="5" name="Picture 4">
            <a:extLst>
              <a:ext uri="{FF2B5EF4-FFF2-40B4-BE49-F238E27FC236}">
                <a16:creationId xmlns:a16="http://schemas.microsoft.com/office/drawing/2014/main" id="{CC1C6FB9-3B82-93C7-5B43-2B1C189C5C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932" y="997743"/>
            <a:ext cx="3314700" cy="1381125"/>
          </a:xfrm>
          <a:prstGeom prst="rect">
            <a:avLst/>
          </a:prstGeom>
        </p:spPr>
      </p:pic>
      <p:pic>
        <p:nvPicPr>
          <p:cNvPr id="7" name="Picture 6">
            <a:extLst>
              <a:ext uri="{FF2B5EF4-FFF2-40B4-BE49-F238E27FC236}">
                <a16:creationId xmlns:a16="http://schemas.microsoft.com/office/drawing/2014/main" id="{9779D2AA-8C6D-3078-38C4-2C457EB2DF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0772" y="1157056"/>
            <a:ext cx="2978305" cy="1674634"/>
          </a:xfrm>
          <a:prstGeom prst="rect">
            <a:avLst/>
          </a:prstGeom>
        </p:spPr>
      </p:pic>
      <p:pic>
        <p:nvPicPr>
          <p:cNvPr id="9" name="Picture 8">
            <a:extLst>
              <a:ext uri="{FF2B5EF4-FFF2-40B4-BE49-F238E27FC236}">
                <a16:creationId xmlns:a16="http://schemas.microsoft.com/office/drawing/2014/main" id="{2B6CFA35-19D5-2A32-938A-B4623A7679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3888" y="8611733"/>
            <a:ext cx="3879327" cy="1652731"/>
          </a:xfrm>
          <a:prstGeom prst="rect">
            <a:avLst/>
          </a:prstGeom>
        </p:spPr>
      </p:pic>
      <p:pic>
        <p:nvPicPr>
          <p:cNvPr id="11" name="Picture 10">
            <a:extLst>
              <a:ext uri="{FF2B5EF4-FFF2-40B4-BE49-F238E27FC236}">
                <a16:creationId xmlns:a16="http://schemas.microsoft.com/office/drawing/2014/main" id="{03D4C9C8-991E-D8E3-6009-B4B2CBC91F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3117" y="3128624"/>
            <a:ext cx="5239481" cy="1705213"/>
          </a:xfrm>
          <a:prstGeom prst="rect">
            <a:avLst/>
          </a:prstGeom>
        </p:spPr>
      </p:pic>
      <p:pic>
        <p:nvPicPr>
          <p:cNvPr id="13" name="Picture 12">
            <a:extLst>
              <a:ext uri="{FF2B5EF4-FFF2-40B4-BE49-F238E27FC236}">
                <a16:creationId xmlns:a16="http://schemas.microsoft.com/office/drawing/2014/main" id="{C5717E6F-A558-8E73-9CBB-8D43826C91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93137" y="6672652"/>
            <a:ext cx="2562225" cy="1447800"/>
          </a:xfrm>
          <a:prstGeom prst="rect">
            <a:avLst/>
          </a:prstGeom>
        </p:spPr>
      </p:pic>
      <p:pic>
        <p:nvPicPr>
          <p:cNvPr id="15" name="Picture 14">
            <a:extLst>
              <a:ext uri="{FF2B5EF4-FFF2-40B4-BE49-F238E27FC236}">
                <a16:creationId xmlns:a16="http://schemas.microsoft.com/office/drawing/2014/main" id="{22E8FF83-7594-DFB1-1134-10AB6023761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8129" y="6710581"/>
            <a:ext cx="2838846" cy="1047896"/>
          </a:xfrm>
          <a:prstGeom prst="rect">
            <a:avLst/>
          </a:prstGeom>
        </p:spPr>
      </p:pic>
    </p:spTree>
    <p:extLst>
      <p:ext uri="{BB962C8B-B14F-4D97-AF65-F5344CB8AC3E}">
        <p14:creationId xmlns:p14="http://schemas.microsoft.com/office/powerpoint/2010/main" val="2389090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954834-0C7E-1FED-E050-7D4C9918EDF0}"/>
              </a:ext>
            </a:extLst>
          </p:cNvPr>
          <p:cNvSpPr>
            <a:spLocks noGrp="1"/>
          </p:cNvSpPr>
          <p:nvPr>
            <p:ph idx="1"/>
          </p:nvPr>
        </p:nvSpPr>
        <p:spPr>
          <a:xfrm>
            <a:off x="519728" y="486697"/>
            <a:ext cx="6520220" cy="9438968"/>
          </a:xfrm>
        </p:spPr>
        <p:txBody>
          <a:bodyPr>
            <a:normAutofit/>
          </a:bodyPr>
          <a:lstStyle/>
          <a:p>
            <a:pPr marL="0" indent="0">
              <a:buNone/>
            </a:pPr>
            <a:r>
              <a:rPr lang="en-US" sz="2000" i="1" dirty="0"/>
              <a:t>7) XNOR Gate</a:t>
            </a:r>
          </a:p>
          <a:p>
            <a:pPr marL="0" indent="0">
              <a:buNone/>
            </a:pPr>
            <a:r>
              <a:rPr lang="en-US" sz="2000" i="1" dirty="0"/>
              <a:t> The XNOR (Exclusive NOR) gate is the inverse of XOR,    </a:t>
            </a:r>
          </a:p>
          <a:p>
            <a:pPr marL="0" indent="0">
              <a:buNone/>
            </a:pPr>
            <a:r>
              <a:rPr lang="en-US" sz="2000" i="1" dirty="0"/>
              <a:t> meaning it outputs HIGH (1) when both inputs are the same.</a:t>
            </a:r>
          </a:p>
          <a:p>
            <a:pPr marL="0" indent="0">
              <a:buNone/>
            </a:pPr>
            <a:r>
              <a:rPr lang="en-US" sz="2000" i="1" dirty="0"/>
              <a:t>and, its Boolean expression </a:t>
            </a:r>
            <a:r>
              <a:rPr lang="en-US" sz="2000" i="1" dirty="0">
                <a:sym typeface="Wingdings" panose="05000000000000000000" pitchFamily="2" charset="2"/>
              </a:rPr>
              <a:t>is</a:t>
            </a:r>
            <a:r>
              <a:rPr lang="en-US" sz="2000" i="1" dirty="0"/>
              <a:t>  Y=</a:t>
            </a:r>
            <a:r>
              <a:rPr lang="en-US" sz="2000" b="1" i="1" dirty="0"/>
              <a:t>AB+A’B’</a:t>
            </a:r>
          </a:p>
          <a:p>
            <a:pPr marL="0" indent="0">
              <a:buNone/>
            </a:pPr>
            <a:r>
              <a:rPr lang="en-US" sz="2000" i="1" dirty="0"/>
              <a:t>Symbol:                                                     Truth Table:</a:t>
            </a:r>
          </a:p>
          <a:p>
            <a:pPr marL="0" indent="0">
              <a:buNone/>
            </a:pPr>
            <a:endParaRPr lang="en-US" sz="2000" i="1" dirty="0"/>
          </a:p>
          <a:p>
            <a:pPr marL="0" indent="0">
              <a:buNone/>
            </a:pPr>
            <a:endParaRPr lang="en-US" sz="2000" i="1" dirty="0"/>
          </a:p>
          <a:p>
            <a:pPr marL="0" indent="0">
              <a:buNone/>
            </a:pPr>
            <a:endParaRPr lang="en-US" sz="2000" i="1" dirty="0"/>
          </a:p>
          <a:p>
            <a:pPr marL="0" indent="0">
              <a:buNone/>
            </a:pPr>
            <a:endParaRPr lang="en-US" sz="2000" i="1" dirty="0"/>
          </a:p>
          <a:p>
            <a:pPr marL="0" indent="0">
              <a:buNone/>
            </a:pPr>
            <a:endParaRPr lang="en-US" sz="2000" i="1" dirty="0"/>
          </a:p>
          <a:p>
            <a:pPr marL="0" indent="0">
              <a:buNone/>
            </a:pPr>
            <a:endParaRPr lang="en-US" sz="2000" i="1" dirty="0"/>
          </a:p>
          <a:p>
            <a:pPr marL="0" indent="0">
              <a:buNone/>
            </a:pPr>
            <a:r>
              <a:rPr lang="en-US" sz="2000" i="1" dirty="0"/>
              <a:t>In DL Sim:</a:t>
            </a:r>
          </a:p>
          <a:p>
            <a:pPr marL="0" indent="0">
              <a:buNone/>
            </a:pPr>
            <a:endParaRPr lang="en-US" sz="2000" i="1" dirty="0"/>
          </a:p>
          <a:p>
            <a:pPr marL="0" indent="0">
              <a:buNone/>
            </a:pPr>
            <a:endParaRPr lang="en-US" sz="2000" i="1" dirty="0"/>
          </a:p>
          <a:p>
            <a:pPr marL="0" indent="0">
              <a:buNone/>
            </a:pPr>
            <a:endParaRPr lang="en-US" sz="2000" i="1" dirty="0"/>
          </a:p>
          <a:p>
            <a:pPr marL="0" indent="0">
              <a:buNone/>
            </a:pPr>
            <a:endParaRPr lang="en-US" sz="2000" i="1" dirty="0"/>
          </a:p>
          <a:p>
            <a:pPr marL="0" indent="0">
              <a:buNone/>
            </a:pPr>
            <a:endParaRPr lang="en-US" sz="2000" i="1" dirty="0"/>
          </a:p>
          <a:p>
            <a:pPr marL="0" indent="0">
              <a:buNone/>
            </a:pPr>
            <a:r>
              <a:rPr lang="en-US" sz="2000" dirty="0"/>
              <a:t>8)Half Adder</a:t>
            </a:r>
          </a:p>
          <a:p>
            <a:pPr marL="0" indent="0">
              <a:buNone/>
            </a:pPr>
            <a:r>
              <a:rPr lang="en-US" sz="2000" dirty="0"/>
              <a:t>  A half adder is a basic combinational circuit used for binary addition. It   takes two input bits and produces a sum and a carry.</a:t>
            </a:r>
          </a:p>
          <a:p>
            <a:pPr>
              <a:buNone/>
            </a:pPr>
            <a:r>
              <a:rPr lang="en-US" sz="2000" i="1" dirty="0"/>
              <a:t>Boolean Expressions</a:t>
            </a:r>
          </a:p>
          <a:p>
            <a:pPr>
              <a:buFont typeface="Arial" panose="020B0604020202020204" pitchFamily="34" charset="0"/>
              <a:buChar char="•"/>
            </a:pPr>
            <a:r>
              <a:rPr lang="en-US" sz="2000" i="1" dirty="0"/>
              <a:t>Sum (S) = A ⊕ B → Uses an XOR gate</a:t>
            </a:r>
          </a:p>
          <a:p>
            <a:pPr>
              <a:buFont typeface="Arial" panose="020B0604020202020204" pitchFamily="34" charset="0"/>
              <a:buChar char="•"/>
            </a:pPr>
            <a:r>
              <a:rPr lang="en-US" sz="2000" i="1" dirty="0"/>
              <a:t>Carry (C) = A.B → Uses an AND gate</a:t>
            </a:r>
          </a:p>
          <a:p>
            <a:pPr marL="0" indent="0">
              <a:buNone/>
            </a:pPr>
            <a:endParaRPr lang="en-US" sz="2000" i="1" dirty="0"/>
          </a:p>
        </p:txBody>
      </p:sp>
      <p:pic>
        <p:nvPicPr>
          <p:cNvPr id="5" name="Picture 4">
            <a:extLst>
              <a:ext uri="{FF2B5EF4-FFF2-40B4-BE49-F238E27FC236}">
                <a16:creationId xmlns:a16="http://schemas.microsoft.com/office/drawing/2014/main" id="{06C59B2F-278B-76B6-2BC4-99B61A03A3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132" y="2690889"/>
            <a:ext cx="3048000" cy="1504950"/>
          </a:xfrm>
          <a:prstGeom prst="rect">
            <a:avLst/>
          </a:prstGeom>
        </p:spPr>
      </p:pic>
      <p:pic>
        <p:nvPicPr>
          <p:cNvPr id="7" name="Picture 6">
            <a:extLst>
              <a:ext uri="{FF2B5EF4-FFF2-40B4-BE49-F238E27FC236}">
                <a16:creationId xmlns:a16="http://schemas.microsoft.com/office/drawing/2014/main" id="{105A827C-0B71-54AA-E087-6EAF1EEBAC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7729" y="2305509"/>
            <a:ext cx="3048000" cy="2916231"/>
          </a:xfrm>
          <a:prstGeom prst="rect">
            <a:avLst/>
          </a:prstGeom>
        </p:spPr>
      </p:pic>
      <p:pic>
        <p:nvPicPr>
          <p:cNvPr id="9" name="Picture 8">
            <a:extLst>
              <a:ext uri="{FF2B5EF4-FFF2-40B4-BE49-F238E27FC236}">
                <a16:creationId xmlns:a16="http://schemas.microsoft.com/office/drawing/2014/main" id="{E9014616-47E5-F006-F8A4-8CB0959B91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4071" y="5206181"/>
            <a:ext cx="4220164" cy="1467055"/>
          </a:xfrm>
          <a:prstGeom prst="rect">
            <a:avLst/>
          </a:prstGeom>
        </p:spPr>
      </p:pic>
    </p:spTree>
    <p:extLst>
      <p:ext uri="{BB962C8B-B14F-4D97-AF65-F5344CB8AC3E}">
        <p14:creationId xmlns:p14="http://schemas.microsoft.com/office/powerpoint/2010/main" val="1095847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53210D2-445B-2F03-2557-F6CD68E4479C}"/>
              </a:ext>
            </a:extLst>
          </p:cNvPr>
          <p:cNvSpPr>
            <a:spLocks noGrp="1"/>
          </p:cNvSpPr>
          <p:nvPr>
            <p:ph idx="1"/>
          </p:nvPr>
        </p:nvSpPr>
        <p:spPr>
          <a:xfrm>
            <a:off x="519727" y="294968"/>
            <a:ext cx="6520220" cy="9940413"/>
          </a:xfrm>
        </p:spPr>
        <p:txBody>
          <a:bodyPr>
            <a:normAutofit/>
          </a:bodyPr>
          <a:lstStyle/>
          <a:p>
            <a:pPr marL="0" indent="0">
              <a:buNone/>
            </a:pPr>
            <a:r>
              <a:rPr lang="en-US" sz="2000" i="1" dirty="0"/>
              <a:t>In DL Sim:</a:t>
            </a:r>
          </a:p>
          <a:p>
            <a:pPr marL="0" indent="0">
              <a:buNone/>
            </a:pPr>
            <a:endParaRPr lang="en-US" sz="2000" i="1" dirty="0"/>
          </a:p>
          <a:p>
            <a:pPr marL="0" indent="0">
              <a:buNone/>
            </a:pPr>
            <a:endParaRPr lang="en-US" sz="2000" i="1" dirty="0"/>
          </a:p>
          <a:p>
            <a:pPr marL="0" indent="0">
              <a:buNone/>
            </a:pPr>
            <a:endParaRPr lang="en-US" sz="2000" i="1" dirty="0"/>
          </a:p>
          <a:p>
            <a:pPr marL="0" indent="0">
              <a:buNone/>
            </a:pPr>
            <a:endParaRPr lang="en-US" sz="2000" i="1" dirty="0"/>
          </a:p>
          <a:p>
            <a:pPr marL="0" indent="0">
              <a:buNone/>
            </a:pPr>
            <a:endParaRPr lang="en-US" sz="2000" i="1" dirty="0"/>
          </a:p>
          <a:p>
            <a:pPr marL="0" indent="0">
              <a:buNone/>
            </a:pPr>
            <a:endParaRPr lang="en-US" sz="2000" i="1" dirty="0"/>
          </a:p>
          <a:p>
            <a:pPr marL="0" indent="0">
              <a:buNone/>
            </a:pPr>
            <a:r>
              <a:rPr lang="en-US" sz="2000" i="1" dirty="0"/>
              <a:t>Truth Table:</a:t>
            </a:r>
          </a:p>
          <a:p>
            <a:pPr marL="0" indent="0">
              <a:buNone/>
            </a:pPr>
            <a:endParaRPr lang="en-US" sz="2000" i="1" dirty="0"/>
          </a:p>
          <a:p>
            <a:pPr marL="0" indent="0">
              <a:buNone/>
            </a:pPr>
            <a:endParaRPr lang="en-US" sz="2000" i="1" dirty="0"/>
          </a:p>
          <a:p>
            <a:pPr marL="0" indent="0">
              <a:buNone/>
            </a:pPr>
            <a:endParaRPr lang="en-US" sz="2000" i="1" dirty="0"/>
          </a:p>
          <a:p>
            <a:pPr marL="0" indent="0">
              <a:buNone/>
            </a:pPr>
            <a:endParaRPr lang="en-US" sz="2000" i="1" dirty="0"/>
          </a:p>
          <a:p>
            <a:pPr marL="0" indent="0">
              <a:buNone/>
            </a:pPr>
            <a:endParaRPr lang="en-US" sz="2000" i="1" dirty="0"/>
          </a:p>
          <a:p>
            <a:pPr marL="0" indent="0">
              <a:buNone/>
            </a:pPr>
            <a:endParaRPr lang="en-US" sz="2000" i="1" dirty="0"/>
          </a:p>
          <a:p>
            <a:pPr marL="0" indent="0">
              <a:buNone/>
            </a:pPr>
            <a:r>
              <a:rPr lang="en-US" sz="2000" i="1" dirty="0"/>
              <a:t>8)Half Subtractor</a:t>
            </a:r>
          </a:p>
          <a:p>
            <a:pPr marL="0" indent="0">
              <a:buNone/>
            </a:pPr>
            <a:r>
              <a:rPr lang="en-US" sz="2000" i="1" dirty="0"/>
              <a:t>A half subtractor is a combinational circuit that performs binary subtraction for two input bits. It produces a difference and a borrow output</a:t>
            </a:r>
          </a:p>
          <a:p>
            <a:pPr>
              <a:buNone/>
            </a:pPr>
            <a:r>
              <a:rPr lang="en-US" sz="2000" i="1" dirty="0"/>
              <a:t>Boolean Expressions</a:t>
            </a:r>
          </a:p>
          <a:p>
            <a:pPr>
              <a:buFont typeface="Arial" panose="020B0604020202020204" pitchFamily="34" charset="0"/>
              <a:buChar char="•"/>
            </a:pPr>
            <a:r>
              <a:rPr lang="en-US" sz="2000" i="1" dirty="0"/>
              <a:t>Difference (D) = A ⊕ B → Uses an XOR gate</a:t>
            </a:r>
          </a:p>
          <a:p>
            <a:pPr>
              <a:buFont typeface="Arial" panose="020B0604020202020204" pitchFamily="34" charset="0"/>
              <a:buChar char="•"/>
            </a:pPr>
            <a:r>
              <a:rPr lang="en-US" sz="2000" i="1" dirty="0"/>
              <a:t>Borrow (B) = A' . B → Uses an AND gate with A inverted</a:t>
            </a:r>
          </a:p>
          <a:p>
            <a:pPr marL="0" indent="0">
              <a:buNone/>
            </a:pPr>
            <a:r>
              <a:rPr lang="en-US" sz="2000" i="1" dirty="0"/>
              <a:t>In DL Sim:                                               Truth Table:</a:t>
            </a:r>
          </a:p>
          <a:p>
            <a:pPr marL="0" indent="0">
              <a:buNone/>
            </a:pPr>
            <a:endParaRPr lang="en-US" sz="2000" i="1" dirty="0"/>
          </a:p>
          <a:p>
            <a:pPr marL="0" indent="0">
              <a:buNone/>
            </a:pPr>
            <a:endParaRPr lang="en-US" sz="2000" i="1" dirty="0"/>
          </a:p>
          <a:p>
            <a:pPr marL="0" indent="0">
              <a:buNone/>
            </a:pPr>
            <a:endParaRPr lang="en-US" sz="2000" i="1" dirty="0"/>
          </a:p>
          <a:p>
            <a:pPr marL="0" indent="0">
              <a:buNone/>
            </a:pPr>
            <a:endParaRPr lang="en-US" sz="2000" i="1" dirty="0"/>
          </a:p>
        </p:txBody>
      </p:sp>
      <p:pic>
        <p:nvPicPr>
          <p:cNvPr id="8" name="Picture 7">
            <a:extLst>
              <a:ext uri="{FF2B5EF4-FFF2-40B4-BE49-F238E27FC236}">
                <a16:creationId xmlns:a16="http://schemas.microsoft.com/office/drawing/2014/main" id="{034034F0-958A-FC8B-C2F7-00E0751C86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632" y="3436524"/>
            <a:ext cx="3139205" cy="2017919"/>
          </a:xfrm>
          <a:prstGeom prst="rect">
            <a:avLst/>
          </a:prstGeom>
        </p:spPr>
      </p:pic>
      <p:pic>
        <p:nvPicPr>
          <p:cNvPr id="10" name="Picture 9">
            <a:extLst>
              <a:ext uri="{FF2B5EF4-FFF2-40B4-BE49-F238E27FC236}">
                <a16:creationId xmlns:a16="http://schemas.microsoft.com/office/drawing/2014/main" id="{31EA5180-EFF5-6852-586C-7477FCBCA9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727" y="877527"/>
            <a:ext cx="4972584" cy="1813898"/>
          </a:xfrm>
          <a:prstGeom prst="rect">
            <a:avLst/>
          </a:prstGeom>
        </p:spPr>
      </p:pic>
      <p:pic>
        <p:nvPicPr>
          <p:cNvPr id="14" name="Picture 13">
            <a:extLst>
              <a:ext uri="{FF2B5EF4-FFF2-40B4-BE49-F238E27FC236}">
                <a16:creationId xmlns:a16="http://schemas.microsoft.com/office/drawing/2014/main" id="{AAF87290-3A01-C0A5-936D-108A71BA82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2672" y="8490707"/>
            <a:ext cx="3203055" cy="1455934"/>
          </a:xfrm>
          <a:prstGeom prst="rect">
            <a:avLst/>
          </a:prstGeom>
        </p:spPr>
      </p:pic>
      <p:pic>
        <p:nvPicPr>
          <p:cNvPr id="18" name="Picture 17">
            <a:extLst>
              <a:ext uri="{FF2B5EF4-FFF2-40B4-BE49-F238E27FC236}">
                <a16:creationId xmlns:a16="http://schemas.microsoft.com/office/drawing/2014/main" id="{52705AA8-2A60-ADEE-6B9F-4EBF52A265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49669" y="8328242"/>
            <a:ext cx="2712403" cy="2068603"/>
          </a:xfrm>
          <a:prstGeom prst="rect">
            <a:avLst/>
          </a:prstGeom>
        </p:spPr>
      </p:pic>
    </p:spTree>
    <p:extLst>
      <p:ext uri="{BB962C8B-B14F-4D97-AF65-F5344CB8AC3E}">
        <p14:creationId xmlns:p14="http://schemas.microsoft.com/office/powerpoint/2010/main" val="1402165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753749-F47E-E95B-040C-66A719EC2A3B}"/>
              </a:ext>
            </a:extLst>
          </p:cNvPr>
          <p:cNvSpPr>
            <a:spLocks noGrp="1"/>
          </p:cNvSpPr>
          <p:nvPr>
            <p:ph idx="1"/>
          </p:nvPr>
        </p:nvSpPr>
        <p:spPr>
          <a:xfrm>
            <a:off x="519728" y="575188"/>
            <a:ext cx="6520220" cy="9714706"/>
          </a:xfrm>
        </p:spPr>
        <p:txBody>
          <a:bodyPr>
            <a:noAutofit/>
          </a:bodyPr>
          <a:lstStyle/>
          <a:p>
            <a:pPr marL="0" indent="0">
              <a:buNone/>
            </a:pPr>
            <a:r>
              <a:rPr lang="en-US" sz="2000" i="1" dirty="0"/>
              <a:t>9)Full Adder</a:t>
            </a:r>
          </a:p>
          <a:p>
            <a:pPr marL="0" indent="0">
              <a:buNone/>
            </a:pPr>
            <a:r>
              <a:rPr lang="en-US" sz="2000" i="1" dirty="0"/>
              <a:t>A full adder is a combinational circuit that performs binary addition of three input bits—two operand bits and a carry input.</a:t>
            </a:r>
          </a:p>
          <a:p>
            <a:pPr>
              <a:buNone/>
            </a:pPr>
            <a:r>
              <a:rPr lang="en-US" sz="2000" i="1" dirty="0"/>
              <a:t>Boolean Expressions</a:t>
            </a:r>
          </a:p>
          <a:p>
            <a:pPr>
              <a:buFont typeface="Arial" panose="020B0604020202020204" pitchFamily="34" charset="0"/>
              <a:buChar char="•"/>
            </a:pPr>
            <a:r>
              <a:rPr lang="en-US" sz="2000" i="1" dirty="0"/>
              <a:t>Sum (S) = A ⊕ B ⊕ Cin → Uses XOR gates</a:t>
            </a:r>
          </a:p>
          <a:p>
            <a:pPr>
              <a:buFont typeface="Arial" panose="020B0604020202020204" pitchFamily="34" charset="0"/>
              <a:buChar char="•"/>
            </a:pPr>
            <a:r>
              <a:rPr lang="en-US" sz="2000" i="1" dirty="0"/>
              <a:t>Carry (Cout) = (A.B) + (A ⊕ B).Cin → Uses AND &amp; OR gates</a:t>
            </a:r>
          </a:p>
          <a:p>
            <a:pPr marL="0" indent="0">
              <a:buNone/>
            </a:pPr>
            <a:r>
              <a:rPr lang="en-US" sz="2000" i="1" dirty="0"/>
              <a:t>  Diagram:                                                            Truth Table:</a:t>
            </a:r>
          </a:p>
          <a:p>
            <a:pPr marL="0" indent="0">
              <a:buNone/>
            </a:pPr>
            <a:endParaRPr lang="en-US" sz="2000" i="1" dirty="0"/>
          </a:p>
          <a:p>
            <a:pPr marL="0" indent="0">
              <a:buNone/>
            </a:pPr>
            <a:endParaRPr lang="en-US" sz="2000" i="1" dirty="0"/>
          </a:p>
          <a:p>
            <a:pPr marL="0" indent="0">
              <a:buNone/>
            </a:pPr>
            <a:endParaRPr lang="en-US" sz="2000" i="1" dirty="0"/>
          </a:p>
          <a:p>
            <a:pPr marL="0" indent="0">
              <a:buNone/>
            </a:pPr>
            <a:endParaRPr lang="en-US" sz="2000" i="1" dirty="0"/>
          </a:p>
          <a:p>
            <a:pPr marL="0" indent="0">
              <a:buNone/>
            </a:pPr>
            <a:endParaRPr lang="en-US" sz="2000" i="1" dirty="0"/>
          </a:p>
          <a:p>
            <a:pPr marL="0" indent="0">
              <a:buNone/>
            </a:pPr>
            <a:endParaRPr lang="en-US" sz="2000" i="1" dirty="0"/>
          </a:p>
          <a:p>
            <a:pPr marL="0" indent="0">
              <a:buNone/>
            </a:pPr>
            <a:r>
              <a:rPr lang="en-US" sz="2000" i="1" dirty="0"/>
              <a:t>In DL Sim:</a:t>
            </a:r>
          </a:p>
          <a:p>
            <a:pPr marL="0" indent="0">
              <a:buNone/>
            </a:pPr>
            <a:endParaRPr lang="en-US" sz="2000" i="1" dirty="0"/>
          </a:p>
          <a:p>
            <a:pPr marL="0" indent="0">
              <a:buNone/>
            </a:pPr>
            <a:endParaRPr lang="en-US" sz="2000" i="1" dirty="0"/>
          </a:p>
          <a:p>
            <a:pPr marL="0" indent="0">
              <a:buNone/>
            </a:pPr>
            <a:endParaRPr lang="en-US" sz="2000" i="1" dirty="0"/>
          </a:p>
          <a:p>
            <a:pPr marL="0" indent="0">
              <a:buNone/>
            </a:pPr>
            <a:r>
              <a:rPr lang="en-US" sz="2000" i="1" dirty="0"/>
              <a:t>10)Full Subtractor</a:t>
            </a:r>
          </a:p>
          <a:p>
            <a:pPr marL="0" indent="0">
              <a:buNone/>
            </a:pPr>
            <a:r>
              <a:rPr lang="en-US" sz="2000" i="1" dirty="0"/>
              <a:t>A full subtractor is a combinational circuit that performs binary subtraction of three input bits—two operand bits and a borrow input (Bin). It computes both the difference and the borrow output.</a:t>
            </a:r>
          </a:p>
          <a:p>
            <a:pPr>
              <a:buNone/>
            </a:pPr>
            <a:r>
              <a:rPr lang="en-US" sz="2000" i="1" dirty="0"/>
              <a:t>Boolean Expressions</a:t>
            </a:r>
          </a:p>
          <a:p>
            <a:pPr>
              <a:buFont typeface="Arial" panose="020B0604020202020204" pitchFamily="34" charset="0"/>
              <a:buChar char="•"/>
            </a:pPr>
            <a:r>
              <a:rPr lang="en-US" sz="2000" i="1" dirty="0"/>
              <a:t>Difference (D) = A ⊕ B ⊕ Bin → Uses XOR gates</a:t>
            </a:r>
          </a:p>
          <a:p>
            <a:pPr>
              <a:buFont typeface="Arial" panose="020B0604020202020204" pitchFamily="34" charset="0"/>
              <a:buChar char="•"/>
            </a:pPr>
            <a:r>
              <a:rPr lang="en-US" sz="2000" i="1" dirty="0"/>
              <a:t>Borrow (Bout) = (A'.B) + (A’. Bin) + (B . Bin) → Uses AND &amp; OR gates</a:t>
            </a:r>
          </a:p>
          <a:p>
            <a:pPr marL="0" indent="0">
              <a:buNone/>
            </a:pPr>
            <a:endParaRPr lang="en-US" sz="2000" i="1" dirty="0"/>
          </a:p>
        </p:txBody>
      </p:sp>
      <p:pic>
        <p:nvPicPr>
          <p:cNvPr id="4" name="Content Placeholder 4">
            <a:extLst>
              <a:ext uri="{FF2B5EF4-FFF2-40B4-BE49-F238E27FC236}">
                <a16:creationId xmlns:a16="http://schemas.microsoft.com/office/drawing/2014/main" id="{156A3529-861E-A0CA-E1ED-954FEA96EA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242" y="5559863"/>
            <a:ext cx="4134427" cy="1333686"/>
          </a:xfrm>
          <a:prstGeom prst="rect">
            <a:avLst/>
          </a:prstGeom>
        </p:spPr>
      </p:pic>
      <p:pic>
        <p:nvPicPr>
          <p:cNvPr id="6" name="Picture 5">
            <a:extLst>
              <a:ext uri="{FF2B5EF4-FFF2-40B4-BE49-F238E27FC236}">
                <a16:creationId xmlns:a16="http://schemas.microsoft.com/office/drawing/2014/main" id="{81BA4A1C-4451-36B5-C0DF-DF019DB68C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3662" y="3451341"/>
            <a:ext cx="2305050" cy="1981200"/>
          </a:xfrm>
          <a:prstGeom prst="rect">
            <a:avLst/>
          </a:prstGeom>
        </p:spPr>
      </p:pic>
      <p:pic>
        <p:nvPicPr>
          <p:cNvPr id="8" name="Picture 7">
            <a:extLst>
              <a:ext uri="{FF2B5EF4-FFF2-40B4-BE49-F238E27FC236}">
                <a16:creationId xmlns:a16="http://schemas.microsoft.com/office/drawing/2014/main" id="{20B7D6FF-9BAA-04E4-2B75-D1BCF1C575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033" y="3368831"/>
            <a:ext cx="3797393" cy="1652983"/>
          </a:xfrm>
          <a:prstGeom prst="rect">
            <a:avLst/>
          </a:prstGeom>
        </p:spPr>
      </p:pic>
    </p:spTree>
    <p:extLst>
      <p:ext uri="{BB962C8B-B14F-4D97-AF65-F5344CB8AC3E}">
        <p14:creationId xmlns:p14="http://schemas.microsoft.com/office/powerpoint/2010/main" val="743001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FF8CBE-73B4-3C05-B099-AE4179E62EE7}"/>
              </a:ext>
            </a:extLst>
          </p:cNvPr>
          <p:cNvSpPr>
            <a:spLocks noGrp="1"/>
          </p:cNvSpPr>
          <p:nvPr>
            <p:ph idx="1"/>
          </p:nvPr>
        </p:nvSpPr>
        <p:spPr>
          <a:xfrm>
            <a:off x="112086" y="265472"/>
            <a:ext cx="7188366" cy="10058400"/>
          </a:xfrm>
        </p:spPr>
        <p:txBody>
          <a:bodyPr>
            <a:normAutofit/>
          </a:bodyPr>
          <a:lstStyle/>
          <a:p>
            <a:pPr marL="0" indent="0">
              <a:buNone/>
            </a:pPr>
            <a:r>
              <a:rPr lang="en-US" sz="2000" i="1" dirty="0">
                <a:cs typeface="Arial" panose="020B0604020202020204" pitchFamily="34" charset="0"/>
              </a:rPr>
              <a:t>Diagram:                     				Truth Table</a:t>
            </a:r>
          </a:p>
          <a:p>
            <a:pPr marL="0" indent="0">
              <a:buNone/>
            </a:pPr>
            <a:endParaRPr lang="en-US" sz="2000" i="1" dirty="0">
              <a:cs typeface="Arial" panose="020B0604020202020204" pitchFamily="34" charset="0"/>
            </a:endParaRPr>
          </a:p>
          <a:p>
            <a:pPr marL="0" indent="0">
              <a:buNone/>
            </a:pPr>
            <a:endParaRPr lang="en-US" sz="2000" i="1" dirty="0">
              <a:cs typeface="Arial" panose="020B0604020202020204" pitchFamily="34" charset="0"/>
            </a:endParaRPr>
          </a:p>
          <a:p>
            <a:pPr marL="0" indent="0">
              <a:buNone/>
            </a:pPr>
            <a:endParaRPr lang="en-US" sz="2000" i="1" dirty="0">
              <a:cs typeface="Arial" panose="020B0604020202020204" pitchFamily="34" charset="0"/>
            </a:endParaRPr>
          </a:p>
          <a:p>
            <a:pPr marL="0" indent="0">
              <a:buNone/>
            </a:pPr>
            <a:endParaRPr lang="en-US" sz="2000" i="1" dirty="0">
              <a:cs typeface="Arial" panose="020B0604020202020204" pitchFamily="34" charset="0"/>
            </a:endParaRPr>
          </a:p>
          <a:p>
            <a:pPr marL="0" indent="0">
              <a:buNone/>
            </a:pPr>
            <a:endParaRPr lang="en-US" sz="2000" i="1" dirty="0">
              <a:cs typeface="Arial" panose="020B0604020202020204" pitchFamily="34" charset="0"/>
            </a:endParaRPr>
          </a:p>
          <a:p>
            <a:pPr marL="0" indent="0">
              <a:buNone/>
            </a:pPr>
            <a:endParaRPr lang="en-US" sz="2000" i="1" dirty="0">
              <a:cs typeface="Arial" panose="020B0604020202020204" pitchFamily="34" charset="0"/>
            </a:endParaRPr>
          </a:p>
          <a:p>
            <a:pPr marL="0" indent="0">
              <a:buNone/>
            </a:pPr>
            <a:r>
              <a:rPr lang="en-US" sz="2000" i="1" dirty="0">
                <a:cs typeface="Arial" panose="020B0604020202020204" pitchFamily="34" charset="0"/>
              </a:rPr>
              <a:t>In DL Sim :</a:t>
            </a:r>
          </a:p>
          <a:p>
            <a:pPr marL="0" indent="0">
              <a:buNone/>
            </a:pPr>
            <a:endParaRPr lang="en-US" sz="2000" i="1" dirty="0">
              <a:cs typeface="Arial" panose="020B0604020202020204" pitchFamily="34" charset="0"/>
            </a:endParaRPr>
          </a:p>
          <a:p>
            <a:pPr marL="0" indent="0">
              <a:buNone/>
            </a:pPr>
            <a:endParaRPr lang="en-US" sz="2000" i="1" dirty="0">
              <a:cs typeface="Arial" panose="020B0604020202020204" pitchFamily="34" charset="0"/>
            </a:endParaRPr>
          </a:p>
          <a:p>
            <a:pPr marL="0" indent="0">
              <a:buNone/>
            </a:pPr>
            <a:endParaRPr lang="en-US" sz="2000" i="1" dirty="0">
              <a:cs typeface="Arial" panose="020B0604020202020204" pitchFamily="34" charset="0"/>
            </a:endParaRPr>
          </a:p>
          <a:p>
            <a:pPr marL="0" indent="0">
              <a:buNone/>
            </a:pPr>
            <a:endParaRPr lang="en-US" sz="2000" i="1" dirty="0">
              <a:cs typeface="Arial" panose="020B0604020202020204" pitchFamily="34" charset="0"/>
            </a:endParaRPr>
          </a:p>
          <a:p>
            <a:pPr marL="0" indent="0">
              <a:buNone/>
            </a:pPr>
            <a:endParaRPr lang="en-US" sz="2000" i="1" dirty="0">
              <a:cs typeface="Arial" panose="020B0604020202020204" pitchFamily="34" charset="0"/>
            </a:endParaRPr>
          </a:p>
          <a:p>
            <a:pPr marL="0" indent="0">
              <a:buNone/>
            </a:pPr>
            <a:r>
              <a:rPr lang="en-US" sz="2000" b="1" i="1" u="sng" dirty="0">
                <a:cs typeface="Arial" panose="020B0604020202020204" pitchFamily="34" charset="0"/>
              </a:rPr>
              <a:t>Conclusion:</a:t>
            </a:r>
          </a:p>
          <a:p>
            <a:pPr marL="0" indent="0">
              <a:buNone/>
            </a:pPr>
            <a:r>
              <a:rPr lang="en-US" sz="2000" b="0" i="1" dirty="0">
                <a:effectLst/>
                <a:cs typeface="Arial" panose="020B0604020202020204" pitchFamily="34" charset="0"/>
              </a:rPr>
              <a:t>In the lab, we found the fundamental rules of Digital Logic starting with a simple logic gate such as AND, OR, and NOT. We also learned universal gates such as NAND and NOR that are used to create any other type of logic gate. We also practiced designing many types of gates using only AND &amp; NOT gates in the Sim program for Digital Logic. Through interactive exercises, we understood better how logic </a:t>
            </a:r>
            <a:r>
              <a:rPr lang="en-US" sz="2000" i="1" dirty="0">
                <a:cs typeface="Arial" panose="020B0604020202020204" pitchFamily="34" charset="0"/>
              </a:rPr>
              <a:t>G</a:t>
            </a:r>
            <a:r>
              <a:rPr lang="en-US" sz="2000" b="0" i="1" dirty="0">
                <a:effectLst/>
                <a:cs typeface="Arial" panose="020B0604020202020204" pitchFamily="34" charset="0"/>
              </a:rPr>
              <a:t>ates function and how they are combined to form more complex circuits</a:t>
            </a:r>
            <a:endParaRPr lang="en-US" sz="2000" i="1" dirty="0">
              <a:cs typeface="Arial" panose="020B0604020202020204" pitchFamily="34" charset="0"/>
            </a:endParaRPr>
          </a:p>
        </p:txBody>
      </p:sp>
      <p:pic>
        <p:nvPicPr>
          <p:cNvPr id="4" name="Picture 3">
            <a:extLst>
              <a:ext uri="{FF2B5EF4-FFF2-40B4-BE49-F238E27FC236}">
                <a16:creationId xmlns:a16="http://schemas.microsoft.com/office/drawing/2014/main" id="{E242F9E5-9CCE-58A4-D419-C5DC761D2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9423" y="712871"/>
            <a:ext cx="3013694" cy="2340045"/>
          </a:xfrm>
          <a:prstGeom prst="rect">
            <a:avLst/>
          </a:prstGeom>
        </p:spPr>
      </p:pic>
      <p:pic>
        <p:nvPicPr>
          <p:cNvPr id="5" name="Content Placeholder 4">
            <a:extLst>
              <a:ext uri="{FF2B5EF4-FFF2-40B4-BE49-F238E27FC236}">
                <a16:creationId xmlns:a16="http://schemas.microsoft.com/office/drawing/2014/main" id="{20119337-E43E-F0C8-8B82-29ACC08D24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255" y="609632"/>
            <a:ext cx="3870999" cy="2133567"/>
          </a:xfrm>
          <a:prstGeom prst="rect">
            <a:avLst/>
          </a:prstGeom>
        </p:spPr>
      </p:pic>
      <p:pic>
        <p:nvPicPr>
          <p:cNvPr id="7" name="Picture 6">
            <a:extLst>
              <a:ext uri="{FF2B5EF4-FFF2-40B4-BE49-F238E27FC236}">
                <a16:creationId xmlns:a16="http://schemas.microsoft.com/office/drawing/2014/main" id="{80F6D3DF-918A-1B49-086D-0DD1D60354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9223" y="3426575"/>
            <a:ext cx="3658111" cy="1495634"/>
          </a:xfrm>
          <a:prstGeom prst="rect">
            <a:avLst/>
          </a:prstGeom>
        </p:spPr>
      </p:pic>
    </p:spTree>
    <p:extLst>
      <p:ext uri="{BB962C8B-B14F-4D97-AF65-F5344CB8AC3E}">
        <p14:creationId xmlns:p14="http://schemas.microsoft.com/office/powerpoint/2010/main" val="16816437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B90444-3573-4139-80D2-9148AC35999F}">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2013 - 2022 Theme</Template>
  <TotalTime>1094</TotalTime>
  <Words>749</Words>
  <Application>Microsoft Office PowerPoint</Application>
  <PresentationFormat>Custom</PresentationFormat>
  <Paragraphs>150</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oshan bajracharya</dc:creator>
  <cp:lastModifiedBy>oshan bajracharya</cp:lastModifiedBy>
  <cp:revision>4</cp:revision>
  <dcterms:created xsi:type="dcterms:W3CDTF">2025-05-09T15:31:14Z</dcterms:created>
  <dcterms:modified xsi:type="dcterms:W3CDTF">2025-05-14T15:56:16Z</dcterms:modified>
</cp:coreProperties>
</file>