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5" r:id="rId2"/>
    <p:sldId id="266" r:id="rId3"/>
    <p:sldId id="256" r:id="rId4"/>
    <p:sldId id="257" r:id="rId5"/>
    <p:sldId id="258" r:id="rId6"/>
    <p:sldId id="259" r:id="rId7"/>
    <p:sldId id="260" r:id="rId8"/>
    <p:sldId id="267" r:id="rId9"/>
    <p:sldId id="268" r:id="rId10"/>
    <p:sldId id="269" r:id="rId11"/>
    <p:sldId id="270" r:id="rId12"/>
    <p:sldId id="273" r:id="rId13"/>
    <p:sldId id="271" r:id="rId14"/>
    <p:sldId id="272" r:id="rId15"/>
    <p:sldId id="262"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92" d="100"/>
          <a:sy n="92" d="100"/>
        </p:scale>
        <p:origin x="33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20514-252F-4335-99DE-1040DD4615C6}" type="datetimeFigureOut">
              <a:rPr lang="en-US" smtClean="0"/>
              <a:t>7/7/2025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F3E14-3A30-498E-9E63-6B2FDC64BE64}" type="slidenum">
              <a:rPr lang="en-US" smtClean="0"/>
              <a:t>‹#›</a:t>
            </a:fld>
            <a:endParaRPr lang="en-US"/>
          </a:p>
        </p:txBody>
      </p:sp>
    </p:spTree>
    <p:extLst>
      <p:ext uri="{BB962C8B-B14F-4D97-AF65-F5344CB8AC3E}">
        <p14:creationId xmlns:p14="http://schemas.microsoft.com/office/powerpoint/2010/main" val="2943172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F3E14-3A30-498E-9E63-6B2FDC64BE64}" type="slidenum">
              <a:rPr lang="en-US" smtClean="0"/>
              <a:t>3</a:t>
            </a:fld>
            <a:endParaRPr lang="en-US"/>
          </a:p>
        </p:txBody>
      </p:sp>
    </p:spTree>
    <p:extLst>
      <p:ext uri="{BB962C8B-B14F-4D97-AF65-F5344CB8AC3E}">
        <p14:creationId xmlns:p14="http://schemas.microsoft.com/office/powerpoint/2010/main" val="1650208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F3E14-3A30-498E-9E63-6B2FDC64BE64}" type="slidenum">
              <a:rPr lang="en-US" smtClean="0"/>
              <a:t>7</a:t>
            </a:fld>
            <a:endParaRPr lang="en-US"/>
          </a:p>
        </p:txBody>
      </p:sp>
    </p:spTree>
    <p:extLst>
      <p:ext uri="{BB962C8B-B14F-4D97-AF65-F5344CB8AC3E}">
        <p14:creationId xmlns:p14="http://schemas.microsoft.com/office/powerpoint/2010/main" val="3633408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F3E14-3A30-498E-9E63-6B2FDC64BE64}" type="slidenum">
              <a:rPr lang="en-US" smtClean="0"/>
              <a:t>8</a:t>
            </a:fld>
            <a:endParaRPr lang="en-US"/>
          </a:p>
        </p:txBody>
      </p:sp>
    </p:spTree>
    <p:extLst>
      <p:ext uri="{BB962C8B-B14F-4D97-AF65-F5344CB8AC3E}">
        <p14:creationId xmlns:p14="http://schemas.microsoft.com/office/powerpoint/2010/main" val="1467390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F3E14-3A30-498E-9E63-6B2FDC64BE64}" type="slidenum">
              <a:rPr lang="en-US" smtClean="0"/>
              <a:t>9</a:t>
            </a:fld>
            <a:endParaRPr lang="en-US"/>
          </a:p>
        </p:txBody>
      </p:sp>
    </p:spTree>
    <p:extLst>
      <p:ext uri="{BB962C8B-B14F-4D97-AF65-F5344CB8AC3E}">
        <p14:creationId xmlns:p14="http://schemas.microsoft.com/office/powerpoint/2010/main" val="3168900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F3E14-3A30-498E-9E63-6B2FDC64BE64}" type="slidenum">
              <a:rPr lang="en-US" smtClean="0"/>
              <a:t>10</a:t>
            </a:fld>
            <a:endParaRPr lang="en-US"/>
          </a:p>
        </p:txBody>
      </p:sp>
    </p:spTree>
    <p:extLst>
      <p:ext uri="{BB962C8B-B14F-4D97-AF65-F5344CB8AC3E}">
        <p14:creationId xmlns:p14="http://schemas.microsoft.com/office/powerpoint/2010/main" val="1516401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651BB-CD77-C674-607E-2FCC087A0C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701579-D8DA-7C69-9532-F4B97D907E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C1EA7B-A86F-463C-2E36-C08F1FCF8F79}"/>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5" name="Footer Placeholder 4">
            <a:extLst>
              <a:ext uri="{FF2B5EF4-FFF2-40B4-BE49-F238E27FC236}">
                <a16:creationId xmlns:a16="http://schemas.microsoft.com/office/drawing/2014/main" id="{7B7A1966-C4B0-1042-59BB-04060186B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B64F2-E3B3-7DB2-B890-39A3031A9EB9}"/>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934021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F42CD-5E01-BD13-1B05-1C223BF7FF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6C7054-F406-0F07-3A38-B31D987F46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D4DB8E-6489-4A7A-562D-95D8E924A0C3}"/>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5" name="Footer Placeholder 4">
            <a:extLst>
              <a:ext uri="{FF2B5EF4-FFF2-40B4-BE49-F238E27FC236}">
                <a16:creationId xmlns:a16="http://schemas.microsoft.com/office/drawing/2014/main" id="{FCD05608-4250-8E86-2559-942713E1A6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593EBB-0C56-E6FF-BF77-56DE008AA017}"/>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74820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B7C3E-51C4-32B5-1920-66C8D3A2F0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C008E8-D1E1-C358-B62B-AB7BCC498F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B9131-85A5-B1C1-4490-F2DB75953BCB}"/>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5" name="Footer Placeholder 4">
            <a:extLst>
              <a:ext uri="{FF2B5EF4-FFF2-40B4-BE49-F238E27FC236}">
                <a16:creationId xmlns:a16="http://schemas.microsoft.com/office/drawing/2014/main" id="{D977966D-50CA-44A1-C01F-78083C91A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FCFB5B-D2B8-EA5F-B19A-9F7EBACF5BEB}"/>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4093754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D0EF3-F21E-A660-CACD-E69ABCAE54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AED620-96DA-A403-D270-57D12503DD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54ECD0-DD7F-0159-686D-6E0DC6498E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3C8085-6974-5A7E-8ACC-107B6095C326}"/>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6" name="Footer Placeholder 5">
            <a:extLst>
              <a:ext uri="{FF2B5EF4-FFF2-40B4-BE49-F238E27FC236}">
                <a16:creationId xmlns:a16="http://schemas.microsoft.com/office/drawing/2014/main" id="{B147A506-E265-9EDF-573E-957E0E289E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66D660-AD0B-D69F-186D-53E97086E9AD}"/>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676118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110D-1F5B-A431-BA33-D71E12C152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466D1A-A423-E7B7-3117-EB9B534F94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AF6996-FBCA-04A6-92D2-3E0E1DFBDC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A3F87C-A230-A7F4-0880-D5B50E4357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A73E91-D4E7-C0CA-B94D-812105400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CF191-DE99-4139-5B84-E0D19F621B06}"/>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8" name="Footer Placeholder 7">
            <a:extLst>
              <a:ext uri="{FF2B5EF4-FFF2-40B4-BE49-F238E27FC236}">
                <a16:creationId xmlns:a16="http://schemas.microsoft.com/office/drawing/2014/main" id="{561F7411-40AB-BD71-91B6-E8996B7580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DCCF69-6D3B-2E91-66FC-21999A267EF0}"/>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674403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514A2-B731-46C3-F9D0-50394032B5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7D5E13-E551-83A8-F438-D1ECB82CB999}"/>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4" name="Footer Placeholder 3">
            <a:extLst>
              <a:ext uri="{FF2B5EF4-FFF2-40B4-BE49-F238E27FC236}">
                <a16:creationId xmlns:a16="http://schemas.microsoft.com/office/drawing/2014/main" id="{7E854737-B409-3F1B-1315-D62B747BA7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8EA909-F52A-914E-82CD-B40C67AD64AA}"/>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232524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452591-21F3-1FBD-E8A6-465C8D8C1FEA}"/>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3" name="Footer Placeholder 2">
            <a:extLst>
              <a:ext uri="{FF2B5EF4-FFF2-40B4-BE49-F238E27FC236}">
                <a16:creationId xmlns:a16="http://schemas.microsoft.com/office/drawing/2014/main" id="{9CD71160-E67C-2786-1AA5-E241FEC660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AE9FBC-43CD-8DBA-4EFE-58BDE4A7A8D8}"/>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2659531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CC69-6F41-5934-7D55-53DC441628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6C0FF1-937C-CC3F-DE17-E672FD873E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B4A636-B247-D22A-8551-BA9B85F9B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AA1639-F2E7-AF02-A8EB-666DFADF4428}"/>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6" name="Footer Placeholder 5">
            <a:extLst>
              <a:ext uri="{FF2B5EF4-FFF2-40B4-BE49-F238E27FC236}">
                <a16:creationId xmlns:a16="http://schemas.microsoft.com/office/drawing/2014/main" id="{889769B0-747B-E8B6-7411-F7CDE1F1DA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10B21E-D382-2D89-43D5-5C1B9EDB8ED6}"/>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692796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9903F-82B3-BA43-A2E5-ECDF0AF2D9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6785F9-2F2B-F981-3261-B422CC068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A8AACF-64EC-BEBB-ADE4-8B0F46E1F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BFF81D-DD42-056B-6F2A-A52E069B4C03}"/>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6" name="Footer Placeholder 5">
            <a:extLst>
              <a:ext uri="{FF2B5EF4-FFF2-40B4-BE49-F238E27FC236}">
                <a16:creationId xmlns:a16="http://schemas.microsoft.com/office/drawing/2014/main" id="{88C9AFE6-F183-28BB-24A8-420D24B4BA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F612B-4D32-17C6-9D71-DAF458BBA68A}"/>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95624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25CC-1A85-B62A-6C9E-C38F024643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8DE490-577C-98D3-ED98-CBF31130DE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4787F-25E1-5B06-3B66-A7E8B380C7D1}"/>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5" name="Footer Placeholder 4">
            <a:extLst>
              <a:ext uri="{FF2B5EF4-FFF2-40B4-BE49-F238E27FC236}">
                <a16:creationId xmlns:a16="http://schemas.microsoft.com/office/drawing/2014/main" id="{E62526E7-BD30-1799-3F79-470BB556A8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4E096-6B83-FBCF-3DD1-529796A82227}"/>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2436675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F8BAD9-CE7F-EFD6-A868-592D9B2FB4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6048E6-2518-58B7-2C0D-8B9F0EDF77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589E47-F3F6-A355-8474-79DF7ED04E30}"/>
              </a:ext>
            </a:extLst>
          </p:cNvPr>
          <p:cNvSpPr>
            <a:spLocks noGrp="1"/>
          </p:cNvSpPr>
          <p:nvPr>
            <p:ph type="dt" sz="half" idx="10"/>
          </p:nvPr>
        </p:nvSpPr>
        <p:spPr/>
        <p:txBody>
          <a:bodyPr/>
          <a:lstStyle/>
          <a:p>
            <a:fld id="{E13E70E4-4696-429B-BFF2-2BC111150EC6}" type="datetimeFigureOut">
              <a:rPr lang="en-US" smtClean="0"/>
              <a:t>7/7/2025</a:t>
            </a:fld>
            <a:endParaRPr lang="en-US"/>
          </a:p>
        </p:txBody>
      </p:sp>
      <p:sp>
        <p:nvSpPr>
          <p:cNvPr id="5" name="Footer Placeholder 4">
            <a:extLst>
              <a:ext uri="{FF2B5EF4-FFF2-40B4-BE49-F238E27FC236}">
                <a16:creationId xmlns:a16="http://schemas.microsoft.com/office/drawing/2014/main" id="{6D220B01-3ED4-AA62-3A37-966B1667B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AEBDD-648C-3D9C-F340-832740CFF8AC}"/>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2007591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B9FEB-3E9B-CEF0-AEDB-6079B82339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A094C2-6D9D-7AE8-7BFC-2B1F7BDA96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A11D9-D5ED-3E84-2822-8F11F03CD2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3E70E4-4696-429B-BFF2-2BC111150EC6}" type="datetimeFigureOut">
              <a:rPr lang="en-US" smtClean="0"/>
              <a:t>7/7/2025</a:t>
            </a:fld>
            <a:endParaRPr lang="en-US"/>
          </a:p>
        </p:txBody>
      </p:sp>
      <p:sp>
        <p:nvSpPr>
          <p:cNvPr id="5" name="Footer Placeholder 4">
            <a:extLst>
              <a:ext uri="{FF2B5EF4-FFF2-40B4-BE49-F238E27FC236}">
                <a16:creationId xmlns:a16="http://schemas.microsoft.com/office/drawing/2014/main" id="{F674758D-514F-B0A1-E223-C3AAC0361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2CE1FB-B141-EB8E-9251-9D336E0211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79ADB-1C9A-457C-AAD2-C7696D81F2B7}" type="slidenum">
              <a:rPr lang="en-US" smtClean="0"/>
              <a:t>‹#›</a:t>
            </a:fld>
            <a:endParaRPr lang="en-US"/>
          </a:p>
        </p:txBody>
      </p:sp>
    </p:spTree>
    <p:extLst>
      <p:ext uri="{BB962C8B-B14F-4D97-AF65-F5344CB8AC3E}">
        <p14:creationId xmlns:p14="http://schemas.microsoft.com/office/powerpoint/2010/main" val="3936958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latform.openai.com/docs" TargetMode="External"/><Relationship Id="rId2" Type="http://schemas.openxmlformats.org/officeDocument/2006/relationships/hyperlink" Target="https://blanxer.com/doc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876FE6F-6936-DB97-BDB5-D3911E295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61" y="-69469"/>
            <a:ext cx="12286361" cy="6943611"/>
          </a:xfrm>
          <a:prstGeom prst="rect">
            <a:avLst/>
          </a:prstGeom>
        </p:spPr>
      </p:pic>
      <p:sp>
        <p:nvSpPr>
          <p:cNvPr id="19" name="TextBox 18">
            <a:extLst>
              <a:ext uri="{FF2B5EF4-FFF2-40B4-BE49-F238E27FC236}">
                <a16:creationId xmlns:a16="http://schemas.microsoft.com/office/drawing/2014/main" id="{07BF59BA-03F2-57E0-D6C7-9F22AB50772B}"/>
              </a:ext>
            </a:extLst>
          </p:cNvPr>
          <p:cNvSpPr txBox="1"/>
          <p:nvPr/>
        </p:nvSpPr>
        <p:spPr>
          <a:xfrm>
            <a:off x="2834640" y="1778000"/>
            <a:ext cx="8402320" cy="2954655"/>
          </a:xfrm>
          <a:prstGeom prst="rect">
            <a:avLst/>
          </a:prstGeom>
          <a:noFill/>
        </p:spPr>
        <p:txBody>
          <a:bodyPr wrap="square" rtlCol="0">
            <a:spAutoFit/>
          </a:bodyPr>
          <a:lstStyle/>
          <a:p>
            <a:r>
              <a:rPr lang="en-US" sz="5400" b="1" dirty="0">
                <a:latin typeface="Helvetica" panose="020B0604020202020204"/>
                <a:cs typeface="Helvetica" panose="020B0604020202020204"/>
              </a:rPr>
              <a:t>A Project Proposal</a:t>
            </a:r>
          </a:p>
          <a:p>
            <a:r>
              <a:rPr lang="en-US" sz="4400" b="1" dirty="0">
                <a:latin typeface="Helvetica" panose="020B0604020202020204"/>
                <a:cs typeface="Helvetica" panose="020B0604020202020204"/>
              </a:rPr>
              <a:t>			On</a:t>
            </a:r>
          </a:p>
          <a:p>
            <a:endParaRPr lang="en-US" sz="4400" b="1" dirty="0">
              <a:latin typeface="Helvetica" panose="020B0604020202020204"/>
              <a:cs typeface="Helvetica" panose="020B0604020202020204"/>
            </a:endParaRPr>
          </a:p>
          <a:p>
            <a:endParaRPr lang="en-US" sz="4400" b="1" dirty="0">
              <a:latin typeface="Helvetica" panose="020B0604020202020204"/>
              <a:cs typeface="Helvetica" panose="020B0604020202020204"/>
            </a:endParaRPr>
          </a:p>
        </p:txBody>
      </p:sp>
      <p:sp>
        <p:nvSpPr>
          <p:cNvPr id="20" name="TextBox 19">
            <a:extLst>
              <a:ext uri="{FF2B5EF4-FFF2-40B4-BE49-F238E27FC236}">
                <a16:creationId xmlns:a16="http://schemas.microsoft.com/office/drawing/2014/main" id="{4A7C8D90-2F00-2096-03EB-980DD71B20DA}"/>
              </a:ext>
            </a:extLst>
          </p:cNvPr>
          <p:cNvSpPr txBox="1"/>
          <p:nvPr/>
        </p:nvSpPr>
        <p:spPr>
          <a:xfrm>
            <a:off x="1290320" y="3255327"/>
            <a:ext cx="10088880" cy="584775"/>
          </a:xfrm>
          <a:prstGeom prst="rect">
            <a:avLst/>
          </a:prstGeom>
          <a:noFill/>
        </p:spPr>
        <p:txBody>
          <a:bodyPr wrap="square" rtlCol="0">
            <a:spAutoFit/>
          </a:bodyPr>
          <a:lstStyle/>
          <a:p>
            <a:r>
              <a:rPr lang="en-US" sz="3200" b="1" dirty="0">
                <a:latin typeface="Helvetica" panose="020B0604020202020204"/>
                <a:cs typeface="Helvetica" panose="020B0604020202020204"/>
              </a:rPr>
              <a:t>CHATBOT INTEGRATION USING N8N WORKFLOW</a:t>
            </a:r>
          </a:p>
        </p:txBody>
      </p:sp>
      <p:sp>
        <p:nvSpPr>
          <p:cNvPr id="21" name="TextBox 20">
            <a:extLst>
              <a:ext uri="{FF2B5EF4-FFF2-40B4-BE49-F238E27FC236}">
                <a16:creationId xmlns:a16="http://schemas.microsoft.com/office/drawing/2014/main" id="{9C00821F-0AF3-A1D3-8B64-B8D8F2E2EB57}"/>
              </a:ext>
            </a:extLst>
          </p:cNvPr>
          <p:cNvSpPr txBox="1"/>
          <p:nvPr/>
        </p:nvSpPr>
        <p:spPr>
          <a:xfrm>
            <a:off x="7653250" y="4295293"/>
            <a:ext cx="4450080" cy="1138773"/>
          </a:xfrm>
          <a:prstGeom prst="rect">
            <a:avLst/>
          </a:prstGeom>
          <a:noFill/>
        </p:spPr>
        <p:txBody>
          <a:bodyPr wrap="square" rtlCol="0">
            <a:spAutoFit/>
          </a:bodyPr>
          <a:lstStyle/>
          <a:p>
            <a:r>
              <a:rPr lang="en-US" sz="1700" b="1" dirty="0">
                <a:latin typeface="Helvetica" panose="020B0604020202020204"/>
                <a:cs typeface="Helvetica" panose="020B0604020202020204"/>
              </a:rPr>
              <a:t>Sangat Maharjan(230331)</a:t>
            </a:r>
          </a:p>
          <a:p>
            <a:r>
              <a:rPr lang="en-US" sz="1700" b="1" dirty="0">
                <a:latin typeface="Helvetica" panose="020B0604020202020204"/>
                <a:cs typeface="Helvetica" panose="020B0604020202020204"/>
              </a:rPr>
              <a:t>Oshan Bajracharya(230328</a:t>
            </a:r>
            <a:r>
              <a:rPr lang="en-US" sz="1700" dirty="0">
                <a:latin typeface="Helvetica" panose="020B0604020202020204"/>
                <a:cs typeface="Helvetica" panose="020B0604020202020204"/>
              </a:rPr>
              <a:t>)</a:t>
            </a:r>
          </a:p>
          <a:p>
            <a:r>
              <a:rPr lang="en-US" sz="1700" b="1" dirty="0">
                <a:latin typeface="Helvetica" panose="020B0604020202020204"/>
                <a:cs typeface="Helvetica" panose="020B0604020202020204"/>
              </a:rPr>
              <a:t>Jikmet Lama(230318)</a:t>
            </a:r>
          </a:p>
          <a:p>
            <a:r>
              <a:rPr lang="en-US" sz="1700" b="1" dirty="0">
                <a:latin typeface="Helvetica" panose="020B0604020202020204"/>
                <a:cs typeface="Helvetica" panose="020B0604020202020204"/>
              </a:rPr>
              <a:t>Subodh Upreti(230335)</a:t>
            </a:r>
          </a:p>
        </p:txBody>
      </p:sp>
      <p:sp>
        <p:nvSpPr>
          <p:cNvPr id="2" name="TextBox 1">
            <a:extLst>
              <a:ext uri="{FF2B5EF4-FFF2-40B4-BE49-F238E27FC236}">
                <a16:creationId xmlns:a16="http://schemas.microsoft.com/office/drawing/2014/main" id="{F5400973-B7A9-5747-4B03-956165501C9A}"/>
              </a:ext>
            </a:extLst>
          </p:cNvPr>
          <p:cNvSpPr txBox="1"/>
          <p:nvPr/>
        </p:nvSpPr>
        <p:spPr>
          <a:xfrm>
            <a:off x="7712363" y="5656794"/>
            <a:ext cx="3766589" cy="923330"/>
          </a:xfrm>
          <a:prstGeom prst="rect">
            <a:avLst/>
          </a:prstGeom>
          <a:noFill/>
        </p:spPr>
        <p:txBody>
          <a:bodyPr wrap="square" rtlCol="0">
            <a:spAutoFit/>
          </a:bodyPr>
          <a:lstStyle/>
          <a:p>
            <a:r>
              <a:rPr lang="en-US" b="1" dirty="0">
                <a:latin typeface="Helvetica" panose="020B0604020202020204"/>
                <a:cs typeface="Helvetica" panose="020B0604020202020204"/>
              </a:rPr>
              <a:t>Department</a:t>
            </a:r>
          </a:p>
          <a:p>
            <a:r>
              <a:rPr lang="en-US" b="1" dirty="0">
                <a:latin typeface="Helvetica" panose="020B0604020202020204"/>
                <a:cs typeface="Helvetica" panose="020B0604020202020204"/>
              </a:rPr>
              <a:t>ICT ,Cosmos College of Management and Technology</a:t>
            </a:r>
          </a:p>
        </p:txBody>
      </p:sp>
    </p:spTree>
    <p:extLst>
      <p:ext uri="{BB962C8B-B14F-4D97-AF65-F5344CB8AC3E}">
        <p14:creationId xmlns:p14="http://schemas.microsoft.com/office/powerpoint/2010/main" val="1574655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CAB8D-01B2-F3D8-02F4-E97F2B10C4B8}"/>
              </a:ext>
            </a:extLst>
          </p:cNvPr>
          <p:cNvSpPr>
            <a:spLocks noGrp="1"/>
          </p:cNvSpPr>
          <p:nvPr>
            <p:ph type="title"/>
          </p:nvPr>
        </p:nvSpPr>
        <p:spPr>
          <a:xfrm>
            <a:off x="405063" y="329655"/>
            <a:ext cx="10515600" cy="1325563"/>
          </a:xfrm>
        </p:spPr>
        <p:txBody>
          <a:bodyPr/>
          <a:lstStyle/>
          <a:p>
            <a:r>
              <a:rPr lang="en-US" dirty="0">
                <a:latin typeface="Helvetica" panose="020B0604020202020204" pitchFamily="34" charset="0"/>
                <a:cs typeface="Helvetica" panose="020B0604020202020204" pitchFamily="34" charset="0"/>
              </a:rPr>
              <a:t>CONTENTS</a:t>
            </a:r>
          </a:p>
        </p:txBody>
      </p:sp>
      <p:sp>
        <p:nvSpPr>
          <p:cNvPr id="3" name="Content Placeholder 2">
            <a:extLst>
              <a:ext uri="{FF2B5EF4-FFF2-40B4-BE49-F238E27FC236}">
                <a16:creationId xmlns:a16="http://schemas.microsoft.com/office/drawing/2014/main" id="{9E23101E-F176-F137-2856-A46B18322117}"/>
              </a:ext>
            </a:extLst>
          </p:cNvPr>
          <p:cNvSpPr>
            <a:spLocks noGrp="1"/>
          </p:cNvSpPr>
          <p:nvPr>
            <p:ph idx="1"/>
          </p:nvPr>
        </p:nvSpPr>
        <p:spPr>
          <a:xfrm>
            <a:off x="405063" y="1514225"/>
            <a:ext cx="10515600" cy="4351338"/>
          </a:xfrm>
        </p:spPr>
        <p:txBody>
          <a:bodyPr/>
          <a:lstStyle/>
          <a:p>
            <a:r>
              <a:rPr lang="en-US" dirty="0">
                <a:latin typeface="Helvetica" panose="020B0604020202020204" pitchFamily="34" charset="0"/>
                <a:cs typeface="Helvetica" panose="020B0604020202020204" pitchFamily="34" charset="0"/>
              </a:rPr>
              <a:t>INTRODUCTION</a:t>
            </a:r>
          </a:p>
          <a:p>
            <a:r>
              <a:rPr lang="en-US" dirty="0">
                <a:latin typeface="Helvetica" panose="020B0604020202020204" pitchFamily="34" charset="0"/>
                <a:cs typeface="Helvetica" panose="020B0604020202020204" pitchFamily="34" charset="0"/>
              </a:rPr>
              <a:t>PROBLEM STATEMENT</a:t>
            </a:r>
          </a:p>
          <a:p>
            <a:r>
              <a:rPr lang="en-US" dirty="0">
                <a:latin typeface="Helvetica" panose="020B0604020202020204" pitchFamily="34" charset="0"/>
                <a:cs typeface="Helvetica" panose="020B0604020202020204" pitchFamily="34" charset="0"/>
              </a:rPr>
              <a:t>OBJECTIVES</a:t>
            </a:r>
          </a:p>
          <a:p>
            <a:r>
              <a:rPr lang="en-US" dirty="0">
                <a:latin typeface="Helvetica" panose="020B0604020202020204" pitchFamily="34" charset="0"/>
                <a:cs typeface="Helvetica" panose="020B0604020202020204" pitchFamily="34" charset="0"/>
              </a:rPr>
              <a:t>SCOPE OF RESEARCH</a:t>
            </a:r>
          </a:p>
          <a:p>
            <a:r>
              <a:rPr lang="en-US" dirty="0">
                <a:latin typeface="Helvetica" panose="020B0604020202020204" pitchFamily="34" charset="0"/>
                <a:cs typeface="Helvetica" panose="020B0604020202020204" pitchFamily="34" charset="0"/>
              </a:rPr>
              <a:t>LITERATURE REVIEW</a:t>
            </a:r>
          </a:p>
          <a:p>
            <a:r>
              <a:rPr lang="en-US" dirty="0">
                <a:latin typeface="Helvetica" panose="020B0604020202020204" pitchFamily="34" charset="0"/>
                <a:cs typeface="Helvetica" panose="020B0604020202020204" pitchFamily="34" charset="0"/>
              </a:rPr>
              <a:t>METHODOLOGY</a:t>
            </a:r>
          </a:p>
          <a:p>
            <a:r>
              <a:rPr lang="en-US" dirty="0">
                <a:latin typeface="Helvetica" panose="020B0604020202020204" pitchFamily="34" charset="0"/>
                <a:cs typeface="Helvetica" panose="020B0604020202020204" pitchFamily="34" charset="0"/>
              </a:rPr>
              <a:t>EXPECTED OUTCOMES</a:t>
            </a:r>
          </a:p>
          <a:p>
            <a:endParaRPr lang="en-US" dirty="0"/>
          </a:p>
          <a:p>
            <a:endParaRPr lang="en-US" dirty="0"/>
          </a:p>
        </p:txBody>
      </p:sp>
      <p:sp>
        <p:nvSpPr>
          <p:cNvPr id="4" name="TextBox 3">
            <a:extLst>
              <a:ext uri="{FF2B5EF4-FFF2-40B4-BE49-F238E27FC236}">
                <a16:creationId xmlns:a16="http://schemas.microsoft.com/office/drawing/2014/main" id="{01A22638-7074-C36F-7069-F049B3EFCBFB}"/>
              </a:ext>
            </a:extLst>
          </p:cNvPr>
          <p:cNvSpPr txBox="1"/>
          <p:nvPr/>
        </p:nvSpPr>
        <p:spPr>
          <a:xfrm>
            <a:off x="11521440" y="6327792"/>
            <a:ext cx="477520" cy="369332"/>
          </a:xfrm>
          <a:prstGeom prst="rect">
            <a:avLst/>
          </a:prstGeom>
          <a:noFill/>
        </p:spPr>
        <p:txBody>
          <a:bodyPr wrap="square" rtlCol="0">
            <a:spAutoFit/>
          </a:bodyPr>
          <a:lstStyle/>
          <a:p>
            <a:r>
              <a:rPr lang="en-US" dirty="0">
                <a:latin typeface="Helvetica" panose="020B0604020202020204"/>
                <a:cs typeface="Helvetica" panose="020B0604020202020204"/>
              </a:rPr>
              <a:t>1</a:t>
            </a:r>
          </a:p>
        </p:txBody>
      </p:sp>
    </p:spTree>
    <p:extLst>
      <p:ext uri="{BB962C8B-B14F-4D97-AF65-F5344CB8AC3E}">
        <p14:creationId xmlns:p14="http://schemas.microsoft.com/office/powerpoint/2010/main" val="293860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FF63F-E390-702E-59D3-F2237911064C}"/>
              </a:ext>
            </a:extLst>
          </p:cNvPr>
          <p:cNvSpPr>
            <a:spLocks noGrp="1"/>
          </p:cNvSpPr>
          <p:nvPr>
            <p:ph type="ctrTitle"/>
          </p:nvPr>
        </p:nvSpPr>
        <p:spPr>
          <a:xfrm>
            <a:off x="2133600" y="5421647"/>
            <a:ext cx="9144000" cy="2387600"/>
          </a:xfrm>
        </p:spPr>
        <p:txBody>
          <a:bodyPr>
            <a:normAutofit/>
          </a:bodyPr>
          <a:lstStyle/>
          <a:p>
            <a:pPr rtl="0"/>
            <a:br>
              <a:rPr lang="en-US" dirty="0"/>
            </a:br>
            <a:r>
              <a:rPr lang="en-US" sz="1000" b="1" dirty="0"/>
              <a:t>Visual Suggestion</a:t>
            </a:r>
            <a:r>
              <a:rPr lang="en-US" sz="1000" dirty="0"/>
              <a:t>: Include a background image of elegant jewelry or a sleek website interface.</a:t>
            </a:r>
            <a:br>
              <a:rPr lang="en-US" dirty="0"/>
            </a:br>
            <a:endParaRPr lang="en-US" dirty="0"/>
          </a:p>
        </p:txBody>
      </p:sp>
      <p:sp>
        <p:nvSpPr>
          <p:cNvPr id="3" name="Subtitle 2">
            <a:extLst>
              <a:ext uri="{FF2B5EF4-FFF2-40B4-BE49-F238E27FC236}">
                <a16:creationId xmlns:a16="http://schemas.microsoft.com/office/drawing/2014/main" id="{C20031BA-343C-3874-2694-EAB21B2339FB}"/>
              </a:ext>
            </a:extLst>
          </p:cNvPr>
          <p:cNvSpPr>
            <a:spLocks noGrp="1"/>
          </p:cNvSpPr>
          <p:nvPr>
            <p:ph type="subTitle" idx="1"/>
          </p:nvPr>
        </p:nvSpPr>
        <p:spPr>
          <a:xfrm>
            <a:off x="625642" y="272716"/>
            <a:ext cx="10940716" cy="6585284"/>
          </a:xfrm>
        </p:spPr>
        <p:txBody>
          <a:bodyPr>
            <a:normAutofit/>
          </a:bodyPr>
          <a:lstStyle/>
          <a:p>
            <a:r>
              <a:rPr lang="en-US" sz="3800" b="1" dirty="0">
                <a:latin typeface="Helvetica" panose="020B0604020202020204" pitchFamily="34" charset="0"/>
                <a:ea typeface="Verdana" panose="020B0604030504040204" pitchFamily="34" charset="0"/>
                <a:cs typeface="Helvetica" panose="020B0604020202020204" pitchFamily="34" charset="0"/>
              </a:rPr>
              <a:t>INTRODUCTION</a:t>
            </a:r>
          </a:p>
          <a:p>
            <a:pPr algn="l"/>
            <a:r>
              <a:rPr lang="en-US" dirty="0">
                <a:latin typeface="Helvetica" panose="020B0604020202020204" pitchFamily="34" charset="0"/>
                <a:ea typeface="Verdana" panose="020B0604030504040204" pitchFamily="34" charset="0"/>
                <a:cs typeface="Helvetica" panose="020B0604020202020204" pitchFamily="34" charset="0"/>
              </a:rPr>
              <a:t>The way businesses interact with their customers has transformed drastically, with artificial intelligence (AI) playing a key role in this evolution. One such transformation is the adoption of AI-powered chatbots, which offer real-time, intelligent, and automated customer engagement. E-commerce platforms, in particular, are in boom recently and have benefited significantly from chatbot integration, enabling them to handle customer queries, provide personalized recommendations, and streamline user interactions without the need for constant human intervention.</a:t>
            </a:r>
          </a:p>
          <a:p>
            <a:pPr algn="l"/>
            <a:r>
              <a:rPr lang="en-US" dirty="0">
                <a:latin typeface="Helvetica" panose="020B0604020202020204" pitchFamily="34" charset="0"/>
                <a:ea typeface="Verdana" panose="020B0604030504040204" pitchFamily="34" charset="0"/>
                <a:cs typeface="Helvetica" panose="020B0604020202020204" pitchFamily="34" charset="0"/>
              </a:rPr>
              <a:t>This project proposes the integration of an AI-powered chatbot into the existing jewelry website using n8n, a powerful open-source workflow automation tool. The chatbot will serve as a virtual assistant capable of answering customer queries, providing product-related information, assisting with appointment bookings, and more. By leveraging n8n’s automation capabilities, the chatbot will not only respond intelligently but also perform backend tasks such as logging user inputs, sending emails, and updating records. The goal is to enhance user engagement, reduce manual workload, and improve overall customer satisfaction through a scalable and efficient system.</a:t>
            </a:r>
          </a:p>
          <a:p>
            <a:pPr algn="l"/>
            <a:endParaRPr lang="en-US" dirty="0"/>
          </a:p>
        </p:txBody>
      </p:sp>
      <p:sp>
        <p:nvSpPr>
          <p:cNvPr id="4" name="TextBox 3">
            <a:extLst>
              <a:ext uri="{FF2B5EF4-FFF2-40B4-BE49-F238E27FC236}">
                <a16:creationId xmlns:a16="http://schemas.microsoft.com/office/drawing/2014/main" id="{F4DD5E0E-8FF1-1255-0569-F14B15BF5BA8}"/>
              </a:ext>
            </a:extLst>
          </p:cNvPr>
          <p:cNvSpPr txBox="1"/>
          <p:nvPr/>
        </p:nvSpPr>
        <p:spPr>
          <a:xfrm>
            <a:off x="11576518" y="6400618"/>
            <a:ext cx="345440" cy="369332"/>
          </a:xfrm>
          <a:prstGeom prst="rect">
            <a:avLst/>
          </a:prstGeom>
          <a:noFill/>
        </p:spPr>
        <p:txBody>
          <a:bodyPr wrap="square" rtlCol="0">
            <a:spAutoFit/>
          </a:bodyPr>
          <a:lstStyle/>
          <a:p>
            <a:r>
              <a:rPr lang="en-US" dirty="0">
                <a:latin typeface="Helvetica" panose="020B0604020202020204"/>
                <a:cs typeface="Helvetica" panose="020B0604020202020204"/>
              </a:rPr>
              <a:t>2</a:t>
            </a:r>
          </a:p>
        </p:txBody>
      </p:sp>
    </p:spTree>
    <p:extLst>
      <p:ext uri="{BB962C8B-B14F-4D97-AF65-F5344CB8AC3E}">
        <p14:creationId xmlns:p14="http://schemas.microsoft.com/office/powerpoint/2010/main" val="2918042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13D2-7C86-5949-6AC0-77F80E9F17F8}"/>
              </a:ext>
            </a:extLst>
          </p:cNvPr>
          <p:cNvSpPr>
            <a:spLocks noGrp="1"/>
          </p:cNvSpPr>
          <p:nvPr>
            <p:ph type="title"/>
          </p:nvPr>
        </p:nvSpPr>
        <p:spPr>
          <a:xfrm>
            <a:off x="469232" y="365124"/>
            <a:ext cx="10515600" cy="1325563"/>
          </a:xfrm>
        </p:spPr>
        <p:txBody>
          <a:bodyPr/>
          <a:lstStyle/>
          <a:p>
            <a:r>
              <a:rPr lang="en-US" dirty="0">
                <a:latin typeface="Helvetica" panose="020B0604020202020204" pitchFamily="34" charset="0"/>
                <a:cs typeface="Helvetica" panose="020B0604020202020204" pitchFamily="34" charset="0"/>
              </a:rPr>
              <a:t>Problem Statement</a:t>
            </a:r>
          </a:p>
        </p:txBody>
      </p:sp>
      <p:sp>
        <p:nvSpPr>
          <p:cNvPr id="7" name="TextBox 6">
            <a:extLst>
              <a:ext uri="{FF2B5EF4-FFF2-40B4-BE49-F238E27FC236}">
                <a16:creationId xmlns:a16="http://schemas.microsoft.com/office/drawing/2014/main" id="{78E8BA3C-90B5-5072-A2CE-4DB4EE49DC23}"/>
              </a:ext>
            </a:extLst>
          </p:cNvPr>
          <p:cNvSpPr txBox="1"/>
          <p:nvPr/>
        </p:nvSpPr>
        <p:spPr>
          <a:xfrm>
            <a:off x="469232" y="1674645"/>
            <a:ext cx="10856494" cy="4570482"/>
          </a:xfrm>
          <a:prstGeom prst="rect">
            <a:avLst/>
          </a:prstGeom>
          <a:noFill/>
        </p:spPr>
        <p:txBody>
          <a:bodyPr wrap="square" rtlCol="0">
            <a:spAutoFit/>
          </a:bodyPr>
          <a:lstStyle/>
          <a:p>
            <a:r>
              <a:rPr lang="en-US" sz="2100" dirty="0">
                <a:latin typeface="Helvetica" panose="020B0604020202020204" pitchFamily="34" charset="0"/>
                <a:cs typeface="Helvetica" panose="020B0604020202020204" pitchFamily="34" charset="0"/>
              </a:rPr>
              <a:t>In the competitive world of online retail, especially in industries like jewelry where trust and personalization are paramount. Visitors often have queries about product availability, pricing, and appointments. Despite the growing demand for instant support and personalized service in e-commerce, many small to medium-sized jewelry businesses lack the infrastructure to meet these expectations effectively. Manual responses are not scalable and are limited to business hours.</a:t>
            </a:r>
          </a:p>
          <a:p>
            <a:endParaRPr lang="en-US" sz="2100" dirty="0">
              <a:latin typeface="Helvetica" panose="020B0604020202020204" pitchFamily="34" charset="0"/>
              <a:cs typeface="Helvetica" panose="020B0604020202020204" pitchFamily="34" charset="0"/>
            </a:endParaRPr>
          </a:p>
          <a:p>
            <a:r>
              <a:rPr lang="en-US" sz="2100" dirty="0">
                <a:latin typeface="Helvetica" panose="020B0604020202020204" pitchFamily="34" charset="0"/>
                <a:cs typeface="Helvetica" panose="020B0604020202020204" pitchFamily="34" charset="0"/>
              </a:rPr>
              <a:t>The current jewelry website, developed using the </a:t>
            </a:r>
            <a:r>
              <a:rPr lang="en-US" sz="2100" dirty="0" err="1">
                <a:latin typeface="Helvetica" panose="020B0604020202020204" pitchFamily="34" charset="0"/>
                <a:cs typeface="Helvetica" panose="020B0604020202020204" pitchFamily="34" charset="0"/>
              </a:rPr>
              <a:t>Blanxer</a:t>
            </a:r>
            <a:r>
              <a:rPr lang="en-US" sz="2100" dirty="0">
                <a:latin typeface="Helvetica" panose="020B0604020202020204" pitchFamily="34" charset="0"/>
                <a:cs typeface="Helvetica" panose="020B0604020202020204" pitchFamily="34" charset="0"/>
              </a:rPr>
              <a:t> platform, operates without any form of automated support or live chat capabilities. Visitors to the website who have questions regarding product details, pricing, availability, or appointment bookings must either wait for manual responses or navigate the site independently, which can lead to frustration and drop-offs. This creates a significant gap in the user experience and hinders the business’s ability to convert casual browsers into loyal customers</a:t>
            </a:r>
            <a:r>
              <a:rPr lang="en-US" sz="2000" dirty="0">
                <a:latin typeface="+mj-lt"/>
              </a:rPr>
              <a:t>.</a:t>
            </a:r>
          </a:p>
          <a:p>
            <a:endParaRPr lang="en-US" dirty="0"/>
          </a:p>
        </p:txBody>
      </p:sp>
      <p:sp>
        <p:nvSpPr>
          <p:cNvPr id="3" name="TextBox 2">
            <a:extLst>
              <a:ext uri="{FF2B5EF4-FFF2-40B4-BE49-F238E27FC236}">
                <a16:creationId xmlns:a16="http://schemas.microsoft.com/office/drawing/2014/main" id="{F4F61D31-9BBE-4C71-81B3-A26D4EBD30BB}"/>
              </a:ext>
            </a:extLst>
          </p:cNvPr>
          <p:cNvSpPr txBox="1"/>
          <p:nvPr/>
        </p:nvSpPr>
        <p:spPr>
          <a:xfrm>
            <a:off x="11513152" y="6367047"/>
            <a:ext cx="396240" cy="375920"/>
          </a:xfrm>
          <a:prstGeom prst="rect">
            <a:avLst/>
          </a:prstGeom>
          <a:noFill/>
        </p:spPr>
        <p:txBody>
          <a:bodyPr wrap="square" rtlCol="0">
            <a:spAutoFit/>
          </a:bodyPr>
          <a:lstStyle/>
          <a:p>
            <a:r>
              <a:rPr lang="en-US" dirty="0">
                <a:latin typeface="Helvetica" panose="020B0604020202020204"/>
                <a:cs typeface="Helvetica" panose="020B0604020202020204"/>
              </a:rPr>
              <a:t>3</a:t>
            </a:r>
          </a:p>
        </p:txBody>
      </p:sp>
    </p:spTree>
    <p:extLst>
      <p:ext uri="{BB962C8B-B14F-4D97-AF65-F5344CB8AC3E}">
        <p14:creationId xmlns:p14="http://schemas.microsoft.com/office/powerpoint/2010/main" val="2322199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49ACB-6BC1-2B56-82CC-DC8CAE6052D0}"/>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OBJECTIVES</a:t>
            </a:r>
          </a:p>
        </p:txBody>
      </p:sp>
      <p:sp>
        <p:nvSpPr>
          <p:cNvPr id="3" name="Content Placeholder 2">
            <a:extLst>
              <a:ext uri="{FF2B5EF4-FFF2-40B4-BE49-F238E27FC236}">
                <a16:creationId xmlns:a16="http://schemas.microsoft.com/office/drawing/2014/main" id="{ECFE5A36-09FE-9CB8-CCEE-D624375BEC73}"/>
              </a:ext>
            </a:extLst>
          </p:cNvPr>
          <p:cNvSpPr>
            <a:spLocks noGrp="1"/>
          </p:cNvSpPr>
          <p:nvPr>
            <p:ph idx="1"/>
          </p:nvPr>
        </p:nvSpPr>
        <p:spPr>
          <a:xfrm>
            <a:off x="661736" y="1690687"/>
            <a:ext cx="10515600" cy="4597817"/>
          </a:xfrm>
        </p:spPr>
        <p:txBody>
          <a:bodyPr>
            <a:normAutofit lnSpcReduction="10000"/>
          </a:bodyPr>
          <a:lstStyle/>
          <a:p>
            <a:r>
              <a:rPr lang="en-US" dirty="0">
                <a:latin typeface="Helvetica" panose="020B0604020202020204" pitchFamily="34" charset="0"/>
                <a:cs typeface="Helvetica" panose="020B0604020202020204" pitchFamily="34" charset="0"/>
              </a:rPr>
              <a:t>To develop and embed an AI-powered chatbot capable of handling basic customer interactions, such as product inquiries, appointment bookings, and frequently asked questions.</a:t>
            </a:r>
          </a:p>
          <a:p>
            <a:r>
              <a:rPr lang="en-US" dirty="0">
                <a:latin typeface="Helvetica" panose="020B0604020202020204" pitchFamily="34" charset="0"/>
                <a:cs typeface="Helvetica" panose="020B0604020202020204" pitchFamily="34" charset="0"/>
              </a:rPr>
              <a:t>To leverage n8n’s workflow automation capabilities to perform backend tasks, including sending automated email confirmations, logging customer queries, and updating internal records.</a:t>
            </a:r>
          </a:p>
          <a:p>
            <a:r>
              <a:rPr lang="en-US" dirty="0">
                <a:latin typeface="Helvetica" panose="020B0604020202020204" pitchFamily="34" charset="0"/>
                <a:cs typeface="Helvetica" panose="020B0604020202020204" pitchFamily="34" charset="0"/>
              </a:rPr>
              <a:t>To ensure 24/7 customer support availability through the chatbot, thereby reducing dependency on manual responses and improving response time.</a:t>
            </a:r>
          </a:p>
          <a:p>
            <a:r>
              <a:rPr lang="en-US" dirty="0">
                <a:latin typeface="Helvetica" panose="020B0604020202020204" pitchFamily="34" charset="0"/>
                <a:cs typeface="Helvetica" panose="020B0604020202020204" pitchFamily="34" charset="0"/>
              </a:rPr>
              <a:t>To enhance the overall user experience on the website by providing instant, relevant, and intelligent assistance</a:t>
            </a:r>
            <a:r>
              <a:rPr lang="en-US" dirty="0"/>
              <a:t>.</a:t>
            </a:r>
          </a:p>
          <a:p>
            <a:endParaRPr lang="en-US" dirty="0"/>
          </a:p>
          <a:p>
            <a:endParaRPr lang="en-US" dirty="0"/>
          </a:p>
          <a:p>
            <a:endParaRPr lang="en-US" dirty="0"/>
          </a:p>
        </p:txBody>
      </p:sp>
      <p:sp>
        <p:nvSpPr>
          <p:cNvPr id="4" name="TextBox 3">
            <a:extLst>
              <a:ext uri="{FF2B5EF4-FFF2-40B4-BE49-F238E27FC236}">
                <a16:creationId xmlns:a16="http://schemas.microsoft.com/office/drawing/2014/main" id="{C9087AAB-EC89-44E1-738F-16624FB207C6}"/>
              </a:ext>
            </a:extLst>
          </p:cNvPr>
          <p:cNvSpPr txBox="1"/>
          <p:nvPr/>
        </p:nvSpPr>
        <p:spPr>
          <a:xfrm>
            <a:off x="11612880" y="6359624"/>
            <a:ext cx="396240" cy="369332"/>
          </a:xfrm>
          <a:prstGeom prst="rect">
            <a:avLst/>
          </a:prstGeom>
          <a:noFill/>
        </p:spPr>
        <p:txBody>
          <a:bodyPr wrap="square" rtlCol="0">
            <a:spAutoFit/>
          </a:bodyPr>
          <a:lstStyle/>
          <a:p>
            <a:r>
              <a:rPr lang="en-US" dirty="0">
                <a:latin typeface="Helvetica" panose="020B0604020202020204"/>
                <a:cs typeface="Helvetica" panose="020B0604020202020204"/>
              </a:rPr>
              <a:t>4</a:t>
            </a:r>
          </a:p>
        </p:txBody>
      </p:sp>
    </p:spTree>
    <p:extLst>
      <p:ext uri="{BB962C8B-B14F-4D97-AF65-F5344CB8AC3E}">
        <p14:creationId xmlns:p14="http://schemas.microsoft.com/office/powerpoint/2010/main" val="3542185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77DCF-8831-A225-F828-AEC73F57BB99}"/>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Scope of Research</a:t>
            </a:r>
          </a:p>
        </p:txBody>
      </p:sp>
      <p:sp>
        <p:nvSpPr>
          <p:cNvPr id="3" name="Content Placeholder 2">
            <a:extLst>
              <a:ext uri="{FF2B5EF4-FFF2-40B4-BE49-F238E27FC236}">
                <a16:creationId xmlns:a16="http://schemas.microsoft.com/office/drawing/2014/main" id="{2CC495E6-A368-3FF8-5C37-36677DC9CFF6}"/>
              </a:ext>
            </a:extLst>
          </p:cNvPr>
          <p:cNvSpPr>
            <a:spLocks noGrp="1"/>
          </p:cNvSpPr>
          <p:nvPr>
            <p:ph idx="1"/>
          </p:nvPr>
        </p:nvSpPr>
        <p:spPr>
          <a:xfrm>
            <a:off x="533400" y="1424571"/>
            <a:ext cx="10515600" cy="5068303"/>
          </a:xfrm>
        </p:spPr>
        <p:txBody>
          <a:bodyPr>
            <a:normAutofit lnSpcReduction="10000"/>
          </a:bodyPr>
          <a:lstStyle/>
          <a:p>
            <a:r>
              <a:rPr lang="en-US" dirty="0">
                <a:latin typeface="Helvetica" panose="020B0604020202020204" pitchFamily="34" charset="0"/>
                <a:cs typeface="Helvetica" panose="020B0604020202020204" pitchFamily="34" charset="0"/>
              </a:rPr>
              <a:t>Our Research emphasizes on defining both the technical and functional aspects. The project focuses on the design and implementation a chatbot which will be connected to backend automation workflows developed using the n8n tool. This scope includes creating chatbot dialogues to handle customer inquiries related to product availability, appointment bookings, frequently asked questions, and basic product guidance.</a:t>
            </a:r>
          </a:p>
          <a:p>
            <a:r>
              <a:rPr lang="en-US" dirty="0">
                <a:latin typeface="Helvetica" panose="020B0604020202020204" pitchFamily="34" charset="0"/>
                <a:cs typeface="Helvetica" panose="020B0604020202020204" pitchFamily="34" charset="0"/>
              </a:rPr>
              <a:t>From a backend perspective, the research will cover the creation of workflows that automate responses, log user data, trigger email notifications, and update simple databases. </a:t>
            </a:r>
          </a:p>
          <a:p>
            <a:r>
              <a:rPr lang="en-US" dirty="0">
                <a:latin typeface="Helvetica" panose="020B0604020202020204" pitchFamily="34" charset="0"/>
                <a:cs typeface="Helvetica" panose="020B0604020202020204" pitchFamily="34" charset="0"/>
              </a:rPr>
              <a:t>However, the scope does not extend to training custom machine learning models or integrating advanced AI features such as predictive analytics or voice-based interaction</a:t>
            </a:r>
          </a:p>
          <a:p>
            <a:endParaRPr lang="en-US" dirty="0"/>
          </a:p>
        </p:txBody>
      </p:sp>
      <p:sp>
        <p:nvSpPr>
          <p:cNvPr id="4" name="TextBox 3">
            <a:extLst>
              <a:ext uri="{FF2B5EF4-FFF2-40B4-BE49-F238E27FC236}">
                <a16:creationId xmlns:a16="http://schemas.microsoft.com/office/drawing/2014/main" id="{358450FA-5A02-CD8F-3DB4-82A7934716FF}"/>
              </a:ext>
            </a:extLst>
          </p:cNvPr>
          <p:cNvSpPr txBox="1"/>
          <p:nvPr/>
        </p:nvSpPr>
        <p:spPr>
          <a:xfrm>
            <a:off x="11577320" y="6304914"/>
            <a:ext cx="381000" cy="375920"/>
          </a:xfrm>
          <a:prstGeom prst="rect">
            <a:avLst/>
          </a:prstGeom>
          <a:noFill/>
        </p:spPr>
        <p:txBody>
          <a:bodyPr wrap="square" rtlCol="0">
            <a:spAutoFit/>
          </a:bodyPr>
          <a:lstStyle/>
          <a:p>
            <a:r>
              <a:rPr lang="en-US" dirty="0">
                <a:latin typeface="Helvetica" panose="020B0604020202020204"/>
                <a:cs typeface="Helvetica" panose="020B0604020202020204"/>
              </a:rPr>
              <a:t>5</a:t>
            </a:r>
          </a:p>
        </p:txBody>
      </p:sp>
    </p:spTree>
    <p:extLst>
      <p:ext uri="{BB962C8B-B14F-4D97-AF65-F5344CB8AC3E}">
        <p14:creationId xmlns:p14="http://schemas.microsoft.com/office/powerpoint/2010/main" val="3038928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3820-4022-DD70-239D-43D5EC8257C7}"/>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Literature Review</a:t>
            </a:r>
          </a:p>
        </p:txBody>
      </p:sp>
      <p:sp>
        <p:nvSpPr>
          <p:cNvPr id="4" name="TextBox 3">
            <a:extLst>
              <a:ext uri="{FF2B5EF4-FFF2-40B4-BE49-F238E27FC236}">
                <a16:creationId xmlns:a16="http://schemas.microsoft.com/office/drawing/2014/main" id="{61EE69F2-AF66-117B-0891-EEC453A2BD8C}"/>
              </a:ext>
            </a:extLst>
          </p:cNvPr>
          <p:cNvSpPr txBox="1"/>
          <p:nvPr/>
        </p:nvSpPr>
        <p:spPr>
          <a:xfrm>
            <a:off x="838200" y="1459855"/>
            <a:ext cx="2679032" cy="584775"/>
          </a:xfrm>
          <a:prstGeom prst="rect">
            <a:avLst/>
          </a:prstGeom>
          <a:noFill/>
        </p:spPr>
        <p:txBody>
          <a:bodyPr wrap="square" rtlCol="0">
            <a:spAutoFit/>
          </a:bodyPr>
          <a:lstStyle/>
          <a:p>
            <a:r>
              <a:rPr lang="en-US" sz="3200" dirty="0">
                <a:latin typeface="Helvetica" panose="020B0604020202020204" pitchFamily="34" charset="0"/>
                <a:cs typeface="Helvetica" panose="020B0604020202020204" pitchFamily="34" charset="0"/>
              </a:rPr>
              <a:t>Related Work</a:t>
            </a:r>
          </a:p>
        </p:txBody>
      </p:sp>
      <p:sp>
        <p:nvSpPr>
          <p:cNvPr id="6" name="TextBox 5">
            <a:extLst>
              <a:ext uri="{FF2B5EF4-FFF2-40B4-BE49-F238E27FC236}">
                <a16:creationId xmlns:a16="http://schemas.microsoft.com/office/drawing/2014/main" id="{9F7653A1-2FBB-9950-BCEA-78590F88AA27}"/>
              </a:ext>
            </a:extLst>
          </p:cNvPr>
          <p:cNvSpPr txBox="1"/>
          <p:nvPr/>
        </p:nvSpPr>
        <p:spPr>
          <a:xfrm>
            <a:off x="838199" y="2233906"/>
            <a:ext cx="10515599" cy="1938992"/>
          </a:xfrm>
          <a:prstGeom prst="rect">
            <a:avLst/>
          </a:prstGeom>
          <a:noFill/>
        </p:spPr>
        <p:txBody>
          <a:bodyPr wrap="square">
            <a:spAutoFit/>
          </a:bodyPr>
          <a:lstStyle/>
          <a:p>
            <a:pPr marL="57150" marR="0">
              <a:spcBef>
                <a:spcPts val="0"/>
              </a:spcBef>
              <a:spcAft>
                <a:spcPts val="0"/>
              </a:spcAft>
            </a:pPr>
            <a:r>
              <a:rPr lang="en-US" sz="2400" dirty="0">
                <a:effectLst/>
                <a:latin typeface="Helvetica" panose="020B0604020202020204" pitchFamily="34" charset="0"/>
                <a:ea typeface="Times New Roman" panose="02020603050405020304" pitchFamily="18" charset="0"/>
                <a:cs typeface="Helvetica" panose="020B0604020202020204" pitchFamily="34" charset="0"/>
              </a:rPr>
              <a:t>n8n Automation in Web Applications</a:t>
            </a:r>
            <a:endParaRPr lang="en-US" sz="2400" dirty="0">
              <a:latin typeface="Helvetica" panose="020B0604020202020204" pitchFamily="34" charset="0"/>
              <a:ea typeface="Times New Roman" panose="02020603050405020304" pitchFamily="18" charset="0"/>
              <a:cs typeface="Helvetica" panose="020B0604020202020204" pitchFamily="34" charset="0"/>
            </a:endParaRPr>
          </a:p>
          <a:p>
            <a:pPr marL="57150" marR="0">
              <a:spcBef>
                <a:spcPts val="0"/>
              </a:spcBef>
              <a:spcAft>
                <a:spcPts val="0"/>
              </a:spcAft>
            </a:pPr>
            <a:r>
              <a:rPr lang="en-US" sz="2400" dirty="0">
                <a:effectLst/>
                <a:latin typeface="Helvetica" panose="020B0604020202020204" pitchFamily="34" charset="0"/>
                <a:ea typeface="Times New Roman" panose="02020603050405020304" pitchFamily="18" charset="0"/>
                <a:cs typeface="Helvetica" panose="020B0604020202020204" pitchFamily="34" charset="0"/>
              </a:rPr>
              <a:t>Kaur (2023) demonstrated the role of n8n as a low-code automation tool that streamlines key backend processes like email handling, data logging, and API integration. This makes it especially useful for small web platforms aiming for scalability with minimal resources.</a:t>
            </a:r>
          </a:p>
        </p:txBody>
      </p:sp>
      <p:sp>
        <p:nvSpPr>
          <p:cNvPr id="8" name="TextBox 7">
            <a:extLst>
              <a:ext uri="{FF2B5EF4-FFF2-40B4-BE49-F238E27FC236}">
                <a16:creationId xmlns:a16="http://schemas.microsoft.com/office/drawing/2014/main" id="{89B97CBE-2F05-7AEE-279C-3E204FDAC81E}"/>
              </a:ext>
            </a:extLst>
          </p:cNvPr>
          <p:cNvSpPr txBox="1"/>
          <p:nvPr/>
        </p:nvSpPr>
        <p:spPr>
          <a:xfrm>
            <a:off x="838199" y="4243983"/>
            <a:ext cx="10198769" cy="2308324"/>
          </a:xfrm>
          <a:prstGeom prst="rect">
            <a:avLst/>
          </a:prstGeom>
          <a:noFill/>
        </p:spPr>
        <p:txBody>
          <a:bodyPr wrap="square">
            <a:spAutoFit/>
          </a:bodyPr>
          <a:lstStyle/>
          <a:p>
            <a:pPr marL="57150" marR="0">
              <a:spcBef>
                <a:spcPts val="0"/>
              </a:spcBef>
              <a:spcAft>
                <a:spcPts val="0"/>
              </a:spcAft>
            </a:pPr>
            <a:r>
              <a:rPr lang="en-US" sz="2400" dirty="0">
                <a:effectLst/>
                <a:latin typeface="Helvetica" panose="020B0604020202020204" pitchFamily="34" charset="0"/>
                <a:ea typeface="Times New Roman" panose="02020603050405020304" pitchFamily="18" charset="0"/>
                <a:cs typeface="Helvetica" panose="020B0604020202020204" pitchFamily="34" charset="0"/>
              </a:rPr>
              <a:t>Flourishment of Customer Engagement</a:t>
            </a:r>
            <a:endParaRPr lang="en-US" sz="2400" dirty="0">
              <a:latin typeface="Helvetica" panose="020B0604020202020204" pitchFamily="34" charset="0"/>
              <a:ea typeface="Times New Roman" panose="02020603050405020304" pitchFamily="18" charset="0"/>
              <a:cs typeface="Helvetica" panose="020B0604020202020204" pitchFamily="34" charset="0"/>
            </a:endParaRPr>
          </a:p>
          <a:p>
            <a:pPr marL="57150" marR="0">
              <a:spcBef>
                <a:spcPts val="0"/>
              </a:spcBef>
              <a:spcAft>
                <a:spcPts val="0"/>
              </a:spcAft>
            </a:pPr>
            <a:r>
              <a:rPr lang="en-US" sz="2400" dirty="0">
                <a:effectLst/>
                <a:latin typeface="Helvetica" panose="020B0604020202020204" pitchFamily="34" charset="0"/>
                <a:ea typeface="Palatino Linotype" panose="02040502050505030304" pitchFamily="18" charset="0"/>
                <a:cs typeface="Helvetica" panose="020B0604020202020204" pitchFamily="34" charset="0"/>
              </a:rPr>
              <a:t>Similarly, Salesforce (2023) highlighted that AI chatbots improve engagement and satisfaction, with over 60% of customers preferring messaging-based support. The integration of a chatbot into the jewelry website ensures round-the-clock support and a smoother user experience, which directly impacts business growth</a:t>
            </a:r>
            <a:r>
              <a:rPr lang="en-US" sz="2400" dirty="0">
                <a:effectLst/>
                <a:latin typeface="+mj-lt"/>
                <a:ea typeface="Palatino Linotype" panose="02040502050505030304" pitchFamily="18" charset="0"/>
                <a:cs typeface="Palatino Linotype" panose="02040502050505030304" pitchFamily="18" charset="0"/>
              </a:rPr>
              <a:t>.</a:t>
            </a:r>
          </a:p>
        </p:txBody>
      </p:sp>
      <p:sp>
        <p:nvSpPr>
          <p:cNvPr id="3" name="TextBox 2">
            <a:extLst>
              <a:ext uri="{FF2B5EF4-FFF2-40B4-BE49-F238E27FC236}">
                <a16:creationId xmlns:a16="http://schemas.microsoft.com/office/drawing/2014/main" id="{0B86B213-79DB-392B-3191-26CAC5292872}"/>
              </a:ext>
            </a:extLst>
          </p:cNvPr>
          <p:cNvSpPr txBox="1"/>
          <p:nvPr/>
        </p:nvSpPr>
        <p:spPr>
          <a:xfrm>
            <a:off x="11524648" y="6367641"/>
            <a:ext cx="413352" cy="369332"/>
          </a:xfrm>
          <a:prstGeom prst="rect">
            <a:avLst/>
          </a:prstGeom>
          <a:noFill/>
        </p:spPr>
        <p:txBody>
          <a:bodyPr wrap="square" rtlCol="0">
            <a:spAutoFit/>
          </a:bodyPr>
          <a:lstStyle/>
          <a:p>
            <a:r>
              <a:rPr lang="en-US" dirty="0">
                <a:latin typeface="Helvetica" panose="020B0604020202020204"/>
                <a:cs typeface="Helvetica" panose="020B0604020202020204"/>
              </a:rPr>
              <a:t>6</a:t>
            </a:r>
          </a:p>
        </p:txBody>
      </p:sp>
    </p:spTree>
    <p:extLst>
      <p:ext uri="{BB962C8B-B14F-4D97-AF65-F5344CB8AC3E}">
        <p14:creationId xmlns:p14="http://schemas.microsoft.com/office/powerpoint/2010/main" val="527875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3820-4022-DD70-239D-43D5EC8257C7}"/>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Literature review</a:t>
            </a:r>
          </a:p>
        </p:txBody>
      </p:sp>
      <p:sp>
        <p:nvSpPr>
          <p:cNvPr id="5" name="TextBox 4">
            <a:extLst>
              <a:ext uri="{FF2B5EF4-FFF2-40B4-BE49-F238E27FC236}">
                <a16:creationId xmlns:a16="http://schemas.microsoft.com/office/drawing/2014/main" id="{7CDF1BB7-FD69-E782-82D2-5C5D8E2A1CA5}"/>
              </a:ext>
            </a:extLst>
          </p:cNvPr>
          <p:cNvSpPr txBox="1"/>
          <p:nvPr/>
        </p:nvSpPr>
        <p:spPr>
          <a:xfrm>
            <a:off x="433136" y="1690688"/>
            <a:ext cx="11421979" cy="2308324"/>
          </a:xfrm>
          <a:prstGeom prst="rect">
            <a:avLst/>
          </a:prstGeom>
          <a:noFill/>
        </p:spPr>
        <p:txBody>
          <a:bodyPr wrap="square">
            <a:spAutoFit/>
          </a:bodyPr>
          <a:lstStyle/>
          <a:p>
            <a:pPr marL="400050" marR="0"/>
            <a:r>
              <a:rPr lang="en-US" sz="2400" dirty="0">
                <a:effectLst/>
                <a:latin typeface="Helvetica" panose="020B0604020202020204" pitchFamily="34" charset="0"/>
                <a:ea typeface="Times New Roman" panose="02020603050405020304" pitchFamily="18" charset="0"/>
                <a:cs typeface="Helvetica" panose="020B0604020202020204" pitchFamily="34" charset="0"/>
              </a:rPr>
              <a:t>Research by Gartner (2024) indicates that AI chatbots can increase online sales conversion rates by up to 30% by providing instant responses and tailored recommendations, reducing customer wait times, and automating routine inquiries. Such benefits have encouraged many small and medium-sized enterprises to adopt chatbot technologies to stay competitive in the digital marketplace</a:t>
            </a:r>
            <a:r>
              <a:rPr lang="en-US" sz="2400" dirty="0">
                <a:effectLst/>
                <a:latin typeface="+mj-lt"/>
                <a:ea typeface="Times New Roman" panose="02020603050405020304" pitchFamily="18" charset="0"/>
              </a:rPr>
              <a:t>.</a:t>
            </a:r>
          </a:p>
        </p:txBody>
      </p:sp>
      <p:sp>
        <p:nvSpPr>
          <p:cNvPr id="3" name="TextBox 2">
            <a:extLst>
              <a:ext uri="{FF2B5EF4-FFF2-40B4-BE49-F238E27FC236}">
                <a16:creationId xmlns:a16="http://schemas.microsoft.com/office/drawing/2014/main" id="{5901BED1-53A1-7FAF-0706-4BA4DBEE1351}"/>
              </a:ext>
            </a:extLst>
          </p:cNvPr>
          <p:cNvSpPr txBox="1"/>
          <p:nvPr/>
        </p:nvSpPr>
        <p:spPr>
          <a:xfrm>
            <a:off x="11531600" y="6329680"/>
            <a:ext cx="396240" cy="369332"/>
          </a:xfrm>
          <a:prstGeom prst="rect">
            <a:avLst/>
          </a:prstGeom>
          <a:noFill/>
        </p:spPr>
        <p:txBody>
          <a:bodyPr wrap="square" rtlCol="0">
            <a:spAutoFit/>
          </a:bodyPr>
          <a:lstStyle/>
          <a:p>
            <a:r>
              <a:rPr lang="en-US" dirty="0">
                <a:latin typeface="Helvetica" panose="020B0604020202020204"/>
                <a:cs typeface="Helvetica" panose="020B0604020202020204"/>
              </a:rPr>
              <a:t>7</a:t>
            </a:r>
          </a:p>
        </p:txBody>
      </p:sp>
    </p:spTree>
    <p:extLst>
      <p:ext uri="{BB962C8B-B14F-4D97-AF65-F5344CB8AC3E}">
        <p14:creationId xmlns:p14="http://schemas.microsoft.com/office/powerpoint/2010/main" val="1090416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3820-4022-DD70-239D-43D5EC8257C7}"/>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Literature Review</a:t>
            </a:r>
          </a:p>
        </p:txBody>
      </p:sp>
      <p:sp>
        <p:nvSpPr>
          <p:cNvPr id="5" name="TextBox 4">
            <a:extLst>
              <a:ext uri="{FF2B5EF4-FFF2-40B4-BE49-F238E27FC236}">
                <a16:creationId xmlns:a16="http://schemas.microsoft.com/office/drawing/2014/main" id="{7CDF1BB7-FD69-E782-82D2-5C5D8E2A1CA5}"/>
              </a:ext>
            </a:extLst>
          </p:cNvPr>
          <p:cNvSpPr txBox="1"/>
          <p:nvPr/>
        </p:nvSpPr>
        <p:spPr>
          <a:xfrm>
            <a:off x="513346" y="1514225"/>
            <a:ext cx="11421979" cy="584775"/>
          </a:xfrm>
          <a:prstGeom prst="rect">
            <a:avLst/>
          </a:prstGeom>
          <a:noFill/>
        </p:spPr>
        <p:txBody>
          <a:bodyPr wrap="square">
            <a:spAutoFit/>
          </a:bodyPr>
          <a:lstStyle/>
          <a:p>
            <a:pPr marL="400050" marR="0"/>
            <a:r>
              <a:rPr lang="en-US" sz="3200" dirty="0">
                <a:effectLst/>
                <a:latin typeface="Helvetica" panose="020B0604020202020204" pitchFamily="34" charset="0"/>
                <a:ea typeface="Times New Roman" panose="02020603050405020304" pitchFamily="18" charset="0"/>
                <a:cs typeface="Helvetica" panose="020B0604020202020204" pitchFamily="34" charset="0"/>
              </a:rPr>
              <a:t>Related Theory</a:t>
            </a:r>
          </a:p>
        </p:txBody>
      </p:sp>
      <p:sp>
        <p:nvSpPr>
          <p:cNvPr id="4" name="TextBox 3">
            <a:extLst>
              <a:ext uri="{FF2B5EF4-FFF2-40B4-BE49-F238E27FC236}">
                <a16:creationId xmlns:a16="http://schemas.microsoft.com/office/drawing/2014/main" id="{C2313EA3-21B8-E120-6958-5845FB967DA6}"/>
              </a:ext>
            </a:extLst>
          </p:cNvPr>
          <p:cNvSpPr txBox="1"/>
          <p:nvPr/>
        </p:nvSpPr>
        <p:spPr>
          <a:xfrm>
            <a:off x="513346" y="2413065"/>
            <a:ext cx="10840454" cy="2677656"/>
          </a:xfrm>
          <a:prstGeom prst="rect">
            <a:avLst/>
          </a:prstGeom>
          <a:noFill/>
        </p:spPr>
        <p:txBody>
          <a:bodyPr wrap="square">
            <a:spAutoFit/>
          </a:bodyPr>
          <a:lstStyle/>
          <a:p>
            <a:pPr marL="400050" marR="0"/>
            <a:r>
              <a:rPr lang="en-US" sz="2400" dirty="0">
                <a:effectLst/>
                <a:latin typeface="Helvetica" panose="020B0604020202020204" pitchFamily="34" charset="0"/>
                <a:ea typeface="Times New Roman" panose="02020603050405020304" pitchFamily="18" charset="0"/>
                <a:cs typeface="Helvetica" panose="020B0604020202020204" pitchFamily="34" charset="0"/>
              </a:rPr>
              <a:t>Automated Theory</a:t>
            </a:r>
          </a:p>
          <a:p>
            <a:pPr marL="400050" marR="0"/>
            <a:r>
              <a:rPr lang="en-US" sz="2400" dirty="0">
                <a:effectLst/>
                <a:latin typeface="Helvetica" panose="020B0604020202020204" pitchFamily="34" charset="0"/>
                <a:ea typeface="Times New Roman" panose="02020603050405020304" pitchFamily="18" charset="0"/>
                <a:cs typeface="Helvetica" panose="020B0604020202020204" pitchFamily="34" charset="0"/>
              </a:rPr>
              <a:t>Automation Theory focuses on how tasks traditionally done by humans can be delegated to machines or systems — improving efficiency, consistency, and scalability. In context of this project, automation theory underpins the idea that repetitive, rule-based tasks — such as responding to product inquiries, booking the products, and sending follow-up responses — can and should be automated using tools like n8n.</a:t>
            </a:r>
          </a:p>
        </p:txBody>
      </p:sp>
      <p:sp>
        <p:nvSpPr>
          <p:cNvPr id="3" name="TextBox 2">
            <a:extLst>
              <a:ext uri="{FF2B5EF4-FFF2-40B4-BE49-F238E27FC236}">
                <a16:creationId xmlns:a16="http://schemas.microsoft.com/office/drawing/2014/main" id="{F3F3B525-86FD-6C0A-91D9-AB672DD360F7}"/>
              </a:ext>
            </a:extLst>
          </p:cNvPr>
          <p:cNvSpPr txBox="1"/>
          <p:nvPr/>
        </p:nvSpPr>
        <p:spPr>
          <a:xfrm>
            <a:off x="11653520" y="6360160"/>
            <a:ext cx="406400" cy="369332"/>
          </a:xfrm>
          <a:prstGeom prst="rect">
            <a:avLst/>
          </a:prstGeom>
          <a:noFill/>
        </p:spPr>
        <p:txBody>
          <a:bodyPr wrap="square" rtlCol="0">
            <a:spAutoFit/>
          </a:bodyPr>
          <a:lstStyle/>
          <a:p>
            <a:r>
              <a:rPr lang="en-US" dirty="0">
                <a:latin typeface="Helvetica" panose="020B0604020202020204"/>
                <a:cs typeface="Helvetica" panose="020B0604020202020204"/>
              </a:rPr>
              <a:t>8</a:t>
            </a:r>
          </a:p>
        </p:txBody>
      </p:sp>
    </p:spTree>
    <p:extLst>
      <p:ext uri="{BB962C8B-B14F-4D97-AF65-F5344CB8AC3E}">
        <p14:creationId xmlns:p14="http://schemas.microsoft.com/office/powerpoint/2010/main" val="3627335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3820-4022-DD70-239D-43D5EC8257C7}"/>
              </a:ext>
            </a:extLst>
          </p:cNvPr>
          <p:cNvSpPr>
            <a:spLocks noGrp="1"/>
          </p:cNvSpPr>
          <p:nvPr>
            <p:ph type="title"/>
          </p:nvPr>
        </p:nvSpPr>
        <p:spPr>
          <a:xfrm>
            <a:off x="709863" y="184591"/>
            <a:ext cx="10515600" cy="1325563"/>
          </a:xfrm>
        </p:spPr>
        <p:txBody>
          <a:bodyPr/>
          <a:lstStyle/>
          <a:p>
            <a:r>
              <a:rPr lang="en-US" dirty="0"/>
              <a:t>Literature review</a:t>
            </a:r>
          </a:p>
        </p:txBody>
      </p:sp>
      <p:sp>
        <p:nvSpPr>
          <p:cNvPr id="5" name="TextBox 4">
            <a:extLst>
              <a:ext uri="{FF2B5EF4-FFF2-40B4-BE49-F238E27FC236}">
                <a16:creationId xmlns:a16="http://schemas.microsoft.com/office/drawing/2014/main" id="{7CDF1BB7-FD69-E782-82D2-5C5D8E2A1CA5}"/>
              </a:ext>
            </a:extLst>
          </p:cNvPr>
          <p:cNvSpPr txBox="1"/>
          <p:nvPr/>
        </p:nvSpPr>
        <p:spPr>
          <a:xfrm>
            <a:off x="256673" y="1217766"/>
            <a:ext cx="11421979" cy="584775"/>
          </a:xfrm>
          <a:prstGeom prst="rect">
            <a:avLst/>
          </a:prstGeom>
          <a:noFill/>
        </p:spPr>
        <p:txBody>
          <a:bodyPr wrap="square">
            <a:spAutoFit/>
          </a:bodyPr>
          <a:lstStyle/>
          <a:p>
            <a:pPr marL="400050" marR="0"/>
            <a:r>
              <a:rPr lang="en-US" sz="3200" dirty="0">
                <a:effectLst/>
                <a:latin typeface="Helvetica" panose="020B0604020202020204" pitchFamily="34" charset="0"/>
                <a:ea typeface="Times New Roman" panose="02020603050405020304" pitchFamily="18" charset="0"/>
                <a:cs typeface="Helvetica" panose="020B0604020202020204" pitchFamily="34" charset="0"/>
              </a:rPr>
              <a:t>Related Theory</a:t>
            </a:r>
          </a:p>
        </p:txBody>
      </p:sp>
      <p:sp>
        <p:nvSpPr>
          <p:cNvPr id="4" name="TextBox 3">
            <a:extLst>
              <a:ext uri="{FF2B5EF4-FFF2-40B4-BE49-F238E27FC236}">
                <a16:creationId xmlns:a16="http://schemas.microsoft.com/office/drawing/2014/main" id="{C2313EA3-21B8-E120-6958-5845FB967DA6}"/>
              </a:ext>
            </a:extLst>
          </p:cNvPr>
          <p:cNvSpPr txBox="1"/>
          <p:nvPr/>
        </p:nvSpPr>
        <p:spPr>
          <a:xfrm>
            <a:off x="385010" y="1964353"/>
            <a:ext cx="11678654" cy="4893647"/>
          </a:xfrm>
          <a:prstGeom prst="rect">
            <a:avLst/>
          </a:prstGeom>
          <a:noFill/>
        </p:spPr>
        <p:txBody>
          <a:bodyPr wrap="square">
            <a:spAutoFit/>
          </a:bodyPr>
          <a:lstStyle/>
          <a:p>
            <a:pPr marL="400050" marR="0"/>
            <a:r>
              <a:rPr lang="en-US" sz="2400" dirty="0">
                <a:effectLst/>
                <a:latin typeface="Helvetica" panose="020B0604020202020204" pitchFamily="34" charset="0"/>
                <a:ea typeface="Times New Roman" panose="02020603050405020304" pitchFamily="18" charset="0"/>
                <a:cs typeface="Helvetica" panose="020B0604020202020204" pitchFamily="34" charset="0"/>
              </a:rPr>
              <a:t>Information Processing Theory</a:t>
            </a:r>
          </a:p>
          <a:p>
            <a:pPr marL="400050" marR="0"/>
            <a:r>
              <a:rPr lang="en-US" sz="2400" dirty="0">
                <a:effectLst/>
                <a:latin typeface="Helvetica" panose="020B0604020202020204" pitchFamily="34" charset="0"/>
                <a:ea typeface="Times New Roman" panose="02020603050405020304" pitchFamily="18" charset="0"/>
                <a:cs typeface="Helvetica" panose="020B0604020202020204" pitchFamily="34" charset="0"/>
              </a:rPr>
              <a:t>This theory explains how humans process information — how they perceive, interpret, store, and retrieve it. It is rooted in cognitive psychology and often compares the brain to a computer. In context to this project, the chatbot acts as a smart filter that simplifies user input and presents only the relevant information, making decision-making easier for users.</a:t>
            </a:r>
          </a:p>
          <a:p>
            <a:pPr marL="400050" marR="0"/>
            <a:r>
              <a:rPr lang="en-US" sz="2400" dirty="0">
                <a:effectLst/>
                <a:latin typeface="Helvetica" panose="020B0604020202020204" pitchFamily="34" charset="0"/>
                <a:ea typeface="Times New Roman" panose="02020603050405020304" pitchFamily="18" charset="0"/>
                <a:cs typeface="Helvetica" panose="020B0604020202020204" pitchFamily="34" charset="0"/>
              </a:rPr>
              <a:t>In summary, existing literature underscores the effectiveness of AI chatbots in improving customer engagement and operational efficiency, as well as the growing role of automation tools like n8n in enabling these technologies. This project builds upon these foundations by applying proven tools and methodologies to the specific context of a jewelry e-commerce website, aiming to enhance both user experience and business outcomes.</a:t>
            </a:r>
          </a:p>
          <a:p>
            <a:pPr marL="400050" marR="0"/>
            <a:endParaRPr lang="en-US" sz="2400" dirty="0">
              <a:effectLst/>
              <a:latin typeface="+mj-lt"/>
              <a:ea typeface="Times New Roman" panose="02020603050405020304" pitchFamily="18" charset="0"/>
            </a:endParaRPr>
          </a:p>
        </p:txBody>
      </p:sp>
      <p:sp>
        <p:nvSpPr>
          <p:cNvPr id="3" name="TextBox 2">
            <a:extLst>
              <a:ext uri="{FF2B5EF4-FFF2-40B4-BE49-F238E27FC236}">
                <a16:creationId xmlns:a16="http://schemas.microsoft.com/office/drawing/2014/main" id="{CB6DCE17-6472-F487-4D84-5D004CA20F75}"/>
              </a:ext>
            </a:extLst>
          </p:cNvPr>
          <p:cNvSpPr txBox="1"/>
          <p:nvPr/>
        </p:nvSpPr>
        <p:spPr>
          <a:xfrm>
            <a:off x="11598710" y="6380480"/>
            <a:ext cx="416560" cy="369332"/>
          </a:xfrm>
          <a:prstGeom prst="rect">
            <a:avLst/>
          </a:prstGeom>
          <a:noFill/>
        </p:spPr>
        <p:txBody>
          <a:bodyPr wrap="square" rtlCol="0">
            <a:spAutoFit/>
          </a:bodyPr>
          <a:lstStyle/>
          <a:p>
            <a:r>
              <a:rPr lang="en-US" dirty="0">
                <a:latin typeface="Helvetica" panose="020B0604020202020204"/>
                <a:cs typeface="Helvetica" panose="020B0604020202020204"/>
              </a:rPr>
              <a:t>9</a:t>
            </a:r>
          </a:p>
        </p:txBody>
      </p:sp>
    </p:spTree>
    <p:extLst>
      <p:ext uri="{BB962C8B-B14F-4D97-AF65-F5344CB8AC3E}">
        <p14:creationId xmlns:p14="http://schemas.microsoft.com/office/powerpoint/2010/main" val="4233127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B5AC-E7F5-037C-D62A-3DC10AB5BA18}"/>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6B24A1CA-32A1-D7EE-645B-C8B5CA77BAF4}"/>
              </a:ext>
            </a:extLst>
          </p:cNvPr>
          <p:cNvSpPr>
            <a:spLocks noGrp="1"/>
          </p:cNvSpPr>
          <p:nvPr>
            <p:ph idx="1"/>
          </p:nvPr>
        </p:nvSpPr>
        <p:spPr>
          <a:xfrm>
            <a:off x="613611" y="1690688"/>
            <a:ext cx="10515600" cy="4667250"/>
          </a:xfrm>
        </p:spPr>
        <p:txBody>
          <a:bodyPr>
            <a:normAutofit/>
          </a:bodyPr>
          <a:lstStyle/>
          <a:p>
            <a:r>
              <a:rPr lang="en-US" dirty="0"/>
              <a:t>Phase 1: Setting up Chatbot Interface</a:t>
            </a:r>
            <a:r>
              <a:rPr lang="en-US" sz="2400" dirty="0">
                <a:latin typeface="+mj-lt"/>
              </a:rPr>
              <a:t>. </a:t>
            </a:r>
            <a:r>
              <a:rPr lang="en-US" sz="2400" dirty="0">
                <a:effectLst/>
                <a:latin typeface="+mj-lt"/>
                <a:ea typeface="Palatino Linotype" panose="02040502050505030304" pitchFamily="18" charset="0"/>
                <a:cs typeface="Palatino Linotype" panose="02040502050505030304" pitchFamily="18" charset="0"/>
              </a:rPr>
              <a:t>The first step involves selecting and setting up the chatbot interface that will interact with users on the jewelry website. Depending on available resources and complexity, options include no-code chatbot builders such as </a:t>
            </a:r>
            <a:r>
              <a:rPr lang="en-US" sz="2400" dirty="0" err="1">
                <a:effectLst/>
                <a:latin typeface="+mj-lt"/>
                <a:ea typeface="Palatino Linotype" panose="02040502050505030304" pitchFamily="18" charset="0"/>
                <a:cs typeface="Palatino Linotype" panose="02040502050505030304" pitchFamily="18" charset="0"/>
              </a:rPr>
              <a:t>Landbot</a:t>
            </a:r>
            <a:r>
              <a:rPr lang="en-US" sz="2400" dirty="0">
                <a:effectLst/>
                <a:latin typeface="+mj-lt"/>
                <a:ea typeface="Palatino Linotype" panose="02040502050505030304" pitchFamily="18" charset="0"/>
                <a:cs typeface="Palatino Linotype" panose="02040502050505030304" pitchFamily="18" charset="0"/>
              </a:rPr>
              <a:t> or </a:t>
            </a:r>
            <a:r>
              <a:rPr lang="en-US" sz="2400" dirty="0" err="1">
                <a:effectLst/>
                <a:latin typeface="+mj-lt"/>
                <a:ea typeface="Palatino Linotype" panose="02040502050505030304" pitchFamily="18" charset="0"/>
                <a:cs typeface="Palatino Linotype" panose="02040502050505030304" pitchFamily="18" charset="0"/>
              </a:rPr>
              <a:t>Dialogflow</a:t>
            </a:r>
            <a:r>
              <a:rPr lang="en-US" sz="2400" dirty="0">
                <a:effectLst/>
                <a:latin typeface="+mj-lt"/>
                <a:ea typeface="Palatino Linotype" panose="02040502050505030304" pitchFamily="18" charset="0"/>
                <a:cs typeface="Palatino Linotype" panose="02040502050505030304" pitchFamily="18" charset="0"/>
              </a:rPr>
              <a:t>, or an API-based integration with a large language model (e.g., OpenAI’s GPT). The chatbot will be designed to handle basic customer interactions including product inquiries, appointment scheduling, frequently asked questions, and general guidance. The user interface will be embedded seamlessly within the </a:t>
            </a:r>
            <a:r>
              <a:rPr lang="en-US" sz="2400" dirty="0" err="1">
                <a:effectLst/>
                <a:latin typeface="+mj-lt"/>
                <a:ea typeface="Palatino Linotype" panose="02040502050505030304" pitchFamily="18" charset="0"/>
                <a:cs typeface="Palatino Linotype" panose="02040502050505030304" pitchFamily="18" charset="0"/>
              </a:rPr>
              <a:t>Blanxer</a:t>
            </a:r>
            <a:r>
              <a:rPr lang="en-US" sz="2400" dirty="0">
                <a:effectLst/>
                <a:latin typeface="+mj-lt"/>
                <a:ea typeface="Palatino Linotype" panose="02040502050505030304" pitchFamily="18" charset="0"/>
                <a:cs typeface="Palatino Linotype" panose="02040502050505030304" pitchFamily="18" charset="0"/>
              </a:rPr>
              <a:t>-built website to ensure consistent branding and accessibility</a:t>
            </a:r>
            <a:r>
              <a:rPr lang="en-US" sz="1800" dirty="0">
                <a:effectLst/>
                <a:latin typeface="Palatino Linotype" panose="02040502050505030304" pitchFamily="18" charset="0"/>
                <a:ea typeface="Palatino Linotype" panose="02040502050505030304" pitchFamily="18" charset="0"/>
                <a:cs typeface="Palatino Linotype" panose="02040502050505030304" pitchFamily="18" charset="0"/>
              </a:rPr>
              <a:t>.</a:t>
            </a:r>
            <a:endParaRPr lang="en-US" dirty="0">
              <a:latin typeface="Palatino Linotype" panose="02040502050505030304" pitchFamily="18" charset="0"/>
            </a:endParaRPr>
          </a:p>
        </p:txBody>
      </p:sp>
      <p:sp>
        <p:nvSpPr>
          <p:cNvPr id="4" name="TextBox 3">
            <a:extLst>
              <a:ext uri="{FF2B5EF4-FFF2-40B4-BE49-F238E27FC236}">
                <a16:creationId xmlns:a16="http://schemas.microsoft.com/office/drawing/2014/main" id="{5312EF20-6DCB-7670-1371-816CCE4E420C}"/>
              </a:ext>
            </a:extLst>
          </p:cNvPr>
          <p:cNvSpPr txBox="1"/>
          <p:nvPr/>
        </p:nvSpPr>
        <p:spPr>
          <a:xfrm>
            <a:off x="11578389" y="6357938"/>
            <a:ext cx="447040" cy="369332"/>
          </a:xfrm>
          <a:prstGeom prst="rect">
            <a:avLst/>
          </a:prstGeom>
          <a:noFill/>
        </p:spPr>
        <p:txBody>
          <a:bodyPr wrap="square" rtlCol="0">
            <a:spAutoFit/>
          </a:bodyPr>
          <a:lstStyle/>
          <a:p>
            <a:r>
              <a:rPr lang="en-US" dirty="0">
                <a:latin typeface="Helvetica" panose="020B0604020202020204"/>
                <a:cs typeface="Helvetica" panose="020B0604020202020204"/>
              </a:rPr>
              <a:t>10</a:t>
            </a:r>
          </a:p>
        </p:txBody>
      </p:sp>
    </p:spTree>
    <p:extLst>
      <p:ext uri="{BB962C8B-B14F-4D97-AF65-F5344CB8AC3E}">
        <p14:creationId xmlns:p14="http://schemas.microsoft.com/office/powerpoint/2010/main" val="3394339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B5AC-E7F5-037C-D62A-3DC10AB5BA18}"/>
              </a:ext>
            </a:extLst>
          </p:cNvPr>
          <p:cNvSpPr>
            <a:spLocks noGrp="1"/>
          </p:cNvSpPr>
          <p:nvPr>
            <p:ph type="title"/>
          </p:nvPr>
        </p:nvSpPr>
        <p:spPr/>
        <p:txBody>
          <a:bodyPr/>
          <a:lstStyle/>
          <a:p>
            <a:r>
              <a:rPr lang="en-US" dirty="0"/>
              <a:t>Methodology</a:t>
            </a:r>
          </a:p>
        </p:txBody>
      </p:sp>
      <p:pic>
        <p:nvPicPr>
          <p:cNvPr id="5" name="Picture 4">
            <a:extLst>
              <a:ext uri="{FF2B5EF4-FFF2-40B4-BE49-F238E27FC236}">
                <a16:creationId xmlns:a16="http://schemas.microsoft.com/office/drawing/2014/main" id="{1BD1F329-331D-EC1C-D260-E4CCB6E9C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7931" y="1391486"/>
            <a:ext cx="7579895" cy="5053263"/>
          </a:xfrm>
          <a:prstGeom prst="rect">
            <a:avLst/>
          </a:prstGeom>
        </p:spPr>
      </p:pic>
      <p:sp>
        <p:nvSpPr>
          <p:cNvPr id="3" name="TextBox 2">
            <a:extLst>
              <a:ext uri="{FF2B5EF4-FFF2-40B4-BE49-F238E27FC236}">
                <a16:creationId xmlns:a16="http://schemas.microsoft.com/office/drawing/2014/main" id="{5B058138-BA07-8372-B6F5-9D0B173609C0}"/>
              </a:ext>
            </a:extLst>
          </p:cNvPr>
          <p:cNvSpPr txBox="1"/>
          <p:nvPr/>
        </p:nvSpPr>
        <p:spPr>
          <a:xfrm>
            <a:off x="11541760" y="6407418"/>
            <a:ext cx="436880" cy="369332"/>
          </a:xfrm>
          <a:prstGeom prst="rect">
            <a:avLst/>
          </a:prstGeom>
          <a:noFill/>
        </p:spPr>
        <p:txBody>
          <a:bodyPr wrap="square" rtlCol="0">
            <a:spAutoFit/>
          </a:bodyPr>
          <a:lstStyle/>
          <a:p>
            <a:r>
              <a:rPr lang="en-US" dirty="0">
                <a:latin typeface="Helvetica" panose="020B0604020202020204"/>
                <a:cs typeface="Helvetica" panose="020B0604020202020204"/>
              </a:rPr>
              <a:t>11</a:t>
            </a:r>
          </a:p>
        </p:txBody>
      </p:sp>
    </p:spTree>
    <p:extLst>
      <p:ext uri="{BB962C8B-B14F-4D97-AF65-F5344CB8AC3E}">
        <p14:creationId xmlns:p14="http://schemas.microsoft.com/office/powerpoint/2010/main" val="2775510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B5AC-E7F5-037C-D62A-3DC10AB5BA18}"/>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Methodology</a:t>
            </a:r>
          </a:p>
        </p:txBody>
      </p:sp>
      <p:sp>
        <p:nvSpPr>
          <p:cNvPr id="3" name="Content Placeholder 2">
            <a:extLst>
              <a:ext uri="{FF2B5EF4-FFF2-40B4-BE49-F238E27FC236}">
                <a16:creationId xmlns:a16="http://schemas.microsoft.com/office/drawing/2014/main" id="{6B24A1CA-32A1-D7EE-645B-C8B5CA77BAF4}"/>
              </a:ext>
            </a:extLst>
          </p:cNvPr>
          <p:cNvSpPr>
            <a:spLocks noGrp="1"/>
          </p:cNvSpPr>
          <p:nvPr>
            <p:ph idx="1"/>
          </p:nvPr>
        </p:nvSpPr>
        <p:spPr>
          <a:xfrm>
            <a:off x="613611" y="1690688"/>
            <a:ext cx="10515600" cy="4667250"/>
          </a:xfrm>
        </p:spPr>
        <p:txBody>
          <a:bodyPr>
            <a:normAutofit/>
          </a:bodyPr>
          <a:lstStyle/>
          <a:p>
            <a:r>
              <a:rPr lang="en-US" dirty="0">
                <a:latin typeface="Helvetica" panose="020B0604020202020204" pitchFamily="34" charset="0"/>
                <a:cs typeface="Helvetica" panose="020B0604020202020204" pitchFamily="34" charset="0"/>
              </a:rPr>
              <a:t>Phase 2: Workflow Automation Using n8n</a:t>
            </a:r>
            <a:r>
              <a:rPr lang="en-US" sz="2400" dirty="0">
                <a:latin typeface="Helvetica" panose="020B0604020202020204" pitchFamily="34" charset="0"/>
                <a:cs typeface="Helvetica" panose="020B0604020202020204" pitchFamily="34" charset="0"/>
              </a:rPr>
              <a:t>. </a:t>
            </a:r>
            <a:r>
              <a:rPr lang="en-US" sz="2400" dirty="0">
                <a:effectLst/>
                <a:latin typeface="Helvetica" panose="020B0604020202020204" pitchFamily="34" charset="0"/>
                <a:ea typeface="Palatino Linotype" panose="02040502050505030304" pitchFamily="18" charset="0"/>
                <a:cs typeface="Helvetica" panose="020B0604020202020204" pitchFamily="34" charset="0"/>
              </a:rPr>
              <a:t>In this phase, the n8n workflow automation platform will be utilized to create backend workflows triggered by chatbot inputs. These workflows will automate tasks such as: sending confirmation emails for appointments, logging customer queries in spreadsheets or databases, updating internal records, and potentially notifying human agents when required. n8n’s flexible, node-based system will allow for easy configuration and integration of APIs and services, facilitating smooth data exchange between the chatbot and backend systems.</a:t>
            </a:r>
            <a:endParaRPr lang="en-US" sz="2400" dirty="0">
              <a:latin typeface="Helvetica" panose="020B060402020202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5EAA0C5F-A82F-A207-FC9D-666BC9265AEA}"/>
              </a:ext>
            </a:extLst>
          </p:cNvPr>
          <p:cNvSpPr txBox="1"/>
          <p:nvPr/>
        </p:nvSpPr>
        <p:spPr>
          <a:xfrm>
            <a:off x="11578389" y="6357938"/>
            <a:ext cx="525091" cy="369332"/>
          </a:xfrm>
          <a:prstGeom prst="rect">
            <a:avLst/>
          </a:prstGeom>
          <a:noFill/>
        </p:spPr>
        <p:txBody>
          <a:bodyPr wrap="square" rtlCol="0">
            <a:spAutoFit/>
          </a:bodyPr>
          <a:lstStyle/>
          <a:p>
            <a:r>
              <a:rPr lang="en-US" dirty="0">
                <a:latin typeface="Helvetica" panose="020B0604020202020204"/>
                <a:cs typeface="Helvetica" panose="020B0604020202020204"/>
              </a:rPr>
              <a:t>12</a:t>
            </a:r>
          </a:p>
        </p:txBody>
      </p:sp>
    </p:spTree>
    <p:extLst>
      <p:ext uri="{BB962C8B-B14F-4D97-AF65-F5344CB8AC3E}">
        <p14:creationId xmlns:p14="http://schemas.microsoft.com/office/powerpoint/2010/main" val="2442795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B5AC-E7F5-037C-D62A-3DC10AB5BA18}"/>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Methodology</a:t>
            </a:r>
          </a:p>
        </p:txBody>
      </p:sp>
      <p:sp>
        <p:nvSpPr>
          <p:cNvPr id="3" name="Content Placeholder 2">
            <a:extLst>
              <a:ext uri="{FF2B5EF4-FFF2-40B4-BE49-F238E27FC236}">
                <a16:creationId xmlns:a16="http://schemas.microsoft.com/office/drawing/2014/main" id="{6B24A1CA-32A1-D7EE-645B-C8B5CA77BAF4}"/>
              </a:ext>
            </a:extLst>
          </p:cNvPr>
          <p:cNvSpPr>
            <a:spLocks noGrp="1"/>
          </p:cNvSpPr>
          <p:nvPr>
            <p:ph idx="1"/>
          </p:nvPr>
        </p:nvSpPr>
        <p:spPr>
          <a:xfrm>
            <a:off x="613611" y="1690688"/>
            <a:ext cx="10515600" cy="4667250"/>
          </a:xfrm>
        </p:spPr>
        <p:txBody>
          <a:bodyPr>
            <a:normAutofit/>
          </a:bodyPr>
          <a:lstStyle/>
          <a:p>
            <a:r>
              <a:rPr lang="en-US" dirty="0">
                <a:latin typeface="Helvetica" panose="020B0604020202020204" pitchFamily="34" charset="0"/>
                <a:cs typeface="Helvetica" panose="020B0604020202020204" pitchFamily="34" charset="0"/>
              </a:rPr>
              <a:t>Phase 3: Testing , Feedback Collection and Iteration</a:t>
            </a:r>
            <a:r>
              <a:rPr lang="en-US" sz="2400" dirty="0">
                <a:latin typeface="Helvetica" panose="020B0604020202020204" pitchFamily="34" charset="0"/>
                <a:cs typeface="Helvetica" panose="020B0604020202020204" pitchFamily="34" charset="0"/>
              </a:rPr>
              <a:t>. </a:t>
            </a:r>
            <a:r>
              <a:rPr lang="en-US" sz="2400" dirty="0">
                <a:effectLst/>
                <a:latin typeface="Helvetica" panose="020B0604020202020204" pitchFamily="34" charset="0"/>
                <a:ea typeface="Palatino Linotype" panose="02040502050505030304" pitchFamily="18" charset="0"/>
                <a:cs typeface="Helvetica" panose="020B0604020202020204" pitchFamily="34" charset="0"/>
              </a:rPr>
              <a:t>After integration, comprehensive testing will be conducted to ensure the chatbot and workflows function as intended across various scenarios. User feedback will be gathered to identify issues related to chatbot understanding, response accuracy, and workflow reliability. Based on this feedback, iterative improvements will be made to enhance performance, usability, and customer satisfaction.</a:t>
            </a:r>
            <a:endParaRPr lang="en-US" sz="2400"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44522BBA-93C6-9067-A620-17C9152E8476}"/>
              </a:ext>
            </a:extLst>
          </p:cNvPr>
          <p:cNvSpPr txBox="1"/>
          <p:nvPr/>
        </p:nvSpPr>
        <p:spPr>
          <a:xfrm>
            <a:off x="11460480" y="6357938"/>
            <a:ext cx="441146" cy="369332"/>
          </a:xfrm>
          <a:prstGeom prst="rect">
            <a:avLst/>
          </a:prstGeom>
          <a:noFill/>
        </p:spPr>
        <p:txBody>
          <a:bodyPr wrap="none" rtlCol="0">
            <a:spAutoFit/>
          </a:bodyPr>
          <a:lstStyle/>
          <a:p>
            <a:r>
              <a:rPr lang="en-US" dirty="0">
                <a:latin typeface="Helvetica" panose="020B0604020202020204"/>
                <a:cs typeface="Helvetica" panose="020B0604020202020204"/>
              </a:rPr>
              <a:t>13</a:t>
            </a:r>
          </a:p>
        </p:txBody>
      </p:sp>
    </p:spTree>
    <p:extLst>
      <p:ext uri="{BB962C8B-B14F-4D97-AF65-F5344CB8AC3E}">
        <p14:creationId xmlns:p14="http://schemas.microsoft.com/office/powerpoint/2010/main" val="3018771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2C6E-2339-F18F-7ECE-F295B978DF90}"/>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Expected Outcomes</a:t>
            </a:r>
          </a:p>
        </p:txBody>
      </p:sp>
      <p:sp>
        <p:nvSpPr>
          <p:cNvPr id="3" name="Content Placeholder 2">
            <a:extLst>
              <a:ext uri="{FF2B5EF4-FFF2-40B4-BE49-F238E27FC236}">
                <a16:creationId xmlns:a16="http://schemas.microsoft.com/office/drawing/2014/main" id="{2363E7C2-12AA-F718-5111-0C7C9A2CB558}"/>
              </a:ext>
            </a:extLst>
          </p:cNvPr>
          <p:cNvSpPr>
            <a:spLocks noGrp="1"/>
          </p:cNvSpPr>
          <p:nvPr>
            <p:ph idx="1"/>
          </p:nvPr>
        </p:nvSpPr>
        <p:spPr>
          <a:xfrm>
            <a:off x="677778" y="1562350"/>
            <a:ext cx="10515600" cy="4802187"/>
          </a:xfrm>
        </p:spPr>
        <p:txBody>
          <a:bodyPr>
            <a:normAutofit lnSpcReduction="10000"/>
          </a:bodyPr>
          <a:lstStyle/>
          <a:p>
            <a:r>
              <a:rPr lang="en-US" dirty="0">
                <a:latin typeface="Helvetica" panose="020B0604020202020204" pitchFamily="34" charset="0"/>
                <a:cs typeface="Helvetica" panose="020B0604020202020204" pitchFamily="34" charset="0"/>
              </a:rPr>
              <a:t>The successful implementation of this project is anticipated to yield seamless chatbot integration providing a 24/7 assistance. This instant support is expected to enhance user experience by reducing wait times and offering personalized guidance.</a:t>
            </a:r>
          </a:p>
          <a:p>
            <a:r>
              <a:rPr lang="en-US" dirty="0">
                <a:latin typeface="Helvetica" panose="020B0604020202020204" pitchFamily="34" charset="0"/>
                <a:cs typeface="Helvetica" panose="020B0604020202020204" pitchFamily="34" charset="0"/>
              </a:rPr>
              <a:t>Additionally, the use of n8n workflow automation will streamline backend processes such as sending automated email confirmations, logging customer interactions, and maintaining updated records.</a:t>
            </a:r>
          </a:p>
          <a:p>
            <a:r>
              <a:rPr lang="en-US" dirty="0">
                <a:latin typeface="Helvetica" panose="020B0604020202020204" pitchFamily="34" charset="0"/>
                <a:cs typeface="Helvetica" panose="020B0604020202020204" pitchFamily="34" charset="0"/>
              </a:rPr>
              <a:t>Increased customer satisfaction resulting in flourishment of higher engagement and sales. Laying out a foundation for future AI upgrades which is to include more advanced features such as personalized product recommendations, order tracking, and live agent handoff.</a:t>
            </a:r>
          </a:p>
          <a:p>
            <a:endParaRPr lang="en-US" dirty="0"/>
          </a:p>
          <a:p>
            <a:endParaRPr lang="en-US" dirty="0"/>
          </a:p>
          <a:p>
            <a:pPr marL="0" indent="0">
              <a:buNone/>
            </a:pPr>
            <a:endParaRPr lang="en-US" dirty="0"/>
          </a:p>
        </p:txBody>
      </p:sp>
      <p:sp>
        <p:nvSpPr>
          <p:cNvPr id="4" name="TextBox 3">
            <a:extLst>
              <a:ext uri="{FF2B5EF4-FFF2-40B4-BE49-F238E27FC236}">
                <a16:creationId xmlns:a16="http://schemas.microsoft.com/office/drawing/2014/main" id="{30D696E3-338E-5356-79E9-15E84E286AF4}"/>
              </a:ext>
            </a:extLst>
          </p:cNvPr>
          <p:cNvSpPr txBox="1"/>
          <p:nvPr/>
        </p:nvSpPr>
        <p:spPr>
          <a:xfrm>
            <a:off x="11514222" y="6364537"/>
            <a:ext cx="441146" cy="369332"/>
          </a:xfrm>
          <a:prstGeom prst="rect">
            <a:avLst/>
          </a:prstGeom>
          <a:noFill/>
        </p:spPr>
        <p:txBody>
          <a:bodyPr wrap="none" rtlCol="0">
            <a:spAutoFit/>
          </a:bodyPr>
          <a:lstStyle/>
          <a:p>
            <a:r>
              <a:rPr lang="en-US" dirty="0">
                <a:latin typeface="Helvetica" panose="020B0604020202020204"/>
                <a:cs typeface="Helvetica" panose="020B0604020202020204"/>
              </a:rPr>
              <a:t>14</a:t>
            </a:r>
          </a:p>
        </p:txBody>
      </p:sp>
    </p:spTree>
    <p:extLst>
      <p:ext uri="{BB962C8B-B14F-4D97-AF65-F5344CB8AC3E}">
        <p14:creationId xmlns:p14="http://schemas.microsoft.com/office/powerpoint/2010/main" val="669421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13C84-1084-49F9-54D7-2FCCB8EC18BE}"/>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References</a:t>
            </a:r>
          </a:p>
        </p:txBody>
      </p:sp>
      <p:sp>
        <p:nvSpPr>
          <p:cNvPr id="3" name="Content Placeholder 2">
            <a:extLst>
              <a:ext uri="{FF2B5EF4-FFF2-40B4-BE49-F238E27FC236}">
                <a16:creationId xmlns:a16="http://schemas.microsoft.com/office/drawing/2014/main" id="{8988A6E0-3C98-E18E-D452-E89C60AF9977}"/>
              </a:ext>
            </a:extLst>
          </p:cNvPr>
          <p:cNvSpPr>
            <a:spLocks noGrp="1"/>
          </p:cNvSpPr>
          <p:nvPr>
            <p:ph idx="1"/>
          </p:nvPr>
        </p:nvSpPr>
        <p:spPr/>
        <p:txBody>
          <a:bodyPr/>
          <a:lstStyle/>
          <a:p>
            <a:pPr marL="0" indent="0">
              <a:buNone/>
            </a:pPr>
            <a:r>
              <a:rPr lang="en-US" dirty="0">
                <a:latin typeface="Helvetica" panose="020B0604020202020204" pitchFamily="34" charset="0"/>
                <a:cs typeface="Helvetica" panose="020B0604020202020204" pitchFamily="34" charset="0"/>
              </a:rPr>
              <a:t>[1]Gartner (2024). "Conversational AI in E-Commerce."</a:t>
            </a:r>
          </a:p>
          <a:p>
            <a:pPr marL="0" indent="0">
              <a:buNone/>
            </a:pPr>
            <a:r>
              <a:rPr lang="en-US" dirty="0">
                <a:latin typeface="Helvetica" panose="020B0604020202020204" pitchFamily="34" charset="0"/>
                <a:cs typeface="Helvetica" panose="020B0604020202020204" pitchFamily="34" charset="0"/>
              </a:rPr>
              <a:t>[2]Salesforce Research (2023). "Customer Service Trends."</a:t>
            </a:r>
          </a:p>
          <a:p>
            <a:pPr marL="0" indent="0">
              <a:buNone/>
            </a:pPr>
            <a:r>
              <a:rPr lang="en-US" dirty="0">
                <a:latin typeface="Helvetica" panose="020B0604020202020204" pitchFamily="34" charset="0"/>
                <a:cs typeface="Helvetica" panose="020B0604020202020204" pitchFamily="34" charset="0"/>
              </a:rPr>
              <a:t>[3]n8n Documentation. https://docs.n8n.io</a:t>
            </a:r>
          </a:p>
          <a:p>
            <a:pPr marL="0" indent="0">
              <a:buNone/>
            </a:pPr>
            <a:r>
              <a:rPr lang="en-US" dirty="0">
                <a:latin typeface="Helvetica" panose="020B0604020202020204" pitchFamily="34" charset="0"/>
                <a:cs typeface="Helvetica" panose="020B0604020202020204" pitchFamily="34" charset="0"/>
              </a:rPr>
              <a:t>[4]</a:t>
            </a:r>
            <a:r>
              <a:rPr lang="en-US" dirty="0" err="1">
                <a:latin typeface="Helvetica" panose="020B0604020202020204" pitchFamily="34" charset="0"/>
                <a:cs typeface="Helvetica" panose="020B0604020202020204" pitchFamily="34" charset="0"/>
              </a:rPr>
              <a:t>Blanxer</a:t>
            </a:r>
            <a:r>
              <a:rPr lang="en-US" dirty="0">
                <a:latin typeface="Helvetica" panose="020B0604020202020204" pitchFamily="34" charset="0"/>
                <a:cs typeface="Helvetica" panose="020B0604020202020204" pitchFamily="34" charset="0"/>
              </a:rPr>
              <a:t> Platform Docs. </a:t>
            </a:r>
            <a:r>
              <a:rPr lang="en-US" dirty="0">
                <a:latin typeface="Helvetica" panose="020B0604020202020204" pitchFamily="34" charset="0"/>
                <a:cs typeface="Helvetica" panose="020B0604020202020204" pitchFamily="34" charset="0"/>
                <a:hlinkClick r:id="rId2"/>
              </a:rPr>
              <a:t>https://blanxer.com/docs</a:t>
            </a:r>
            <a:endParaRPr lang="en-US" dirty="0">
              <a:latin typeface="Helvetica" panose="020B0604020202020204" pitchFamily="34" charset="0"/>
              <a:cs typeface="Helvetica" panose="020B0604020202020204" pitchFamily="34" charset="0"/>
            </a:endParaRPr>
          </a:p>
          <a:p>
            <a:pPr marL="0" indent="0">
              <a:buNone/>
            </a:pPr>
            <a:r>
              <a:rPr lang="en-US" dirty="0">
                <a:latin typeface="Helvetica" panose="020B0604020202020204" pitchFamily="34" charset="0"/>
                <a:cs typeface="Helvetica" panose="020B0604020202020204" pitchFamily="34" charset="0"/>
              </a:rPr>
              <a:t>[5] OpenAI API </a:t>
            </a:r>
            <a:r>
              <a:rPr lang="en-US" dirty="0" err="1">
                <a:latin typeface="Helvetica" panose="020B0604020202020204" pitchFamily="34" charset="0"/>
                <a:cs typeface="Helvetica" panose="020B0604020202020204" pitchFamily="34" charset="0"/>
              </a:rPr>
              <a:t>IntegrationGuide.</a:t>
            </a:r>
            <a:r>
              <a:rPr lang="en-US" dirty="0" err="1">
                <a:latin typeface="Helvetica" panose="020B0604020202020204" pitchFamily="34" charset="0"/>
                <a:cs typeface="Helvetica" panose="020B0604020202020204" pitchFamily="34" charset="0"/>
                <a:hlinkClick r:id="rId3"/>
              </a:rPr>
              <a:t>https</a:t>
            </a:r>
            <a:r>
              <a:rPr lang="en-US" dirty="0">
                <a:latin typeface="Helvetica" panose="020B0604020202020204" pitchFamily="34" charset="0"/>
                <a:cs typeface="Helvetica" panose="020B0604020202020204" pitchFamily="34" charset="0"/>
                <a:hlinkClick r:id="rId3"/>
              </a:rPr>
              <a:t>://platform.openai.com/docs</a:t>
            </a:r>
            <a:endParaRPr lang="en-US" dirty="0">
              <a:latin typeface="Helvetica" panose="020B0604020202020204" pitchFamily="34" charset="0"/>
              <a:cs typeface="Helvetica" panose="020B0604020202020204" pitchFamily="34" charset="0"/>
            </a:endParaRPr>
          </a:p>
          <a:p>
            <a:endParaRPr lang="en-US" dirty="0"/>
          </a:p>
        </p:txBody>
      </p:sp>
      <p:sp>
        <p:nvSpPr>
          <p:cNvPr id="4" name="TextBox 3">
            <a:extLst>
              <a:ext uri="{FF2B5EF4-FFF2-40B4-BE49-F238E27FC236}">
                <a16:creationId xmlns:a16="http://schemas.microsoft.com/office/drawing/2014/main" id="{C59A171D-B6C2-6475-F17D-2F5065807AA5}"/>
              </a:ext>
            </a:extLst>
          </p:cNvPr>
          <p:cNvSpPr txBox="1"/>
          <p:nvPr/>
        </p:nvSpPr>
        <p:spPr>
          <a:xfrm>
            <a:off x="11575469" y="6372860"/>
            <a:ext cx="441146" cy="369332"/>
          </a:xfrm>
          <a:prstGeom prst="rect">
            <a:avLst/>
          </a:prstGeom>
          <a:noFill/>
        </p:spPr>
        <p:txBody>
          <a:bodyPr wrap="none" rtlCol="0">
            <a:spAutoFit/>
          </a:bodyPr>
          <a:lstStyle/>
          <a:p>
            <a:r>
              <a:rPr lang="en-US" dirty="0">
                <a:latin typeface="Helvetica" panose="020B0604020202020204"/>
                <a:cs typeface="Helvetica" panose="020B0604020202020204"/>
              </a:rPr>
              <a:t>15</a:t>
            </a:r>
          </a:p>
        </p:txBody>
      </p:sp>
    </p:spTree>
    <p:extLst>
      <p:ext uri="{BB962C8B-B14F-4D97-AF65-F5344CB8AC3E}">
        <p14:creationId xmlns:p14="http://schemas.microsoft.com/office/powerpoint/2010/main" val="2377124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TotalTime>
  <Words>1492</Words>
  <Application>Microsoft Office PowerPoint</Application>
  <PresentationFormat>Widescreen</PresentationFormat>
  <Paragraphs>90</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vt:lpstr>
      <vt:lpstr>Palatino Linotype</vt:lpstr>
      <vt:lpstr>Office Theme</vt:lpstr>
      <vt:lpstr>PowerPoint Presentation</vt:lpstr>
      <vt:lpstr>CONTENTS</vt:lpstr>
      <vt:lpstr> Visual Suggestion: Include a background image of elegant jewelry or a sleek website interface. </vt:lpstr>
      <vt:lpstr>Problem Statement</vt:lpstr>
      <vt:lpstr>OBJECTIVES</vt:lpstr>
      <vt:lpstr>Scope of Research</vt:lpstr>
      <vt:lpstr>Literature Review</vt:lpstr>
      <vt:lpstr>Literature review</vt:lpstr>
      <vt:lpstr>Literature Review</vt:lpstr>
      <vt:lpstr>Literature review</vt:lpstr>
      <vt:lpstr>Methodology</vt:lpstr>
      <vt:lpstr>Methodology</vt:lpstr>
      <vt:lpstr>Methodology</vt:lpstr>
      <vt:lpstr>Methodology</vt:lpstr>
      <vt:lpstr>Expected Outcomes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Visual Suggestion: Include a background image of elegant jewelry or a sleek website interface. </dc:title>
  <dc:creator>Administrator</dc:creator>
  <cp:lastModifiedBy>oshan bajracharya</cp:lastModifiedBy>
  <cp:revision>34</cp:revision>
  <dcterms:created xsi:type="dcterms:W3CDTF">2025-06-28T08:57:46Z</dcterms:created>
  <dcterms:modified xsi:type="dcterms:W3CDTF">2025-07-07T03:38:05Z</dcterms:modified>
</cp:coreProperties>
</file>