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0" d="100"/>
          <a:sy n="60" d="100"/>
        </p:scale>
        <p:origin x="1140"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651BB-CD77-C674-607E-2FCC087A0C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701579-D8DA-7C69-9532-F4B97D907E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C1EA7B-A86F-463C-2E36-C08F1FCF8F79}"/>
              </a:ext>
            </a:extLst>
          </p:cNvPr>
          <p:cNvSpPr>
            <a:spLocks noGrp="1"/>
          </p:cNvSpPr>
          <p:nvPr>
            <p:ph type="dt" sz="half" idx="10"/>
          </p:nvPr>
        </p:nvSpPr>
        <p:spPr/>
        <p:txBody>
          <a:bodyPr/>
          <a:lstStyle/>
          <a:p>
            <a:fld id="{E13E70E4-4696-429B-BFF2-2BC111150EC6}" type="datetimeFigureOut">
              <a:rPr lang="en-US" smtClean="0"/>
              <a:t>6/28/2025</a:t>
            </a:fld>
            <a:endParaRPr lang="en-US"/>
          </a:p>
        </p:txBody>
      </p:sp>
      <p:sp>
        <p:nvSpPr>
          <p:cNvPr id="5" name="Footer Placeholder 4">
            <a:extLst>
              <a:ext uri="{FF2B5EF4-FFF2-40B4-BE49-F238E27FC236}">
                <a16:creationId xmlns:a16="http://schemas.microsoft.com/office/drawing/2014/main" id="{7B7A1966-C4B0-1042-59BB-04060186BA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FB64F2-E3B3-7DB2-B890-39A3031A9EB9}"/>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934021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F42CD-5E01-BD13-1B05-1C223BF7FF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6C7054-F406-0F07-3A38-B31D987F46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D4DB8E-6489-4A7A-562D-95D8E924A0C3}"/>
              </a:ext>
            </a:extLst>
          </p:cNvPr>
          <p:cNvSpPr>
            <a:spLocks noGrp="1"/>
          </p:cNvSpPr>
          <p:nvPr>
            <p:ph type="dt" sz="half" idx="10"/>
          </p:nvPr>
        </p:nvSpPr>
        <p:spPr/>
        <p:txBody>
          <a:bodyPr/>
          <a:lstStyle/>
          <a:p>
            <a:fld id="{E13E70E4-4696-429B-BFF2-2BC111150EC6}" type="datetimeFigureOut">
              <a:rPr lang="en-US" smtClean="0"/>
              <a:t>6/28/2025</a:t>
            </a:fld>
            <a:endParaRPr lang="en-US"/>
          </a:p>
        </p:txBody>
      </p:sp>
      <p:sp>
        <p:nvSpPr>
          <p:cNvPr id="5" name="Footer Placeholder 4">
            <a:extLst>
              <a:ext uri="{FF2B5EF4-FFF2-40B4-BE49-F238E27FC236}">
                <a16:creationId xmlns:a16="http://schemas.microsoft.com/office/drawing/2014/main" id="{FCD05608-4250-8E86-2559-942713E1A6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593EBB-0C56-E6FF-BF77-56DE008AA017}"/>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748206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B7C3E-51C4-32B5-1920-66C8D3A2F0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C008E8-D1E1-C358-B62B-AB7BCC498F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1B9131-85A5-B1C1-4490-F2DB75953BCB}"/>
              </a:ext>
            </a:extLst>
          </p:cNvPr>
          <p:cNvSpPr>
            <a:spLocks noGrp="1"/>
          </p:cNvSpPr>
          <p:nvPr>
            <p:ph type="dt" sz="half" idx="10"/>
          </p:nvPr>
        </p:nvSpPr>
        <p:spPr/>
        <p:txBody>
          <a:bodyPr/>
          <a:lstStyle/>
          <a:p>
            <a:fld id="{E13E70E4-4696-429B-BFF2-2BC111150EC6}" type="datetimeFigureOut">
              <a:rPr lang="en-US" smtClean="0"/>
              <a:t>6/28/2025</a:t>
            </a:fld>
            <a:endParaRPr lang="en-US"/>
          </a:p>
        </p:txBody>
      </p:sp>
      <p:sp>
        <p:nvSpPr>
          <p:cNvPr id="5" name="Footer Placeholder 4">
            <a:extLst>
              <a:ext uri="{FF2B5EF4-FFF2-40B4-BE49-F238E27FC236}">
                <a16:creationId xmlns:a16="http://schemas.microsoft.com/office/drawing/2014/main" id="{D977966D-50CA-44A1-C01F-78083C91A1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FCFB5B-D2B8-EA5F-B19A-9F7EBACF5BEB}"/>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4093754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D0EF3-F21E-A660-CACD-E69ABCAE54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AED620-96DA-A403-D270-57D12503DD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254ECD0-DD7F-0159-686D-6E0DC6498E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3C8085-6974-5A7E-8ACC-107B6095C326}"/>
              </a:ext>
            </a:extLst>
          </p:cNvPr>
          <p:cNvSpPr>
            <a:spLocks noGrp="1"/>
          </p:cNvSpPr>
          <p:nvPr>
            <p:ph type="dt" sz="half" idx="10"/>
          </p:nvPr>
        </p:nvSpPr>
        <p:spPr/>
        <p:txBody>
          <a:bodyPr/>
          <a:lstStyle/>
          <a:p>
            <a:fld id="{E13E70E4-4696-429B-BFF2-2BC111150EC6}" type="datetimeFigureOut">
              <a:rPr lang="en-US" smtClean="0"/>
              <a:t>6/28/2025</a:t>
            </a:fld>
            <a:endParaRPr lang="en-US"/>
          </a:p>
        </p:txBody>
      </p:sp>
      <p:sp>
        <p:nvSpPr>
          <p:cNvPr id="6" name="Footer Placeholder 5">
            <a:extLst>
              <a:ext uri="{FF2B5EF4-FFF2-40B4-BE49-F238E27FC236}">
                <a16:creationId xmlns:a16="http://schemas.microsoft.com/office/drawing/2014/main" id="{B147A506-E265-9EDF-573E-957E0E289E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66D660-AD0B-D69F-186D-53E97086E9AD}"/>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1676118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3110D-1F5B-A431-BA33-D71E12C152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466D1A-A423-E7B7-3117-EB9B534F94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AF6996-FBCA-04A6-92D2-3E0E1DFBDC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A3F87C-A230-A7F4-0880-D5B50E4357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A73E91-D4E7-C0CA-B94D-812105400B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3CF191-DE99-4139-5B84-E0D19F621B06}"/>
              </a:ext>
            </a:extLst>
          </p:cNvPr>
          <p:cNvSpPr>
            <a:spLocks noGrp="1"/>
          </p:cNvSpPr>
          <p:nvPr>
            <p:ph type="dt" sz="half" idx="10"/>
          </p:nvPr>
        </p:nvSpPr>
        <p:spPr/>
        <p:txBody>
          <a:bodyPr/>
          <a:lstStyle/>
          <a:p>
            <a:fld id="{E13E70E4-4696-429B-BFF2-2BC111150EC6}" type="datetimeFigureOut">
              <a:rPr lang="en-US" smtClean="0"/>
              <a:t>6/28/2025</a:t>
            </a:fld>
            <a:endParaRPr lang="en-US"/>
          </a:p>
        </p:txBody>
      </p:sp>
      <p:sp>
        <p:nvSpPr>
          <p:cNvPr id="8" name="Footer Placeholder 7">
            <a:extLst>
              <a:ext uri="{FF2B5EF4-FFF2-40B4-BE49-F238E27FC236}">
                <a16:creationId xmlns:a16="http://schemas.microsoft.com/office/drawing/2014/main" id="{561F7411-40AB-BD71-91B6-E8996B7580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DCCF69-6D3B-2E91-66FC-21999A267EF0}"/>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1674403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514A2-B731-46C3-F9D0-50394032B5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7D5E13-E551-83A8-F438-D1ECB82CB999}"/>
              </a:ext>
            </a:extLst>
          </p:cNvPr>
          <p:cNvSpPr>
            <a:spLocks noGrp="1"/>
          </p:cNvSpPr>
          <p:nvPr>
            <p:ph type="dt" sz="half" idx="10"/>
          </p:nvPr>
        </p:nvSpPr>
        <p:spPr/>
        <p:txBody>
          <a:bodyPr/>
          <a:lstStyle/>
          <a:p>
            <a:fld id="{E13E70E4-4696-429B-BFF2-2BC111150EC6}" type="datetimeFigureOut">
              <a:rPr lang="en-US" smtClean="0"/>
              <a:t>6/28/2025</a:t>
            </a:fld>
            <a:endParaRPr lang="en-US"/>
          </a:p>
        </p:txBody>
      </p:sp>
      <p:sp>
        <p:nvSpPr>
          <p:cNvPr id="4" name="Footer Placeholder 3">
            <a:extLst>
              <a:ext uri="{FF2B5EF4-FFF2-40B4-BE49-F238E27FC236}">
                <a16:creationId xmlns:a16="http://schemas.microsoft.com/office/drawing/2014/main" id="{7E854737-B409-3F1B-1315-D62B747BA7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88EA909-F52A-914E-82CD-B40C67AD64AA}"/>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1232524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452591-21F3-1FBD-E8A6-465C8D8C1FEA}"/>
              </a:ext>
            </a:extLst>
          </p:cNvPr>
          <p:cNvSpPr>
            <a:spLocks noGrp="1"/>
          </p:cNvSpPr>
          <p:nvPr>
            <p:ph type="dt" sz="half" idx="10"/>
          </p:nvPr>
        </p:nvSpPr>
        <p:spPr/>
        <p:txBody>
          <a:bodyPr/>
          <a:lstStyle/>
          <a:p>
            <a:fld id="{E13E70E4-4696-429B-BFF2-2BC111150EC6}" type="datetimeFigureOut">
              <a:rPr lang="en-US" smtClean="0"/>
              <a:t>6/28/2025</a:t>
            </a:fld>
            <a:endParaRPr lang="en-US"/>
          </a:p>
        </p:txBody>
      </p:sp>
      <p:sp>
        <p:nvSpPr>
          <p:cNvPr id="3" name="Footer Placeholder 2">
            <a:extLst>
              <a:ext uri="{FF2B5EF4-FFF2-40B4-BE49-F238E27FC236}">
                <a16:creationId xmlns:a16="http://schemas.microsoft.com/office/drawing/2014/main" id="{9CD71160-E67C-2786-1AA5-E241FEC660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AE9FBC-43CD-8DBA-4EFE-58BDE4A7A8D8}"/>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2659531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CC69-6F41-5934-7D55-53DC441628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6C0FF1-937C-CC3F-DE17-E672FD873E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B4A636-B247-D22A-8551-BA9B85F9B7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AA1639-F2E7-AF02-A8EB-666DFADF4428}"/>
              </a:ext>
            </a:extLst>
          </p:cNvPr>
          <p:cNvSpPr>
            <a:spLocks noGrp="1"/>
          </p:cNvSpPr>
          <p:nvPr>
            <p:ph type="dt" sz="half" idx="10"/>
          </p:nvPr>
        </p:nvSpPr>
        <p:spPr/>
        <p:txBody>
          <a:bodyPr/>
          <a:lstStyle/>
          <a:p>
            <a:fld id="{E13E70E4-4696-429B-BFF2-2BC111150EC6}" type="datetimeFigureOut">
              <a:rPr lang="en-US" smtClean="0"/>
              <a:t>6/28/2025</a:t>
            </a:fld>
            <a:endParaRPr lang="en-US"/>
          </a:p>
        </p:txBody>
      </p:sp>
      <p:sp>
        <p:nvSpPr>
          <p:cNvPr id="6" name="Footer Placeholder 5">
            <a:extLst>
              <a:ext uri="{FF2B5EF4-FFF2-40B4-BE49-F238E27FC236}">
                <a16:creationId xmlns:a16="http://schemas.microsoft.com/office/drawing/2014/main" id="{889769B0-747B-E8B6-7411-F7CDE1F1DA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10B21E-D382-2D89-43D5-5C1B9EDB8ED6}"/>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1692796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9903F-82B3-BA43-A2E5-ECDF0AF2D9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56785F9-2F2B-F981-3261-B422CC0688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A8AACF-64EC-BEBB-ADE4-8B0F46E1F2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BFF81D-DD42-056B-6F2A-A52E069B4C03}"/>
              </a:ext>
            </a:extLst>
          </p:cNvPr>
          <p:cNvSpPr>
            <a:spLocks noGrp="1"/>
          </p:cNvSpPr>
          <p:nvPr>
            <p:ph type="dt" sz="half" idx="10"/>
          </p:nvPr>
        </p:nvSpPr>
        <p:spPr/>
        <p:txBody>
          <a:bodyPr/>
          <a:lstStyle/>
          <a:p>
            <a:fld id="{E13E70E4-4696-429B-BFF2-2BC111150EC6}" type="datetimeFigureOut">
              <a:rPr lang="en-US" smtClean="0"/>
              <a:t>6/28/2025</a:t>
            </a:fld>
            <a:endParaRPr lang="en-US"/>
          </a:p>
        </p:txBody>
      </p:sp>
      <p:sp>
        <p:nvSpPr>
          <p:cNvPr id="6" name="Footer Placeholder 5">
            <a:extLst>
              <a:ext uri="{FF2B5EF4-FFF2-40B4-BE49-F238E27FC236}">
                <a16:creationId xmlns:a16="http://schemas.microsoft.com/office/drawing/2014/main" id="{88C9AFE6-F183-28BB-24A8-420D24B4BA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0F612B-4D32-17C6-9D71-DAF458BBA68A}"/>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1956240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425CC-1A85-B62A-6C9E-C38F024643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88DE490-577C-98D3-ED98-CBF31130DE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54787F-25E1-5B06-3B66-A7E8B380C7D1}"/>
              </a:ext>
            </a:extLst>
          </p:cNvPr>
          <p:cNvSpPr>
            <a:spLocks noGrp="1"/>
          </p:cNvSpPr>
          <p:nvPr>
            <p:ph type="dt" sz="half" idx="10"/>
          </p:nvPr>
        </p:nvSpPr>
        <p:spPr/>
        <p:txBody>
          <a:bodyPr/>
          <a:lstStyle/>
          <a:p>
            <a:fld id="{E13E70E4-4696-429B-BFF2-2BC111150EC6}" type="datetimeFigureOut">
              <a:rPr lang="en-US" smtClean="0"/>
              <a:t>6/28/2025</a:t>
            </a:fld>
            <a:endParaRPr lang="en-US"/>
          </a:p>
        </p:txBody>
      </p:sp>
      <p:sp>
        <p:nvSpPr>
          <p:cNvPr id="5" name="Footer Placeholder 4">
            <a:extLst>
              <a:ext uri="{FF2B5EF4-FFF2-40B4-BE49-F238E27FC236}">
                <a16:creationId xmlns:a16="http://schemas.microsoft.com/office/drawing/2014/main" id="{E62526E7-BD30-1799-3F79-470BB556A8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54E096-6B83-FBCF-3DD1-529796A82227}"/>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2436675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F8BAD9-CE7F-EFD6-A868-592D9B2FB44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6048E6-2518-58B7-2C0D-8B9F0EDF77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589E47-F3F6-A355-8474-79DF7ED04E30}"/>
              </a:ext>
            </a:extLst>
          </p:cNvPr>
          <p:cNvSpPr>
            <a:spLocks noGrp="1"/>
          </p:cNvSpPr>
          <p:nvPr>
            <p:ph type="dt" sz="half" idx="10"/>
          </p:nvPr>
        </p:nvSpPr>
        <p:spPr/>
        <p:txBody>
          <a:bodyPr/>
          <a:lstStyle/>
          <a:p>
            <a:fld id="{E13E70E4-4696-429B-BFF2-2BC111150EC6}" type="datetimeFigureOut">
              <a:rPr lang="en-US" smtClean="0"/>
              <a:t>6/28/2025</a:t>
            </a:fld>
            <a:endParaRPr lang="en-US"/>
          </a:p>
        </p:txBody>
      </p:sp>
      <p:sp>
        <p:nvSpPr>
          <p:cNvPr id="5" name="Footer Placeholder 4">
            <a:extLst>
              <a:ext uri="{FF2B5EF4-FFF2-40B4-BE49-F238E27FC236}">
                <a16:creationId xmlns:a16="http://schemas.microsoft.com/office/drawing/2014/main" id="{6D220B01-3ED4-AA62-3A37-966B1667BC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0AEBDD-648C-3D9C-F340-832740CFF8AC}"/>
              </a:ext>
            </a:extLst>
          </p:cNvPr>
          <p:cNvSpPr>
            <a:spLocks noGrp="1"/>
          </p:cNvSpPr>
          <p:nvPr>
            <p:ph type="sldNum" sz="quarter" idx="12"/>
          </p:nvPr>
        </p:nvSpPr>
        <p:spPr/>
        <p:txBody>
          <a:bodyPr/>
          <a:lstStyle/>
          <a:p>
            <a:fld id="{A6A79ADB-1C9A-457C-AAD2-C7696D81F2B7}" type="slidenum">
              <a:rPr lang="en-US" smtClean="0"/>
              <a:t>‹#›</a:t>
            </a:fld>
            <a:endParaRPr lang="en-US"/>
          </a:p>
        </p:txBody>
      </p:sp>
    </p:spTree>
    <p:extLst>
      <p:ext uri="{BB962C8B-B14F-4D97-AF65-F5344CB8AC3E}">
        <p14:creationId xmlns:p14="http://schemas.microsoft.com/office/powerpoint/2010/main" val="2007591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BB9FEB-3E9B-CEF0-AEDB-6079B82339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A094C2-6D9D-7AE8-7BFC-2B1F7BDA96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6A11D9-D5ED-3E84-2822-8F11F03CD2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3E70E4-4696-429B-BFF2-2BC111150EC6}" type="datetimeFigureOut">
              <a:rPr lang="en-US" smtClean="0"/>
              <a:t>6/28/2025</a:t>
            </a:fld>
            <a:endParaRPr lang="en-US"/>
          </a:p>
        </p:txBody>
      </p:sp>
      <p:sp>
        <p:nvSpPr>
          <p:cNvPr id="5" name="Footer Placeholder 4">
            <a:extLst>
              <a:ext uri="{FF2B5EF4-FFF2-40B4-BE49-F238E27FC236}">
                <a16:creationId xmlns:a16="http://schemas.microsoft.com/office/drawing/2014/main" id="{F674758D-514F-B0A1-E223-C3AAC03613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F2CE1FB-B141-EB8E-9251-9D336E0211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A79ADB-1C9A-457C-AAD2-C7696D81F2B7}" type="slidenum">
              <a:rPr lang="en-US" smtClean="0"/>
              <a:t>‹#›</a:t>
            </a:fld>
            <a:endParaRPr lang="en-US"/>
          </a:p>
        </p:txBody>
      </p:sp>
    </p:spTree>
    <p:extLst>
      <p:ext uri="{BB962C8B-B14F-4D97-AF65-F5344CB8AC3E}">
        <p14:creationId xmlns:p14="http://schemas.microsoft.com/office/powerpoint/2010/main" val="39369580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blanxer.com/docs" TargetMode="External"/><Relationship Id="rId2" Type="http://schemas.openxmlformats.org/officeDocument/2006/relationships/hyperlink" Target="https://docs.n8n.io/" TargetMode="External"/><Relationship Id="rId1" Type="http://schemas.openxmlformats.org/officeDocument/2006/relationships/slideLayout" Target="../slideLayouts/slideLayout2.xml"/><Relationship Id="rId4" Type="http://schemas.openxmlformats.org/officeDocument/2006/relationships/hyperlink" Target="https://platform.openai.com/do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FF63F-E390-702E-59D3-F2237911064C}"/>
              </a:ext>
            </a:extLst>
          </p:cNvPr>
          <p:cNvSpPr>
            <a:spLocks noGrp="1"/>
          </p:cNvSpPr>
          <p:nvPr>
            <p:ph type="ctrTitle"/>
          </p:nvPr>
        </p:nvSpPr>
        <p:spPr>
          <a:xfrm>
            <a:off x="2133600" y="5421647"/>
            <a:ext cx="9144000" cy="2387600"/>
          </a:xfrm>
        </p:spPr>
        <p:txBody>
          <a:bodyPr>
            <a:normAutofit/>
          </a:bodyPr>
          <a:lstStyle/>
          <a:p>
            <a:pPr rtl="0"/>
            <a:br>
              <a:rPr lang="en-US" dirty="0"/>
            </a:br>
            <a:r>
              <a:rPr lang="en-US" sz="1000" b="1" dirty="0"/>
              <a:t>Visual Suggestion</a:t>
            </a:r>
            <a:r>
              <a:rPr lang="en-US" sz="1000" dirty="0"/>
              <a:t>: Include a background image of elegant jewelry or a sleek website interface.</a:t>
            </a:r>
            <a:br>
              <a:rPr lang="en-US" dirty="0"/>
            </a:br>
            <a:endParaRPr lang="en-US" dirty="0"/>
          </a:p>
        </p:txBody>
      </p:sp>
      <p:sp>
        <p:nvSpPr>
          <p:cNvPr id="3" name="Subtitle 2">
            <a:extLst>
              <a:ext uri="{FF2B5EF4-FFF2-40B4-BE49-F238E27FC236}">
                <a16:creationId xmlns:a16="http://schemas.microsoft.com/office/drawing/2014/main" id="{C20031BA-343C-3874-2694-EAB21B2339FB}"/>
              </a:ext>
            </a:extLst>
          </p:cNvPr>
          <p:cNvSpPr>
            <a:spLocks noGrp="1"/>
          </p:cNvSpPr>
          <p:nvPr>
            <p:ph type="subTitle" idx="1"/>
          </p:nvPr>
        </p:nvSpPr>
        <p:spPr>
          <a:xfrm>
            <a:off x="625642" y="465221"/>
            <a:ext cx="10940716" cy="6585284"/>
          </a:xfrm>
        </p:spPr>
        <p:txBody>
          <a:bodyPr>
            <a:normAutofit/>
          </a:bodyPr>
          <a:lstStyle/>
          <a:p>
            <a:r>
              <a:rPr lang="en-US" dirty="0"/>
              <a:t>INTRODUCTION: </a:t>
            </a:r>
          </a:p>
          <a:p>
            <a:pPr algn="l"/>
            <a:r>
              <a:rPr lang="en-US" dirty="0"/>
              <a:t>The way businesses interact with their customers has transformed drastically, with artificial intelligence (AI) playing a key role in this evolution. One such transformation is the adoption of AI-powered chatbots, which offer real-time, intelligent, and automated customer engagement. E-commerce platforms, in particular, are in boom recently and have benefited significantly from chatbot integration, enabling them to handle customer queries, provide personalized recommendations, and streamline user interactions without the need for constant human intervention.</a:t>
            </a:r>
          </a:p>
          <a:p>
            <a:pPr algn="l"/>
            <a:r>
              <a:rPr lang="en-US" dirty="0"/>
              <a:t>This project proposes the integration of an AI-powered chatbot into the existing jewelry website using </a:t>
            </a:r>
            <a:r>
              <a:rPr lang="en-US" b="1" dirty="0"/>
              <a:t>n8n</a:t>
            </a:r>
            <a:r>
              <a:rPr lang="en-US" dirty="0"/>
              <a:t>, a powerful open-source workflow automation tool. The chatbot will serve as a virtual assistant capable of answering customer queries, providing product-related information, assisting with appointment bookings, and more. By leveraging n8n’s automation capabilities, the chatbot will not only respond intelligently but also perform backend tasks such as logging user inputs, sending emails, and updating records. The goal is to enhance user engagement, reduce manual workload, and improve overall customer satisfaction through a scalable and efficient system.</a:t>
            </a:r>
          </a:p>
          <a:p>
            <a:pPr algn="l"/>
            <a:endParaRPr lang="en-US" dirty="0"/>
          </a:p>
        </p:txBody>
      </p:sp>
    </p:spTree>
    <p:extLst>
      <p:ext uri="{BB962C8B-B14F-4D97-AF65-F5344CB8AC3E}">
        <p14:creationId xmlns:p14="http://schemas.microsoft.com/office/powerpoint/2010/main" val="2918042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13D2-7C86-5949-6AC0-77F80E9F17F8}"/>
              </a:ext>
            </a:extLst>
          </p:cNvPr>
          <p:cNvSpPr>
            <a:spLocks noGrp="1"/>
          </p:cNvSpPr>
          <p:nvPr>
            <p:ph type="title"/>
          </p:nvPr>
        </p:nvSpPr>
        <p:spPr>
          <a:xfrm>
            <a:off x="469232" y="365124"/>
            <a:ext cx="10515600" cy="1325563"/>
          </a:xfrm>
        </p:spPr>
        <p:txBody>
          <a:bodyPr/>
          <a:lstStyle/>
          <a:p>
            <a:r>
              <a:rPr lang="en-US" dirty="0"/>
              <a:t>Problem Statement</a:t>
            </a:r>
          </a:p>
        </p:txBody>
      </p:sp>
      <p:sp>
        <p:nvSpPr>
          <p:cNvPr id="7" name="TextBox 6">
            <a:extLst>
              <a:ext uri="{FF2B5EF4-FFF2-40B4-BE49-F238E27FC236}">
                <a16:creationId xmlns:a16="http://schemas.microsoft.com/office/drawing/2014/main" id="{78E8BA3C-90B5-5072-A2CE-4DB4EE49DC23}"/>
              </a:ext>
            </a:extLst>
          </p:cNvPr>
          <p:cNvSpPr txBox="1"/>
          <p:nvPr/>
        </p:nvSpPr>
        <p:spPr>
          <a:xfrm>
            <a:off x="469232" y="1674645"/>
            <a:ext cx="10856494" cy="5170646"/>
          </a:xfrm>
          <a:prstGeom prst="rect">
            <a:avLst/>
          </a:prstGeom>
          <a:noFill/>
        </p:spPr>
        <p:txBody>
          <a:bodyPr wrap="square" rtlCol="0">
            <a:spAutoFit/>
          </a:bodyPr>
          <a:lstStyle/>
          <a:p>
            <a:r>
              <a:rPr lang="en-US" sz="2400" dirty="0">
                <a:latin typeface="+mj-lt"/>
              </a:rPr>
              <a:t>In the competitive world of online retail, especially in industries like jewelry where trust and personalization are paramount. Visitors often have queries about product availability, pricing, and appointments. Despite the growing demand for instant support and personalized service in e-commerce, many small to medium-sized jewelry businesses lack the infrastructure to meet these expectations effectively. Manual responses are not scalable and are limited to business hours.</a:t>
            </a:r>
          </a:p>
          <a:p>
            <a:endParaRPr lang="en-US" sz="2400" dirty="0">
              <a:latin typeface="+mj-lt"/>
            </a:endParaRPr>
          </a:p>
          <a:p>
            <a:r>
              <a:rPr lang="en-US" sz="2400" dirty="0">
                <a:latin typeface="+mj-lt"/>
              </a:rPr>
              <a:t>The current jewelry website, developed using the </a:t>
            </a:r>
            <a:r>
              <a:rPr lang="en-US" sz="2400" dirty="0" err="1">
                <a:latin typeface="+mj-lt"/>
              </a:rPr>
              <a:t>Blanxer</a:t>
            </a:r>
            <a:r>
              <a:rPr lang="en-US" sz="2400" dirty="0">
                <a:latin typeface="+mj-lt"/>
              </a:rPr>
              <a:t> platform, operates without any form of automated support or live chat capabilities. Visitors to the website who have questions regarding product details, pricing, availability, or appointment bookings must either wait for manual responses or navigate the site independently, which can lead to frustration and drop-offs. This creates a significant gap in the user experience and hinders the business’s ability to convert casual browsers into loyal customers</a:t>
            </a:r>
            <a:r>
              <a:rPr lang="en-US" sz="2000" dirty="0">
                <a:latin typeface="+mj-lt"/>
              </a:rPr>
              <a:t>.</a:t>
            </a:r>
          </a:p>
          <a:p>
            <a:endParaRPr lang="en-US" dirty="0"/>
          </a:p>
        </p:txBody>
      </p:sp>
    </p:spTree>
    <p:extLst>
      <p:ext uri="{BB962C8B-B14F-4D97-AF65-F5344CB8AC3E}">
        <p14:creationId xmlns:p14="http://schemas.microsoft.com/office/powerpoint/2010/main" val="2322199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49ACB-6BC1-2B56-82CC-DC8CAE6052D0}"/>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ECFE5A36-09FE-9CB8-CCEE-D624375BEC73}"/>
              </a:ext>
            </a:extLst>
          </p:cNvPr>
          <p:cNvSpPr>
            <a:spLocks noGrp="1"/>
          </p:cNvSpPr>
          <p:nvPr>
            <p:ph idx="1"/>
          </p:nvPr>
        </p:nvSpPr>
        <p:spPr>
          <a:xfrm>
            <a:off x="661736" y="1690687"/>
            <a:ext cx="10515600" cy="4597817"/>
          </a:xfrm>
        </p:spPr>
        <p:txBody>
          <a:bodyPr>
            <a:normAutofit lnSpcReduction="10000"/>
          </a:bodyPr>
          <a:lstStyle/>
          <a:p>
            <a:r>
              <a:rPr lang="en-US" dirty="0"/>
              <a:t>To develop and embed an AI-powered chatbot capable of handling basic customer interactions, such as product inquiries, appointment bookings, and frequently asked questions.</a:t>
            </a:r>
          </a:p>
          <a:p>
            <a:r>
              <a:rPr lang="en-US" dirty="0"/>
              <a:t>To leverage n8n’s workflow automation capabilities to perform backend tasks, including sending automated email confirmations, logging customer queries, and updating internal records.</a:t>
            </a:r>
          </a:p>
          <a:p>
            <a:r>
              <a:rPr lang="en-US" dirty="0"/>
              <a:t>To ensure 24/7 customer support availability through the chatbot, thereby reducing dependency on manual responses and improving response time.</a:t>
            </a:r>
          </a:p>
          <a:p>
            <a:r>
              <a:rPr lang="en-US" dirty="0"/>
              <a:t>To enhance the overall user experience on the website by providing instant, relevant, and intelligent assistance.</a:t>
            </a:r>
          </a:p>
          <a:p>
            <a:endParaRPr lang="en-US" dirty="0"/>
          </a:p>
          <a:p>
            <a:endParaRPr lang="en-US" dirty="0"/>
          </a:p>
          <a:p>
            <a:endParaRPr lang="en-US" dirty="0"/>
          </a:p>
        </p:txBody>
      </p:sp>
    </p:spTree>
    <p:extLst>
      <p:ext uri="{BB962C8B-B14F-4D97-AF65-F5344CB8AC3E}">
        <p14:creationId xmlns:p14="http://schemas.microsoft.com/office/powerpoint/2010/main" val="3542185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77DCF-8831-A225-F828-AEC73F57BB99}"/>
              </a:ext>
            </a:extLst>
          </p:cNvPr>
          <p:cNvSpPr>
            <a:spLocks noGrp="1"/>
          </p:cNvSpPr>
          <p:nvPr>
            <p:ph type="title"/>
          </p:nvPr>
        </p:nvSpPr>
        <p:spPr/>
        <p:txBody>
          <a:bodyPr/>
          <a:lstStyle/>
          <a:p>
            <a:r>
              <a:rPr lang="en-US" dirty="0"/>
              <a:t>Scope of Research</a:t>
            </a:r>
          </a:p>
        </p:txBody>
      </p:sp>
      <p:sp>
        <p:nvSpPr>
          <p:cNvPr id="3" name="Content Placeholder 2">
            <a:extLst>
              <a:ext uri="{FF2B5EF4-FFF2-40B4-BE49-F238E27FC236}">
                <a16:creationId xmlns:a16="http://schemas.microsoft.com/office/drawing/2014/main" id="{2CC495E6-A368-3FF8-5C37-36677DC9CFF6}"/>
              </a:ext>
            </a:extLst>
          </p:cNvPr>
          <p:cNvSpPr>
            <a:spLocks noGrp="1"/>
          </p:cNvSpPr>
          <p:nvPr>
            <p:ph idx="1"/>
          </p:nvPr>
        </p:nvSpPr>
        <p:spPr>
          <a:xfrm>
            <a:off x="533400" y="1424571"/>
            <a:ext cx="10515600" cy="5068303"/>
          </a:xfrm>
        </p:spPr>
        <p:txBody>
          <a:bodyPr>
            <a:normAutofit lnSpcReduction="10000"/>
          </a:bodyPr>
          <a:lstStyle/>
          <a:p>
            <a:r>
              <a:rPr lang="en-US" dirty="0"/>
              <a:t>Our Research emphasizes on defining both the technical and functional aspects. The project focuses on the design and implementation a chatbot which will be connected to backend automation workflows developed using the n8n tool. This scope includes creating chatbot dialogues to handle customer inquiries related to product availability, appointment bookings, frequently asked questions, and basic product guidance.</a:t>
            </a:r>
          </a:p>
          <a:p>
            <a:r>
              <a:rPr lang="en-US" dirty="0"/>
              <a:t>From a backend perspective, the research will cover the creation of workflows that automate responses, log user data, trigger email notifications, and update simple databases. </a:t>
            </a:r>
          </a:p>
          <a:p>
            <a:r>
              <a:rPr lang="en-US" dirty="0"/>
              <a:t>However, the scope does not extend to training custom machine learning models or integrating advanced AI features such as predictive analytics or voice-based interaction</a:t>
            </a:r>
          </a:p>
          <a:p>
            <a:endParaRPr lang="en-US" dirty="0"/>
          </a:p>
        </p:txBody>
      </p:sp>
    </p:spTree>
    <p:extLst>
      <p:ext uri="{BB962C8B-B14F-4D97-AF65-F5344CB8AC3E}">
        <p14:creationId xmlns:p14="http://schemas.microsoft.com/office/powerpoint/2010/main" val="3038928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33820-4022-DD70-239D-43D5EC8257C7}"/>
              </a:ext>
            </a:extLst>
          </p:cNvPr>
          <p:cNvSpPr>
            <a:spLocks noGrp="1"/>
          </p:cNvSpPr>
          <p:nvPr>
            <p:ph type="title"/>
          </p:nvPr>
        </p:nvSpPr>
        <p:spPr/>
        <p:txBody>
          <a:bodyPr/>
          <a:lstStyle/>
          <a:p>
            <a:r>
              <a:rPr lang="en-US" dirty="0"/>
              <a:t>Literature review</a:t>
            </a:r>
          </a:p>
        </p:txBody>
      </p:sp>
      <p:sp>
        <p:nvSpPr>
          <p:cNvPr id="3" name="Content Placeholder 2">
            <a:extLst>
              <a:ext uri="{FF2B5EF4-FFF2-40B4-BE49-F238E27FC236}">
                <a16:creationId xmlns:a16="http://schemas.microsoft.com/office/drawing/2014/main" id="{CEAF8B2A-D302-F928-1A96-B827EE8B0911}"/>
              </a:ext>
            </a:extLst>
          </p:cNvPr>
          <p:cNvSpPr>
            <a:spLocks noGrp="1"/>
          </p:cNvSpPr>
          <p:nvPr>
            <p:ph idx="1"/>
          </p:nvPr>
        </p:nvSpPr>
        <p:spPr>
          <a:xfrm>
            <a:off x="597569" y="1554665"/>
            <a:ext cx="10515600" cy="5008645"/>
          </a:xfrm>
        </p:spPr>
        <p:txBody>
          <a:bodyPr>
            <a:normAutofit/>
          </a:bodyPr>
          <a:lstStyle/>
          <a:p>
            <a:r>
              <a:rPr lang="en-US" dirty="0"/>
              <a:t>Research by Gartner (2024) indicates that AI chatbots can increase online sales conversion rates by up to 30% by providing instant responses and tailored recommendations, reducing customer wait times, and automating routine inquiries. </a:t>
            </a:r>
          </a:p>
          <a:p>
            <a:r>
              <a:rPr lang="en-US" dirty="0"/>
              <a:t>Several case studies demonstrate how n8n enables rapid deployment of chatbot-driven automation, improving lead management, customer support, and data collect</a:t>
            </a:r>
          </a:p>
          <a:p>
            <a:r>
              <a:rPr lang="en-US" dirty="0"/>
              <a:t>This project builds upon these foundations of leveraging n8n workforce and enforce higher customer engagement. By applying proven tools and methodologies to the specific context of a jewelry e-commerce website, aiming to enhance both user experience and business outcomes</a:t>
            </a:r>
          </a:p>
        </p:txBody>
      </p:sp>
    </p:spTree>
    <p:extLst>
      <p:ext uri="{BB962C8B-B14F-4D97-AF65-F5344CB8AC3E}">
        <p14:creationId xmlns:p14="http://schemas.microsoft.com/office/powerpoint/2010/main" val="527875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7B5AC-E7F5-037C-D62A-3DC10AB5BA18}"/>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6B24A1CA-32A1-D7EE-645B-C8B5CA77BAF4}"/>
              </a:ext>
            </a:extLst>
          </p:cNvPr>
          <p:cNvSpPr>
            <a:spLocks noGrp="1"/>
          </p:cNvSpPr>
          <p:nvPr>
            <p:ph idx="1"/>
          </p:nvPr>
        </p:nvSpPr>
        <p:spPr>
          <a:xfrm>
            <a:off x="613611" y="1690688"/>
            <a:ext cx="10515600" cy="4667250"/>
          </a:xfrm>
        </p:spPr>
        <p:txBody>
          <a:bodyPr>
            <a:normAutofit/>
          </a:bodyPr>
          <a:lstStyle/>
          <a:p>
            <a:r>
              <a:rPr lang="en-US" dirty="0"/>
              <a:t>Phase 1: Setting up Chatbot Interface. Implying no-code chatbot builders such as </a:t>
            </a:r>
            <a:r>
              <a:rPr lang="en-US" dirty="0" err="1"/>
              <a:t>Landbot</a:t>
            </a:r>
            <a:r>
              <a:rPr lang="en-US" dirty="0"/>
              <a:t> or </a:t>
            </a:r>
            <a:r>
              <a:rPr lang="en-US" dirty="0" err="1"/>
              <a:t>Dialogflow</a:t>
            </a:r>
            <a:r>
              <a:rPr lang="en-US" dirty="0"/>
              <a:t> . The user interface will be embedded seamlessly within the </a:t>
            </a:r>
            <a:r>
              <a:rPr lang="en-US" dirty="0" err="1"/>
              <a:t>Blanxer</a:t>
            </a:r>
            <a:r>
              <a:rPr lang="en-US" dirty="0"/>
              <a:t>-built website to ensure consistent branding and accessibility.</a:t>
            </a:r>
          </a:p>
          <a:p>
            <a:r>
              <a:rPr lang="en-US" dirty="0"/>
              <a:t>Phase 2: Workflow automation using n8n. These workflows will automate tasks such as: sending confirmation emails for appointments, logging, updating the databases, and potentially notifying human agents when required. </a:t>
            </a:r>
          </a:p>
          <a:p>
            <a:r>
              <a:rPr lang="en-US" dirty="0"/>
              <a:t>Phase 3: Testing . User feedback will be gathered and based on this feedback, iterative improvements will be made to enhance performance, usability, and customer satisfaction.</a:t>
            </a:r>
          </a:p>
        </p:txBody>
      </p:sp>
    </p:spTree>
    <p:extLst>
      <p:ext uri="{BB962C8B-B14F-4D97-AF65-F5344CB8AC3E}">
        <p14:creationId xmlns:p14="http://schemas.microsoft.com/office/powerpoint/2010/main" val="4015949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12C6E-2339-F18F-7ECE-F295B978DF90}"/>
              </a:ext>
            </a:extLst>
          </p:cNvPr>
          <p:cNvSpPr>
            <a:spLocks noGrp="1"/>
          </p:cNvSpPr>
          <p:nvPr>
            <p:ph type="title"/>
          </p:nvPr>
        </p:nvSpPr>
        <p:spPr/>
        <p:txBody>
          <a:bodyPr/>
          <a:lstStyle/>
          <a:p>
            <a:r>
              <a:rPr lang="en-US" dirty="0"/>
              <a:t>Expected Outcomes</a:t>
            </a:r>
          </a:p>
        </p:txBody>
      </p:sp>
      <p:sp>
        <p:nvSpPr>
          <p:cNvPr id="3" name="Content Placeholder 2">
            <a:extLst>
              <a:ext uri="{FF2B5EF4-FFF2-40B4-BE49-F238E27FC236}">
                <a16:creationId xmlns:a16="http://schemas.microsoft.com/office/drawing/2014/main" id="{2363E7C2-12AA-F718-5111-0C7C9A2CB558}"/>
              </a:ext>
            </a:extLst>
          </p:cNvPr>
          <p:cNvSpPr>
            <a:spLocks noGrp="1"/>
          </p:cNvSpPr>
          <p:nvPr>
            <p:ph idx="1"/>
          </p:nvPr>
        </p:nvSpPr>
        <p:spPr>
          <a:xfrm>
            <a:off x="838200" y="1690687"/>
            <a:ext cx="10515600" cy="4802187"/>
          </a:xfrm>
        </p:spPr>
        <p:txBody>
          <a:bodyPr/>
          <a:lstStyle/>
          <a:p>
            <a:r>
              <a:rPr lang="en-US" dirty="0"/>
              <a:t>The successful implementation of this project is anticipated to yield seamless chatbot integration providing a 24/7 assistance. This instant support is expected to enhance user experience by reducing wait times and offering personalized guidance.</a:t>
            </a:r>
          </a:p>
          <a:p>
            <a:r>
              <a:rPr lang="en-US" dirty="0"/>
              <a:t>Additionally, the use of n8n workflow automation will streamline backend processes such as sending automated email confirmations, logging customer interactions, and maintaining updated records.</a:t>
            </a:r>
          </a:p>
          <a:p>
            <a:r>
              <a:rPr lang="en-US" dirty="0"/>
              <a:t>Increased customer satisfaction resulting in flourishment of higher engagement and sales. Laying out a foundation for future AI upgrades which is to include more advanced features such as personalized product recommendations, order tracking, and live agent handoff.</a:t>
            </a:r>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669421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13C84-1084-49F9-54D7-2FCCB8EC18BE}"/>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8988A6E0-3C98-E18E-D452-E89C60AF9977}"/>
              </a:ext>
            </a:extLst>
          </p:cNvPr>
          <p:cNvSpPr>
            <a:spLocks noGrp="1"/>
          </p:cNvSpPr>
          <p:nvPr>
            <p:ph idx="1"/>
          </p:nvPr>
        </p:nvSpPr>
        <p:spPr/>
        <p:txBody>
          <a:bodyPr/>
          <a:lstStyle/>
          <a:p>
            <a:pPr>
              <a:buFont typeface="Arial" panose="020B0604020202020204" pitchFamily="34" charset="0"/>
              <a:buChar char="•"/>
            </a:pPr>
            <a:r>
              <a:rPr lang="en-US" dirty="0"/>
              <a:t>Gartner (2024). "Conversational AI in E-Commerce."</a:t>
            </a:r>
          </a:p>
          <a:p>
            <a:pPr>
              <a:buFont typeface="Arial" panose="020B0604020202020204" pitchFamily="34" charset="0"/>
              <a:buChar char="•"/>
            </a:pPr>
            <a:r>
              <a:rPr lang="en-US" dirty="0"/>
              <a:t>Salesforce Research (2023). "Customer Service Trends."</a:t>
            </a:r>
          </a:p>
          <a:p>
            <a:pPr>
              <a:buFont typeface="Arial" panose="020B0604020202020204" pitchFamily="34" charset="0"/>
              <a:buChar char="•"/>
            </a:pPr>
            <a:r>
              <a:rPr lang="en-US" dirty="0"/>
              <a:t>n8n Documentation. </a:t>
            </a:r>
            <a:r>
              <a:rPr lang="en-US" dirty="0">
                <a:hlinkClick r:id="rId2"/>
              </a:rPr>
              <a:t>https://docs.n8n.io</a:t>
            </a:r>
            <a:endParaRPr lang="en-US" dirty="0"/>
          </a:p>
          <a:p>
            <a:pPr>
              <a:buFont typeface="Arial" panose="020B0604020202020204" pitchFamily="34" charset="0"/>
              <a:buChar char="•"/>
            </a:pPr>
            <a:r>
              <a:rPr lang="en-US" dirty="0" err="1"/>
              <a:t>Blanxer</a:t>
            </a:r>
            <a:r>
              <a:rPr lang="en-US" dirty="0"/>
              <a:t> Platform Docs. </a:t>
            </a:r>
            <a:r>
              <a:rPr lang="en-US" dirty="0">
                <a:hlinkClick r:id="rId3"/>
              </a:rPr>
              <a:t>https://blanxer.com/docs</a:t>
            </a:r>
            <a:endParaRPr lang="en-US" dirty="0"/>
          </a:p>
          <a:p>
            <a:pPr>
              <a:buFont typeface="Arial" panose="020B0604020202020204" pitchFamily="34" charset="0"/>
              <a:buChar char="•"/>
            </a:pPr>
            <a:r>
              <a:rPr lang="en-US" dirty="0"/>
              <a:t>OpenAI API Integration Guide. </a:t>
            </a:r>
            <a:r>
              <a:rPr lang="en-US" dirty="0">
                <a:hlinkClick r:id="rId4"/>
              </a:rPr>
              <a:t>https://platform.openai.com/docs</a:t>
            </a:r>
            <a:endParaRPr lang="en-US" dirty="0"/>
          </a:p>
          <a:p>
            <a:endParaRPr lang="en-US" dirty="0"/>
          </a:p>
        </p:txBody>
      </p:sp>
    </p:spTree>
    <p:extLst>
      <p:ext uri="{BB962C8B-B14F-4D97-AF65-F5344CB8AC3E}">
        <p14:creationId xmlns:p14="http://schemas.microsoft.com/office/powerpoint/2010/main" val="23771245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957</Words>
  <Application>Microsoft Office PowerPoint</Application>
  <PresentationFormat>Widescreen</PresentationFormat>
  <Paragraphs>37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 Visual Suggestion: Include a background image of elegant jewelry or a sleek website interface. </vt:lpstr>
      <vt:lpstr>Problem Statement</vt:lpstr>
      <vt:lpstr>OBJECTIVES</vt:lpstr>
      <vt:lpstr>Scope of Research</vt:lpstr>
      <vt:lpstr>Literature review</vt:lpstr>
      <vt:lpstr>Methodology</vt:lpstr>
      <vt:lpstr>Expected Outcomes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Visual Suggestion: Include a background image of elegant jewelry or a sleek website interface. </dc:title>
  <dc:creator>Administrator</dc:creator>
  <cp:lastModifiedBy>Administrator</cp:lastModifiedBy>
  <cp:revision>11</cp:revision>
  <dcterms:created xsi:type="dcterms:W3CDTF">2025-06-28T08:57:46Z</dcterms:created>
  <dcterms:modified xsi:type="dcterms:W3CDTF">2025-06-28T09:40:57Z</dcterms:modified>
</cp:coreProperties>
</file>