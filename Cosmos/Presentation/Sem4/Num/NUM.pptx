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60" r:id="rId2"/>
    <p:sldId id="258" r:id="rId3"/>
    <p:sldId id="257" r:id="rId4"/>
    <p:sldId id="259" r:id="rId5"/>
  </p:sldIdLst>
  <p:sldSz cx="7562850" cy="106886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27" autoAdjust="0"/>
    <p:restoredTop sz="94660"/>
  </p:normalViewPr>
  <p:slideViewPr>
    <p:cSldViewPr snapToGrid="0">
      <p:cViewPr varScale="1">
        <p:scale>
          <a:sx n="60" d="100"/>
          <a:sy n="60" d="100"/>
        </p:scale>
        <p:origin x="2496"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7214" y="1749275"/>
            <a:ext cx="6428423" cy="3721230"/>
          </a:xfrm>
        </p:spPr>
        <p:txBody>
          <a:bodyPr anchor="b"/>
          <a:lstStyle>
            <a:lvl1pPr algn="ctr">
              <a:defRPr sz="4963"/>
            </a:lvl1pPr>
          </a:lstStyle>
          <a:p>
            <a:r>
              <a:rPr lang="en-US"/>
              <a:t>Click to edit Master title style</a:t>
            </a:r>
            <a:endParaRPr lang="en-US" dirty="0"/>
          </a:p>
        </p:txBody>
      </p:sp>
      <p:sp>
        <p:nvSpPr>
          <p:cNvPr id="3" name="Subtitle 2"/>
          <p:cNvSpPr>
            <a:spLocks noGrp="1"/>
          </p:cNvSpPr>
          <p:nvPr>
            <p:ph type="subTitle" idx="1"/>
          </p:nvPr>
        </p:nvSpPr>
        <p:spPr>
          <a:xfrm>
            <a:off x="945356" y="5614010"/>
            <a:ext cx="5672138" cy="2580613"/>
          </a:xfrm>
        </p:spPr>
        <p:txBody>
          <a:bodyPr/>
          <a:lstStyle>
            <a:lvl1pPr marL="0" indent="0" algn="ctr">
              <a:buNone/>
              <a:defRPr sz="1985"/>
            </a:lvl1pPr>
            <a:lvl2pPr marL="378150" indent="0" algn="ctr">
              <a:buNone/>
              <a:defRPr sz="1654"/>
            </a:lvl2pPr>
            <a:lvl3pPr marL="756300" indent="0" algn="ctr">
              <a:buNone/>
              <a:defRPr sz="1489"/>
            </a:lvl3pPr>
            <a:lvl4pPr marL="1134450" indent="0" algn="ctr">
              <a:buNone/>
              <a:defRPr sz="1323"/>
            </a:lvl4pPr>
            <a:lvl5pPr marL="1512600" indent="0" algn="ctr">
              <a:buNone/>
              <a:defRPr sz="1323"/>
            </a:lvl5pPr>
            <a:lvl6pPr marL="1890751" indent="0" algn="ctr">
              <a:buNone/>
              <a:defRPr sz="1323"/>
            </a:lvl6pPr>
            <a:lvl7pPr marL="2268901" indent="0" algn="ctr">
              <a:buNone/>
              <a:defRPr sz="1323"/>
            </a:lvl7pPr>
            <a:lvl8pPr marL="2647051" indent="0" algn="ctr">
              <a:buNone/>
              <a:defRPr sz="1323"/>
            </a:lvl8pPr>
            <a:lvl9pPr marL="3025201" indent="0" algn="ctr">
              <a:buNone/>
              <a:defRPr sz="132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5775A4C-43A5-482C-AB38-569816F1E624}" type="datetimeFigureOut">
              <a:rPr lang="en-US" smtClean="0"/>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070F6F-5D6E-414D-ABD4-316446B2955D}" type="slidenum">
              <a:rPr lang="en-US" smtClean="0"/>
              <a:t>‹#›</a:t>
            </a:fld>
            <a:endParaRPr lang="en-US"/>
          </a:p>
        </p:txBody>
      </p:sp>
    </p:spTree>
    <p:extLst>
      <p:ext uri="{BB962C8B-B14F-4D97-AF65-F5344CB8AC3E}">
        <p14:creationId xmlns:p14="http://schemas.microsoft.com/office/powerpoint/2010/main" val="1943241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775A4C-43A5-482C-AB38-569816F1E624}" type="datetimeFigureOut">
              <a:rPr lang="en-US" smtClean="0"/>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070F6F-5D6E-414D-ABD4-316446B2955D}" type="slidenum">
              <a:rPr lang="en-US" smtClean="0"/>
              <a:t>‹#›</a:t>
            </a:fld>
            <a:endParaRPr lang="en-US"/>
          </a:p>
        </p:txBody>
      </p:sp>
    </p:spTree>
    <p:extLst>
      <p:ext uri="{BB962C8B-B14F-4D97-AF65-F5344CB8AC3E}">
        <p14:creationId xmlns:p14="http://schemas.microsoft.com/office/powerpoint/2010/main" val="2678189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6007" y="2664740"/>
            <a:ext cx="6522958" cy="4446176"/>
          </a:xfrm>
        </p:spPr>
        <p:txBody>
          <a:bodyPr anchor="b"/>
          <a:lstStyle>
            <a:lvl1pPr>
              <a:defRPr sz="4963"/>
            </a:lvl1pPr>
          </a:lstStyle>
          <a:p>
            <a:r>
              <a:rPr lang="en-US"/>
              <a:t>Click to edit Master title style</a:t>
            </a:r>
            <a:endParaRPr lang="en-US" dirty="0"/>
          </a:p>
        </p:txBody>
      </p:sp>
      <p:sp>
        <p:nvSpPr>
          <p:cNvPr id="3" name="Text Placeholder 2"/>
          <p:cNvSpPr>
            <a:spLocks noGrp="1"/>
          </p:cNvSpPr>
          <p:nvPr>
            <p:ph type="body" idx="1"/>
          </p:nvPr>
        </p:nvSpPr>
        <p:spPr>
          <a:xfrm>
            <a:off x="516007" y="7152978"/>
            <a:ext cx="6522958" cy="2338139"/>
          </a:xfrm>
        </p:spPr>
        <p:txBody>
          <a:bodyPr/>
          <a:lstStyle>
            <a:lvl1pPr marL="0" indent="0">
              <a:buNone/>
              <a:defRPr sz="1985">
                <a:solidFill>
                  <a:schemeClr val="tx1"/>
                </a:solidFill>
              </a:defRPr>
            </a:lvl1pPr>
            <a:lvl2pPr marL="378150" indent="0">
              <a:buNone/>
              <a:defRPr sz="1654">
                <a:solidFill>
                  <a:schemeClr val="tx1">
                    <a:tint val="75000"/>
                  </a:schemeClr>
                </a:solidFill>
              </a:defRPr>
            </a:lvl2pPr>
            <a:lvl3pPr marL="756300" indent="0">
              <a:buNone/>
              <a:defRPr sz="1489">
                <a:solidFill>
                  <a:schemeClr val="tx1">
                    <a:tint val="75000"/>
                  </a:schemeClr>
                </a:solidFill>
              </a:defRPr>
            </a:lvl3pPr>
            <a:lvl4pPr marL="1134450" indent="0">
              <a:buNone/>
              <a:defRPr sz="1323">
                <a:solidFill>
                  <a:schemeClr val="tx1">
                    <a:tint val="75000"/>
                  </a:schemeClr>
                </a:solidFill>
              </a:defRPr>
            </a:lvl4pPr>
            <a:lvl5pPr marL="1512600" indent="0">
              <a:buNone/>
              <a:defRPr sz="1323">
                <a:solidFill>
                  <a:schemeClr val="tx1">
                    <a:tint val="75000"/>
                  </a:schemeClr>
                </a:solidFill>
              </a:defRPr>
            </a:lvl5pPr>
            <a:lvl6pPr marL="1890751" indent="0">
              <a:buNone/>
              <a:defRPr sz="1323">
                <a:solidFill>
                  <a:schemeClr val="tx1">
                    <a:tint val="75000"/>
                  </a:schemeClr>
                </a:solidFill>
              </a:defRPr>
            </a:lvl6pPr>
            <a:lvl7pPr marL="2268901" indent="0">
              <a:buNone/>
              <a:defRPr sz="1323">
                <a:solidFill>
                  <a:schemeClr val="tx1">
                    <a:tint val="75000"/>
                  </a:schemeClr>
                </a:solidFill>
              </a:defRPr>
            </a:lvl7pPr>
            <a:lvl8pPr marL="2647051" indent="0">
              <a:buNone/>
              <a:defRPr sz="1323">
                <a:solidFill>
                  <a:schemeClr val="tx1">
                    <a:tint val="75000"/>
                  </a:schemeClr>
                </a:solidFill>
              </a:defRPr>
            </a:lvl8pPr>
            <a:lvl9pPr marL="3025201" indent="0">
              <a:buNone/>
              <a:defRPr sz="132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775A4C-43A5-482C-AB38-569816F1E624}" type="datetimeFigureOut">
              <a:rPr lang="en-US" smtClean="0"/>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070F6F-5D6E-414D-ABD4-316446B2955D}" type="slidenum">
              <a:rPr lang="en-US" smtClean="0"/>
              <a:t>‹#›</a:t>
            </a:fld>
            <a:endParaRPr lang="en-US"/>
          </a:p>
        </p:txBody>
      </p:sp>
    </p:spTree>
    <p:extLst>
      <p:ext uri="{BB962C8B-B14F-4D97-AF65-F5344CB8AC3E}">
        <p14:creationId xmlns:p14="http://schemas.microsoft.com/office/powerpoint/2010/main" val="1344503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946" y="2845355"/>
            <a:ext cx="3214211" cy="67818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8693" y="2845355"/>
            <a:ext cx="3214211" cy="67818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775A4C-43A5-482C-AB38-569816F1E624}" type="datetimeFigureOut">
              <a:rPr lang="en-US" smtClean="0"/>
              <a:t>7/9/2025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070F6F-5D6E-414D-ABD4-316446B2955D}" type="slidenum">
              <a:rPr lang="en-US" smtClean="0"/>
              <a:t>‹#›</a:t>
            </a:fld>
            <a:endParaRPr lang="en-US"/>
          </a:p>
        </p:txBody>
      </p:sp>
    </p:spTree>
    <p:extLst>
      <p:ext uri="{BB962C8B-B14F-4D97-AF65-F5344CB8AC3E}">
        <p14:creationId xmlns:p14="http://schemas.microsoft.com/office/powerpoint/2010/main" val="3437428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931" y="569073"/>
            <a:ext cx="6522958" cy="20659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932" y="2620202"/>
            <a:ext cx="3199440" cy="1284120"/>
          </a:xfrm>
        </p:spPr>
        <p:txBody>
          <a:bodyPr anchor="b"/>
          <a:lstStyle>
            <a:lvl1pPr marL="0" indent="0">
              <a:buNone/>
              <a:defRPr sz="1985" b="1"/>
            </a:lvl1pPr>
            <a:lvl2pPr marL="378150" indent="0">
              <a:buNone/>
              <a:defRPr sz="1654" b="1"/>
            </a:lvl2pPr>
            <a:lvl3pPr marL="756300" indent="0">
              <a:buNone/>
              <a:defRPr sz="1489" b="1"/>
            </a:lvl3pPr>
            <a:lvl4pPr marL="1134450" indent="0">
              <a:buNone/>
              <a:defRPr sz="1323" b="1"/>
            </a:lvl4pPr>
            <a:lvl5pPr marL="1512600" indent="0">
              <a:buNone/>
              <a:defRPr sz="1323" b="1"/>
            </a:lvl5pPr>
            <a:lvl6pPr marL="1890751" indent="0">
              <a:buNone/>
              <a:defRPr sz="1323" b="1"/>
            </a:lvl6pPr>
            <a:lvl7pPr marL="2268901" indent="0">
              <a:buNone/>
              <a:defRPr sz="1323" b="1"/>
            </a:lvl7pPr>
            <a:lvl8pPr marL="2647051" indent="0">
              <a:buNone/>
              <a:defRPr sz="1323" b="1"/>
            </a:lvl8pPr>
            <a:lvl9pPr marL="3025201" indent="0">
              <a:buNone/>
              <a:defRPr sz="1323" b="1"/>
            </a:lvl9pPr>
          </a:lstStyle>
          <a:p>
            <a:pPr lvl="0"/>
            <a:r>
              <a:rPr lang="en-US"/>
              <a:t>Click to edit Master text styles</a:t>
            </a:r>
          </a:p>
        </p:txBody>
      </p:sp>
      <p:sp>
        <p:nvSpPr>
          <p:cNvPr id="4" name="Content Placeholder 3"/>
          <p:cNvSpPr>
            <a:spLocks noGrp="1"/>
          </p:cNvSpPr>
          <p:nvPr>
            <p:ph sz="half" idx="2"/>
          </p:nvPr>
        </p:nvSpPr>
        <p:spPr>
          <a:xfrm>
            <a:off x="520932" y="3904322"/>
            <a:ext cx="3199440" cy="57426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8693" y="2620202"/>
            <a:ext cx="3215196" cy="1284120"/>
          </a:xfrm>
        </p:spPr>
        <p:txBody>
          <a:bodyPr anchor="b"/>
          <a:lstStyle>
            <a:lvl1pPr marL="0" indent="0">
              <a:buNone/>
              <a:defRPr sz="1985" b="1"/>
            </a:lvl1pPr>
            <a:lvl2pPr marL="378150" indent="0">
              <a:buNone/>
              <a:defRPr sz="1654" b="1"/>
            </a:lvl2pPr>
            <a:lvl3pPr marL="756300" indent="0">
              <a:buNone/>
              <a:defRPr sz="1489" b="1"/>
            </a:lvl3pPr>
            <a:lvl4pPr marL="1134450" indent="0">
              <a:buNone/>
              <a:defRPr sz="1323" b="1"/>
            </a:lvl4pPr>
            <a:lvl5pPr marL="1512600" indent="0">
              <a:buNone/>
              <a:defRPr sz="1323" b="1"/>
            </a:lvl5pPr>
            <a:lvl6pPr marL="1890751" indent="0">
              <a:buNone/>
              <a:defRPr sz="1323" b="1"/>
            </a:lvl6pPr>
            <a:lvl7pPr marL="2268901" indent="0">
              <a:buNone/>
              <a:defRPr sz="1323" b="1"/>
            </a:lvl7pPr>
            <a:lvl8pPr marL="2647051" indent="0">
              <a:buNone/>
              <a:defRPr sz="1323" b="1"/>
            </a:lvl8pPr>
            <a:lvl9pPr marL="3025201" indent="0">
              <a:buNone/>
              <a:defRPr sz="1323" b="1"/>
            </a:lvl9pPr>
          </a:lstStyle>
          <a:p>
            <a:pPr lvl="0"/>
            <a:r>
              <a:rPr lang="en-US"/>
              <a:t>Click to edit Master text styles</a:t>
            </a:r>
          </a:p>
        </p:txBody>
      </p:sp>
      <p:sp>
        <p:nvSpPr>
          <p:cNvPr id="6" name="Content Placeholder 5"/>
          <p:cNvSpPr>
            <a:spLocks noGrp="1"/>
          </p:cNvSpPr>
          <p:nvPr>
            <p:ph sz="quarter" idx="4"/>
          </p:nvPr>
        </p:nvSpPr>
        <p:spPr>
          <a:xfrm>
            <a:off x="3828693" y="3904322"/>
            <a:ext cx="3215196" cy="57426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775A4C-43A5-482C-AB38-569816F1E624}" type="datetimeFigureOut">
              <a:rPr lang="en-US" smtClean="0"/>
              <a:t>7/9/2025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070F6F-5D6E-414D-ABD4-316446B2955D}" type="slidenum">
              <a:rPr lang="en-US" smtClean="0"/>
              <a:t>‹#›</a:t>
            </a:fld>
            <a:endParaRPr lang="en-US"/>
          </a:p>
        </p:txBody>
      </p:sp>
    </p:spTree>
    <p:extLst>
      <p:ext uri="{BB962C8B-B14F-4D97-AF65-F5344CB8AC3E}">
        <p14:creationId xmlns:p14="http://schemas.microsoft.com/office/powerpoint/2010/main" val="3847558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775A4C-43A5-482C-AB38-569816F1E624}" type="datetimeFigureOut">
              <a:rPr lang="en-US" smtClean="0"/>
              <a:t>7/9/2025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070F6F-5D6E-414D-ABD4-316446B2955D}" type="slidenum">
              <a:rPr lang="en-US" smtClean="0"/>
              <a:t>‹#›</a:t>
            </a:fld>
            <a:endParaRPr lang="en-US"/>
          </a:p>
        </p:txBody>
      </p:sp>
    </p:spTree>
    <p:extLst>
      <p:ext uri="{BB962C8B-B14F-4D97-AF65-F5344CB8AC3E}">
        <p14:creationId xmlns:p14="http://schemas.microsoft.com/office/powerpoint/2010/main" val="567666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775A4C-43A5-482C-AB38-569816F1E624}" type="datetimeFigureOut">
              <a:rPr lang="en-US" smtClean="0"/>
              <a:t>7/9/2025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070F6F-5D6E-414D-ABD4-316446B2955D}" type="slidenum">
              <a:rPr lang="en-US" smtClean="0"/>
              <a:t>‹#›</a:t>
            </a:fld>
            <a:endParaRPr lang="en-US"/>
          </a:p>
        </p:txBody>
      </p:sp>
    </p:spTree>
    <p:extLst>
      <p:ext uri="{BB962C8B-B14F-4D97-AF65-F5344CB8AC3E}">
        <p14:creationId xmlns:p14="http://schemas.microsoft.com/office/powerpoint/2010/main" val="3457097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931" y="712576"/>
            <a:ext cx="2439216" cy="2494016"/>
          </a:xfrm>
        </p:spPr>
        <p:txBody>
          <a:bodyPr anchor="b"/>
          <a:lstStyle>
            <a:lvl1pPr>
              <a:defRPr sz="2647"/>
            </a:lvl1pPr>
          </a:lstStyle>
          <a:p>
            <a:r>
              <a:rPr lang="en-US"/>
              <a:t>Click to edit Master title style</a:t>
            </a:r>
            <a:endParaRPr lang="en-US" dirty="0"/>
          </a:p>
        </p:txBody>
      </p:sp>
      <p:sp>
        <p:nvSpPr>
          <p:cNvPr id="3" name="Content Placeholder 2"/>
          <p:cNvSpPr>
            <a:spLocks noGrp="1"/>
          </p:cNvSpPr>
          <p:nvPr>
            <p:ph idx="1"/>
          </p:nvPr>
        </p:nvSpPr>
        <p:spPr>
          <a:xfrm>
            <a:off x="3215196" y="1538968"/>
            <a:ext cx="3828693" cy="7595861"/>
          </a:xfrm>
        </p:spPr>
        <p:txBody>
          <a:bodyPr/>
          <a:lstStyle>
            <a:lvl1pPr>
              <a:defRPr sz="2647"/>
            </a:lvl1pPr>
            <a:lvl2pPr>
              <a:defRPr sz="2316"/>
            </a:lvl2pPr>
            <a:lvl3pPr>
              <a:defRPr sz="1985"/>
            </a:lvl3pPr>
            <a:lvl4pPr>
              <a:defRPr sz="1654"/>
            </a:lvl4pPr>
            <a:lvl5pPr>
              <a:defRPr sz="1654"/>
            </a:lvl5pPr>
            <a:lvl6pPr>
              <a:defRPr sz="1654"/>
            </a:lvl6pPr>
            <a:lvl7pPr>
              <a:defRPr sz="1654"/>
            </a:lvl7pPr>
            <a:lvl8pPr>
              <a:defRPr sz="1654"/>
            </a:lvl8pPr>
            <a:lvl9pPr>
              <a:defRPr sz="16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931" y="3206592"/>
            <a:ext cx="2439216" cy="5940607"/>
          </a:xfrm>
        </p:spPr>
        <p:txBody>
          <a:bodyPr/>
          <a:lstStyle>
            <a:lvl1pPr marL="0" indent="0">
              <a:buNone/>
              <a:defRPr sz="1323"/>
            </a:lvl1pPr>
            <a:lvl2pPr marL="378150" indent="0">
              <a:buNone/>
              <a:defRPr sz="1158"/>
            </a:lvl2pPr>
            <a:lvl3pPr marL="756300" indent="0">
              <a:buNone/>
              <a:defRPr sz="993"/>
            </a:lvl3pPr>
            <a:lvl4pPr marL="1134450" indent="0">
              <a:buNone/>
              <a:defRPr sz="827"/>
            </a:lvl4pPr>
            <a:lvl5pPr marL="1512600" indent="0">
              <a:buNone/>
              <a:defRPr sz="827"/>
            </a:lvl5pPr>
            <a:lvl6pPr marL="1890751" indent="0">
              <a:buNone/>
              <a:defRPr sz="827"/>
            </a:lvl6pPr>
            <a:lvl7pPr marL="2268901" indent="0">
              <a:buNone/>
              <a:defRPr sz="827"/>
            </a:lvl7pPr>
            <a:lvl8pPr marL="2647051" indent="0">
              <a:buNone/>
              <a:defRPr sz="827"/>
            </a:lvl8pPr>
            <a:lvl9pPr marL="3025201"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15775A4C-43A5-482C-AB38-569816F1E624}" type="datetimeFigureOut">
              <a:rPr lang="en-US" smtClean="0"/>
              <a:t>7/9/2025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070F6F-5D6E-414D-ABD4-316446B2955D}" type="slidenum">
              <a:rPr lang="en-US" smtClean="0"/>
              <a:t>‹#›</a:t>
            </a:fld>
            <a:endParaRPr lang="en-US"/>
          </a:p>
        </p:txBody>
      </p:sp>
    </p:spTree>
    <p:extLst>
      <p:ext uri="{BB962C8B-B14F-4D97-AF65-F5344CB8AC3E}">
        <p14:creationId xmlns:p14="http://schemas.microsoft.com/office/powerpoint/2010/main" val="2579213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931" y="712576"/>
            <a:ext cx="2439216" cy="2494016"/>
          </a:xfrm>
        </p:spPr>
        <p:txBody>
          <a:bodyPr anchor="b"/>
          <a:lstStyle>
            <a:lvl1pPr>
              <a:defRPr sz="2647"/>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5196" y="1538968"/>
            <a:ext cx="3828693" cy="7595861"/>
          </a:xfrm>
        </p:spPr>
        <p:txBody>
          <a:bodyPr anchor="t"/>
          <a:lstStyle>
            <a:lvl1pPr marL="0" indent="0">
              <a:buNone/>
              <a:defRPr sz="2647"/>
            </a:lvl1pPr>
            <a:lvl2pPr marL="378150" indent="0">
              <a:buNone/>
              <a:defRPr sz="2316"/>
            </a:lvl2pPr>
            <a:lvl3pPr marL="756300" indent="0">
              <a:buNone/>
              <a:defRPr sz="1985"/>
            </a:lvl3pPr>
            <a:lvl4pPr marL="1134450" indent="0">
              <a:buNone/>
              <a:defRPr sz="1654"/>
            </a:lvl4pPr>
            <a:lvl5pPr marL="1512600" indent="0">
              <a:buNone/>
              <a:defRPr sz="1654"/>
            </a:lvl5pPr>
            <a:lvl6pPr marL="1890751" indent="0">
              <a:buNone/>
              <a:defRPr sz="1654"/>
            </a:lvl6pPr>
            <a:lvl7pPr marL="2268901" indent="0">
              <a:buNone/>
              <a:defRPr sz="1654"/>
            </a:lvl7pPr>
            <a:lvl8pPr marL="2647051" indent="0">
              <a:buNone/>
              <a:defRPr sz="1654"/>
            </a:lvl8pPr>
            <a:lvl9pPr marL="3025201" indent="0">
              <a:buNone/>
              <a:defRPr sz="1654"/>
            </a:lvl9pPr>
          </a:lstStyle>
          <a:p>
            <a:r>
              <a:rPr lang="en-US"/>
              <a:t>Click icon to add picture</a:t>
            </a:r>
            <a:endParaRPr lang="en-US" dirty="0"/>
          </a:p>
        </p:txBody>
      </p:sp>
      <p:sp>
        <p:nvSpPr>
          <p:cNvPr id="4" name="Text Placeholder 3"/>
          <p:cNvSpPr>
            <a:spLocks noGrp="1"/>
          </p:cNvSpPr>
          <p:nvPr>
            <p:ph type="body" sz="half" idx="2"/>
          </p:nvPr>
        </p:nvSpPr>
        <p:spPr>
          <a:xfrm>
            <a:off x="520931" y="3206592"/>
            <a:ext cx="2439216" cy="5940607"/>
          </a:xfrm>
        </p:spPr>
        <p:txBody>
          <a:bodyPr/>
          <a:lstStyle>
            <a:lvl1pPr marL="0" indent="0">
              <a:buNone/>
              <a:defRPr sz="1323"/>
            </a:lvl1pPr>
            <a:lvl2pPr marL="378150" indent="0">
              <a:buNone/>
              <a:defRPr sz="1158"/>
            </a:lvl2pPr>
            <a:lvl3pPr marL="756300" indent="0">
              <a:buNone/>
              <a:defRPr sz="993"/>
            </a:lvl3pPr>
            <a:lvl4pPr marL="1134450" indent="0">
              <a:buNone/>
              <a:defRPr sz="827"/>
            </a:lvl4pPr>
            <a:lvl5pPr marL="1512600" indent="0">
              <a:buNone/>
              <a:defRPr sz="827"/>
            </a:lvl5pPr>
            <a:lvl6pPr marL="1890751" indent="0">
              <a:buNone/>
              <a:defRPr sz="827"/>
            </a:lvl6pPr>
            <a:lvl7pPr marL="2268901" indent="0">
              <a:buNone/>
              <a:defRPr sz="827"/>
            </a:lvl7pPr>
            <a:lvl8pPr marL="2647051" indent="0">
              <a:buNone/>
              <a:defRPr sz="827"/>
            </a:lvl8pPr>
            <a:lvl9pPr marL="3025201"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15775A4C-43A5-482C-AB38-569816F1E624}" type="datetimeFigureOut">
              <a:rPr lang="en-US" smtClean="0"/>
              <a:t>7/9/2025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070F6F-5D6E-414D-ABD4-316446B2955D}" type="slidenum">
              <a:rPr lang="en-US" smtClean="0"/>
              <a:t>‹#›</a:t>
            </a:fld>
            <a:endParaRPr lang="en-US"/>
          </a:p>
        </p:txBody>
      </p:sp>
    </p:spTree>
    <p:extLst>
      <p:ext uri="{BB962C8B-B14F-4D97-AF65-F5344CB8AC3E}">
        <p14:creationId xmlns:p14="http://schemas.microsoft.com/office/powerpoint/2010/main" val="1687466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775A4C-43A5-482C-AB38-569816F1E624}" type="datetimeFigureOut">
              <a:rPr lang="en-US" smtClean="0"/>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070F6F-5D6E-414D-ABD4-316446B2955D}" type="slidenum">
              <a:rPr lang="en-US" smtClean="0"/>
              <a:t>‹#›</a:t>
            </a:fld>
            <a:endParaRPr lang="en-US"/>
          </a:p>
        </p:txBody>
      </p:sp>
    </p:spTree>
    <p:extLst>
      <p:ext uri="{BB962C8B-B14F-4D97-AF65-F5344CB8AC3E}">
        <p14:creationId xmlns:p14="http://schemas.microsoft.com/office/powerpoint/2010/main" val="1211757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12165" y="569071"/>
            <a:ext cx="1630740" cy="905812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946" y="569071"/>
            <a:ext cx="4797683" cy="90581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775A4C-43A5-482C-AB38-569816F1E624}" type="datetimeFigureOut">
              <a:rPr lang="en-US" smtClean="0"/>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070F6F-5D6E-414D-ABD4-316446B2955D}" type="slidenum">
              <a:rPr lang="en-US" smtClean="0"/>
              <a:t>‹#›</a:t>
            </a:fld>
            <a:endParaRPr lang="en-US"/>
          </a:p>
        </p:txBody>
      </p:sp>
    </p:spTree>
    <p:extLst>
      <p:ext uri="{BB962C8B-B14F-4D97-AF65-F5344CB8AC3E}">
        <p14:creationId xmlns:p14="http://schemas.microsoft.com/office/powerpoint/2010/main" val="3777044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946" y="569073"/>
            <a:ext cx="6522958" cy="20659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9946" y="2845355"/>
            <a:ext cx="6522958" cy="67818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9946" y="9906786"/>
            <a:ext cx="1701641" cy="569071"/>
          </a:xfrm>
          <a:prstGeom prst="rect">
            <a:avLst/>
          </a:prstGeom>
        </p:spPr>
        <p:txBody>
          <a:bodyPr vert="horz" lIns="91440" tIns="45720" rIns="91440" bIns="45720" rtlCol="0" anchor="ctr"/>
          <a:lstStyle>
            <a:lvl1pPr algn="l">
              <a:defRPr sz="993">
                <a:solidFill>
                  <a:schemeClr val="tx1">
                    <a:tint val="75000"/>
                  </a:schemeClr>
                </a:solidFill>
              </a:defRPr>
            </a:lvl1pPr>
          </a:lstStyle>
          <a:p>
            <a:fld id="{15775A4C-43A5-482C-AB38-569816F1E624}" type="datetimeFigureOut">
              <a:rPr lang="en-US" smtClean="0"/>
              <a:t>7/9/2025</a:t>
            </a:fld>
            <a:endParaRPr lang="en-US"/>
          </a:p>
        </p:txBody>
      </p:sp>
      <p:sp>
        <p:nvSpPr>
          <p:cNvPr id="5" name="Footer Placeholder 4"/>
          <p:cNvSpPr>
            <a:spLocks noGrp="1"/>
          </p:cNvSpPr>
          <p:nvPr>
            <p:ph type="ftr" sz="quarter" idx="3"/>
          </p:nvPr>
        </p:nvSpPr>
        <p:spPr>
          <a:xfrm>
            <a:off x="2505194" y="9906786"/>
            <a:ext cx="2552462" cy="569071"/>
          </a:xfrm>
          <a:prstGeom prst="rect">
            <a:avLst/>
          </a:prstGeom>
        </p:spPr>
        <p:txBody>
          <a:bodyPr vert="horz" lIns="91440" tIns="45720" rIns="91440" bIns="45720" rtlCol="0" anchor="ctr"/>
          <a:lstStyle>
            <a:lvl1pPr algn="ctr">
              <a:defRPr sz="993">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41263" y="9906786"/>
            <a:ext cx="1701641" cy="569071"/>
          </a:xfrm>
          <a:prstGeom prst="rect">
            <a:avLst/>
          </a:prstGeom>
        </p:spPr>
        <p:txBody>
          <a:bodyPr vert="horz" lIns="91440" tIns="45720" rIns="91440" bIns="45720" rtlCol="0" anchor="ctr"/>
          <a:lstStyle>
            <a:lvl1pPr algn="r">
              <a:defRPr sz="993">
                <a:solidFill>
                  <a:schemeClr val="tx1">
                    <a:tint val="75000"/>
                  </a:schemeClr>
                </a:solidFill>
              </a:defRPr>
            </a:lvl1pPr>
          </a:lstStyle>
          <a:p>
            <a:fld id="{57070F6F-5D6E-414D-ABD4-316446B2955D}" type="slidenum">
              <a:rPr lang="en-US" smtClean="0"/>
              <a:t>‹#›</a:t>
            </a:fld>
            <a:endParaRPr lang="en-US"/>
          </a:p>
        </p:txBody>
      </p:sp>
    </p:spTree>
    <p:extLst>
      <p:ext uri="{BB962C8B-B14F-4D97-AF65-F5344CB8AC3E}">
        <p14:creationId xmlns:p14="http://schemas.microsoft.com/office/powerpoint/2010/main" val="130481318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756300" rtl="0" eaLnBrk="1" latinLnBrk="0" hangingPunct="1">
        <a:lnSpc>
          <a:spcPct val="90000"/>
        </a:lnSpc>
        <a:spcBef>
          <a:spcPct val="0"/>
        </a:spcBef>
        <a:buNone/>
        <a:defRPr sz="3639" kern="1200">
          <a:solidFill>
            <a:schemeClr val="tx1"/>
          </a:solidFill>
          <a:latin typeface="+mj-lt"/>
          <a:ea typeface="+mj-ea"/>
          <a:cs typeface="+mj-cs"/>
        </a:defRPr>
      </a:lvl1pPr>
    </p:titleStyle>
    <p:bodyStyle>
      <a:lvl1pPr marL="189075" indent="-189075" algn="l" defTabSz="756300" rtl="0" eaLnBrk="1" latinLnBrk="0" hangingPunct="1">
        <a:lnSpc>
          <a:spcPct val="90000"/>
        </a:lnSpc>
        <a:spcBef>
          <a:spcPts val="827"/>
        </a:spcBef>
        <a:buFont typeface="Arial" panose="020B0604020202020204" pitchFamily="34" charset="0"/>
        <a:buChar char="•"/>
        <a:defRPr sz="2316" kern="1200">
          <a:solidFill>
            <a:schemeClr val="tx1"/>
          </a:solidFill>
          <a:latin typeface="+mn-lt"/>
          <a:ea typeface="+mn-ea"/>
          <a:cs typeface="+mn-cs"/>
        </a:defRPr>
      </a:lvl1pPr>
      <a:lvl2pPr marL="567225" indent="-189075" algn="l" defTabSz="756300" rtl="0" eaLnBrk="1" latinLnBrk="0" hangingPunct="1">
        <a:lnSpc>
          <a:spcPct val="90000"/>
        </a:lnSpc>
        <a:spcBef>
          <a:spcPts val="414"/>
        </a:spcBef>
        <a:buFont typeface="Arial" panose="020B0604020202020204" pitchFamily="34" charset="0"/>
        <a:buChar char="•"/>
        <a:defRPr sz="1985" kern="1200">
          <a:solidFill>
            <a:schemeClr val="tx1"/>
          </a:solidFill>
          <a:latin typeface="+mn-lt"/>
          <a:ea typeface="+mn-ea"/>
          <a:cs typeface="+mn-cs"/>
        </a:defRPr>
      </a:lvl2pPr>
      <a:lvl3pPr marL="945375" indent="-189075" algn="l" defTabSz="756300" rtl="0" eaLnBrk="1" latinLnBrk="0" hangingPunct="1">
        <a:lnSpc>
          <a:spcPct val="90000"/>
        </a:lnSpc>
        <a:spcBef>
          <a:spcPts val="414"/>
        </a:spcBef>
        <a:buFont typeface="Arial" panose="020B0604020202020204" pitchFamily="34" charset="0"/>
        <a:buChar char="•"/>
        <a:defRPr sz="1654" kern="1200">
          <a:solidFill>
            <a:schemeClr val="tx1"/>
          </a:solidFill>
          <a:latin typeface="+mn-lt"/>
          <a:ea typeface="+mn-ea"/>
          <a:cs typeface="+mn-cs"/>
        </a:defRPr>
      </a:lvl3pPr>
      <a:lvl4pPr marL="1323525"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4pPr>
      <a:lvl5pPr marL="1701676"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5pPr>
      <a:lvl6pPr marL="2079826"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6pPr>
      <a:lvl7pPr marL="2457976"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7pPr>
      <a:lvl8pPr marL="2836126"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8pPr>
      <a:lvl9pPr marL="3214276"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9pPr>
    </p:bodyStyle>
    <p:otherStyle>
      <a:defPPr>
        <a:defRPr lang="en-US"/>
      </a:defPPr>
      <a:lvl1pPr marL="0" algn="l" defTabSz="756300" rtl="0" eaLnBrk="1" latinLnBrk="0" hangingPunct="1">
        <a:defRPr sz="1489" kern="1200">
          <a:solidFill>
            <a:schemeClr val="tx1"/>
          </a:solidFill>
          <a:latin typeface="+mn-lt"/>
          <a:ea typeface="+mn-ea"/>
          <a:cs typeface="+mn-cs"/>
        </a:defRPr>
      </a:lvl1pPr>
      <a:lvl2pPr marL="378150" algn="l" defTabSz="756300" rtl="0" eaLnBrk="1" latinLnBrk="0" hangingPunct="1">
        <a:defRPr sz="1489" kern="1200">
          <a:solidFill>
            <a:schemeClr val="tx1"/>
          </a:solidFill>
          <a:latin typeface="+mn-lt"/>
          <a:ea typeface="+mn-ea"/>
          <a:cs typeface="+mn-cs"/>
        </a:defRPr>
      </a:lvl2pPr>
      <a:lvl3pPr marL="756300" algn="l" defTabSz="756300" rtl="0" eaLnBrk="1" latinLnBrk="0" hangingPunct="1">
        <a:defRPr sz="1489" kern="1200">
          <a:solidFill>
            <a:schemeClr val="tx1"/>
          </a:solidFill>
          <a:latin typeface="+mn-lt"/>
          <a:ea typeface="+mn-ea"/>
          <a:cs typeface="+mn-cs"/>
        </a:defRPr>
      </a:lvl3pPr>
      <a:lvl4pPr marL="1134450" algn="l" defTabSz="756300" rtl="0" eaLnBrk="1" latinLnBrk="0" hangingPunct="1">
        <a:defRPr sz="1489" kern="1200">
          <a:solidFill>
            <a:schemeClr val="tx1"/>
          </a:solidFill>
          <a:latin typeface="+mn-lt"/>
          <a:ea typeface="+mn-ea"/>
          <a:cs typeface="+mn-cs"/>
        </a:defRPr>
      </a:lvl4pPr>
      <a:lvl5pPr marL="1512600" algn="l" defTabSz="756300" rtl="0" eaLnBrk="1" latinLnBrk="0" hangingPunct="1">
        <a:defRPr sz="1489" kern="1200">
          <a:solidFill>
            <a:schemeClr val="tx1"/>
          </a:solidFill>
          <a:latin typeface="+mn-lt"/>
          <a:ea typeface="+mn-ea"/>
          <a:cs typeface="+mn-cs"/>
        </a:defRPr>
      </a:lvl5pPr>
      <a:lvl6pPr marL="1890751" algn="l" defTabSz="756300" rtl="0" eaLnBrk="1" latinLnBrk="0" hangingPunct="1">
        <a:defRPr sz="1489" kern="1200">
          <a:solidFill>
            <a:schemeClr val="tx1"/>
          </a:solidFill>
          <a:latin typeface="+mn-lt"/>
          <a:ea typeface="+mn-ea"/>
          <a:cs typeface="+mn-cs"/>
        </a:defRPr>
      </a:lvl6pPr>
      <a:lvl7pPr marL="2268901" algn="l" defTabSz="756300" rtl="0" eaLnBrk="1" latinLnBrk="0" hangingPunct="1">
        <a:defRPr sz="1489" kern="1200">
          <a:solidFill>
            <a:schemeClr val="tx1"/>
          </a:solidFill>
          <a:latin typeface="+mn-lt"/>
          <a:ea typeface="+mn-ea"/>
          <a:cs typeface="+mn-cs"/>
        </a:defRPr>
      </a:lvl7pPr>
      <a:lvl8pPr marL="2647051" algn="l" defTabSz="756300" rtl="0" eaLnBrk="1" latinLnBrk="0" hangingPunct="1">
        <a:defRPr sz="1489" kern="1200">
          <a:solidFill>
            <a:schemeClr val="tx1"/>
          </a:solidFill>
          <a:latin typeface="+mn-lt"/>
          <a:ea typeface="+mn-ea"/>
          <a:cs typeface="+mn-cs"/>
        </a:defRPr>
      </a:lvl8pPr>
      <a:lvl9pPr marL="3025201" algn="l" defTabSz="756300" rtl="0" eaLnBrk="1" latinLnBrk="0" hangingPunct="1">
        <a:defRPr sz="148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1DC1F3-FF71-47C1-B2DC-02DDA1D8BE6A}"/>
              </a:ext>
            </a:extLst>
          </p:cNvPr>
          <p:cNvPicPr>
            <a:picLocks noChangeAspect="1"/>
          </p:cNvPicPr>
          <p:nvPr/>
        </p:nvPicPr>
        <p:blipFill>
          <a:blip r:embed="rId2">
            <a:lum/>
            <a:alphaModFix/>
          </a:blip>
          <a:srcRect/>
          <a:stretch>
            <a:fillRect/>
          </a:stretch>
        </p:blipFill>
        <p:spPr>
          <a:xfrm rot="18598">
            <a:off x="-1010648" y="274383"/>
            <a:ext cx="9584146" cy="1531053"/>
          </a:xfrm>
          <a:prstGeom prst="rect">
            <a:avLst/>
          </a:prstGeom>
          <a:noFill/>
          <a:ln cap="flat">
            <a:noFill/>
          </a:ln>
        </p:spPr>
      </p:pic>
      <p:pic>
        <p:nvPicPr>
          <p:cNvPr id="4" name="Picture 3">
            <a:extLst>
              <a:ext uri="{FF2B5EF4-FFF2-40B4-BE49-F238E27FC236}">
                <a16:creationId xmlns:a16="http://schemas.microsoft.com/office/drawing/2014/main" id="{4422BFB3-0BE6-43A0-BB77-DB64185B8EE8}"/>
              </a:ext>
            </a:extLst>
          </p:cNvPr>
          <p:cNvPicPr>
            <a:picLocks noChangeAspect="1"/>
          </p:cNvPicPr>
          <p:nvPr/>
        </p:nvPicPr>
        <p:blipFill>
          <a:blip r:embed="rId3">
            <a:lum/>
            <a:alphaModFix/>
          </a:blip>
          <a:srcRect/>
          <a:stretch>
            <a:fillRect/>
          </a:stretch>
        </p:blipFill>
        <p:spPr>
          <a:xfrm>
            <a:off x="2033764" y="2681596"/>
            <a:ext cx="2826227" cy="2826227"/>
          </a:xfrm>
          <a:prstGeom prst="rect">
            <a:avLst/>
          </a:prstGeom>
          <a:noFill/>
          <a:ln cap="flat">
            <a:noFill/>
          </a:ln>
        </p:spPr>
      </p:pic>
      <p:sp>
        <p:nvSpPr>
          <p:cNvPr id="5" name="TextBox 3">
            <a:extLst>
              <a:ext uri="{FF2B5EF4-FFF2-40B4-BE49-F238E27FC236}">
                <a16:creationId xmlns:a16="http://schemas.microsoft.com/office/drawing/2014/main" id="{7E6713B9-4F02-40F8-BF85-221F5D26F707}"/>
              </a:ext>
            </a:extLst>
          </p:cNvPr>
          <p:cNvSpPr txBox="1"/>
          <p:nvPr/>
        </p:nvSpPr>
        <p:spPr>
          <a:xfrm>
            <a:off x="167304" y="6077987"/>
            <a:ext cx="6893968" cy="1582881"/>
          </a:xfrm>
          <a:prstGeom prst="rect">
            <a:avLst/>
          </a:prstGeom>
          <a:noFill/>
          <a:ln cap="flat">
            <a:noFill/>
          </a:ln>
        </p:spPr>
        <p:txBody>
          <a:bodyPr vert="horz" wrap="square" lIns="0" tIns="0" rIns="0" bIns="0" anchor="ctr" anchorCtr="1"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fontAlgn="auto" hangingPunct="0">
              <a:lnSpc>
                <a:spcPct val="100000"/>
              </a:lnSpc>
              <a:spcBef>
                <a:spcPts val="0"/>
              </a:spcBef>
              <a:spcAft>
                <a:spcPts val="0"/>
              </a:spcAft>
              <a:buNone/>
              <a:tabLst/>
              <a:defRPr sz="1000" b="0" i="0" u="none" strike="noStrike" kern="0" cap="none" spc="0" baseline="0">
                <a:solidFill>
                  <a:srgbClr val="000000"/>
                </a:solidFill>
                <a:uFillTx/>
                <a:latin typeface="Arial Rounded MT Bold" pitchFamily="34"/>
              </a:defRPr>
            </a:pPr>
            <a:r>
              <a:rPr lang="en-US" sz="2000" b="0" i="1" u="none" strike="noStrike" kern="1200" cap="none" spc="0" baseline="0" dirty="0">
                <a:solidFill>
                  <a:srgbClr val="000000"/>
                </a:solidFill>
                <a:highlight>
                  <a:scrgbClr r="0" g="0" b="0">
                    <a:alpha val="0"/>
                  </a:scrgbClr>
                </a:highlight>
                <a:uFillTx/>
                <a:latin typeface="+mj-lt"/>
                <a:ea typeface="Microsoft YaHei" pitchFamily="2"/>
                <a:cs typeface="Arial" pitchFamily="2"/>
              </a:rPr>
              <a:t>    LAB REPORT NO</a:t>
            </a:r>
            <a:r>
              <a:rPr lang="en-US" sz="2000" b="0" i="1" u="none" strike="noStrike" kern="1200" cap="none" spc="0" baseline="0">
                <a:solidFill>
                  <a:srgbClr val="000000"/>
                </a:solidFill>
                <a:highlight>
                  <a:scrgbClr r="0" g="0" b="0">
                    <a:alpha val="0"/>
                  </a:scrgbClr>
                </a:highlight>
                <a:uFillTx/>
                <a:latin typeface="+mj-lt"/>
                <a:ea typeface="Microsoft YaHei" pitchFamily="2"/>
                <a:cs typeface="Arial" pitchFamily="2"/>
              </a:rPr>
              <a:t>:-0</a:t>
            </a:r>
            <a:endParaRPr lang="en-US" sz="2000" b="0" i="1" u="none" strike="noStrike" kern="1200" cap="none" spc="0" baseline="0" dirty="0">
              <a:solidFill>
                <a:srgbClr val="000000"/>
              </a:solidFill>
              <a:highlight>
                <a:scrgbClr r="0" g="0" b="0">
                  <a:alpha val="0"/>
                </a:scrgbClr>
              </a:highlight>
              <a:uFillTx/>
              <a:latin typeface="+mj-lt"/>
              <a:ea typeface="Microsoft YaHei" pitchFamily="2"/>
              <a:cs typeface="Arial" pitchFamily="2"/>
            </a:endParaRPr>
          </a:p>
          <a:p>
            <a:pPr marL="0" marR="0" lvl="0" indent="0" algn="ctr" defTabSz="457200" rtl="0" fontAlgn="auto" hangingPunct="0">
              <a:lnSpc>
                <a:spcPct val="100000"/>
              </a:lnSpc>
              <a:spcBef>
                <a:spcPts val="0"/>
              </a:spcBef>
              <a:spcAft>
                <a:spcPts val="0"/>
              </a:spcAft>
              <a:buNone/>
              <a:tabLst/>
              <a:defRPr sz="1000" b="0" i="0" u="none" strike="noStrike" kern="0" cap="none" spc="0" baseline="0">
                <a:solidFill>
                  <a:srgbClr val="000000"/>
                </a:solidFill>
                <a:uFillTx/>
                <a:latin typeface="Arial Rounded MT Bold" pitchFamily="34"/>
              </a:defRPr>
            </a:pPr>
            <a:r>
              <a:rPr lang="en-US" sz="2000" b="0" i="1" u="none" strike="noStrike" kern="1200" cap="none" spc="0" baseline="0" dirty="0">
                <a:solidFill>
                  <a:srgbClr val="000000"/>
                </a:solidFill>
                <a:highlight>
                  <a:scrgbClr r="0" g="0" b="0">
                    <a:alpha val="0"/>
                  </a:scrgbClr>
                </a:highlight>
                <a:uFillTx/>
                <a:latin typeface="+mj-lt"/>
                <a:ea typeface="Microsoft YaHei" pitchFamily="2"/>
                <a:cs typeface="Arial" pitchFamily="2"/>
              </a:rPr>
              <a:t>LAB REPORT ON:-</a:t>
            </a:r>
          </a:p>
          <a:p>
            <a:r>
              <a:rPr lang="en-US" sz="2000" dirty="0">
                <a:highlight>
                  <a:scrgbClr r="0" g="0" b="0">
                    <a:alpha val="0"/>
                  </a:scrgbClr>
                </a:highlight>
                <a:latin typeface="+mj-lt"/>
              </a:rPr>
              <a:t>      Eigenvalue and corresponding vector using Power Method</a:t>
            </a:r>
          </a:p>
        </p:txBody>
      </p:sp>
      <p:sp>
        <p:nvSpPr>
          <p:cNvPr id="6" name="TextBox 8">
            <a:extLst>
              <a:ext uri="{FF2B5EF4-FFF2-40B4-BE49-F238E27FC236}">
                <a16:creationId xmlns:a16="http://schemas.microsoft.com/office/drawing/2014/main" id="{6CBE762B-7DF5-40AB-8DE8-F23A06E78F4A}"/>
              </a:ext>
            </a:extLst>
          </p:cNvPr>
          <p:cNvSpPr txBox="1"/>
          <p:nvPr/>
        </p:nvSpPr>
        <p:spPr>
          <a:xfrm>
            <a:off x="573632" y="7859715"/>
            <a:ext cx="6415549" cy="2554540"/>
          </a:xfrm>
          <a:prstGeom prst="rect">
            <a:avLst/>
          </a:prstGeom>
          <a:noFill/>
          <a:ln cap="flat">
            <a:noFill/>
          </a:ln>
        </p:spPr>
        <p:txBody>
          <a:bodyPr vert="horz" wrap="square" lIns="91440" tIns="45720" rIns="91440" bIns="45720" anchor="t" anchorCtr="0" compatLnSpc="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1" u="none" strike="noStrike" kern="1200" cap="none" spc="0" baseline="0" dirty="0">
                <a:solidFill>
                  <a:srgbClr val="000000"/>
                </a:solidFill>
                <a:uFillTx/>
                <a:latin typeface="Calibri"/>
              </a:rPr>
              <a:t>SUMMITTED BY:                               SUMMITTED TO:                                                                            </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1" u="none" strike="noStrike" kern="1200" cap="none" spc="0" baseline="0" dirty="0">
                <a:solidFill>
                  <a:srgbClr val="000000"/>
                </a:solidFill>
                <a:uFillTx/>
                <a:latin typeface="Calibri"/>
              </a:rPr>
              <a:t>Name:Oshan Bajracharya            Department Of ICT</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1" u="none" strike="noStrike" kern="1200" cap="none" spc="0" baseline="0" dirty="0">
                <a:solidFill>
                  <a:srgbClr val="000000"/>
                </a:solidFill>
                <a:uFillTx/>
                <a:latin typeface="Calibri"/>
              </a:rPr>
              <a:t>Roll No: 230328                           Date of Experiment:</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1" u="none" strike="noStrike" kern="1200" cap="none" spc="0" baseline="0" dirty="0">
                <a:solidFill>
                  <a:srgbClr val="000000"/>
                </a:solidFill>
                <a:uFillTx/>
                <a:latin typeface="Calibri"/>
              </a:rPr>
              <a:t>Faculty: BE-Computer                   2082-02-19</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1" u="none" strike="noStrike" kern="1200" cap="none" spc="0" baseline="0" dirty="0">
                <a:solidFill>
                  <a:srgbClr val="000000"/>
                </a:solidFill>
                <a:uFillTx/>
                <a:latin typeface="Calibri"/>
              </a:rPr>
              <a:t>Group: B                                        Date of Submission:</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1" u="none" strike="noStrike" kern="1200" cap="none" spc="0" baseline="0" dirty="0">
                <a:solidFill>
                  <a:srgbClr val="000000"/>
                </a:solidFill>
                <a:uFillTx/>
                <a:latin typeface="Calibri"/>
              </a:rPr>
              <a:t>                                                         </a:t>
            </a:r>
            <a:r>
              <a:rPr lang="en-US" sz="2000" b="0" i="1" u="none" strike="noStrike" kern="0" cap="none" spc="0" baseline="0" dirty="0">
                <a:solidFill>
                  <a:srgbClr val="000000"/>
                </a:solidFill>
                <a:uFillTx/>
                <a:latin typeface="Calibri"/>
              </a:rPr>
              <a:t>2082-03-26</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000" b="0" i="1" u="none" strike="noStrike" kern="1200" cap="none" spc="0" baseline="0" dirty="0">
              <a:solidFill>
                <a:srgbClr val="000000"/>
              </a:solidFill>
              <a:uFillTx/>
              <a:latin typeface="Calibri"/>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000" b="0" i="1" u="sng" strike="noStrike" kern="1200" cap="none" spc="0" baseline="0" dirty="0">
              <a:solidFill>
                <a:srgbClr val="000000"/>
              </a:solidFill>
              <a:uFillTx/>
              <a:latin typeface="Calibri"/>
            </a:endParaRPr>
          </a:p>
        </p:txBody>
      </p:sp>
    </p:spTree>
    <p:extLst>
      <p:ext uri="{BB962C8B-B14F-4D97-AF65-F5344CB8AC3E}">
        <p14:creationId xmlns:p14="http://schemas.microsoft.com/office/powerpoint/2010/main" val="419240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296E49B-F48F-A261-D8E9-A10B5FF0C4E7}"/>
              </a:ext>
            </a:extLst>
          </p:cNvPr>
          <p:cNvSpPr>
            <a:spLocks noGrp="1"/>
          </p:cNvSpPr>
          <p:nvPr>
            <p:ph type="subTitle" idx="1"/>
          </p:nvPr>
        </p:nvSpPr>
        <p:spPr>
          <a:xfrm>
            <a:off x="335279" y="152400"/>
            <a:ext cx="7020561" cy="10424160"/>
          </a:xfrm>
        </p:spPr>
        <p:txBody>
          <a:bodyPr>
            <a:noAutofit/>
          </a:bodyPr>
          <a:lstStyle/>
          <a:p>
            <a:pPr algn="l"/>
            <a:r>
              <a:rPr lang="en-US" sz="1500" b="1" u="sng" dirty="0">
                <a:latin typeface="+mj-lt"/>
              </a:rPr>
              <a:t>TITLE :</a:t>
            </a:r>
          </a:p>
          <a:p>
            <a:pPr algn="l"/>
            <a:r>
              <a:rPr lang="en-US" sz="1500" dirty="0">
                <a:latin typeface="+mj-lt"/>
              </a:rPr>
              <a:t>Eigenvalue and corresponding vector using Power Method</a:t>
            </a:r>
          </a:p>
          <a:p>
            <a:pPr algn="l"/>
            <a:r>
              <a:rPr lang="en-US" sz="1500" b="1" u="sng" dirty="0">
                <a:latin typeface="+mj-lt"/>
              </a:rPr>
              <a:t>OBJECTIVE :</a:t>
            </a:r>
          </a:p>
          <a:p>
            <a:pPr lvl="0" algn="l" defTabSz="914400" eaLnBrk="0" fontAlgn="base" hangingPunct="0">
              <a:lnSpc>
                <a:spcPct val="100000"/>
              </a:lnSpc>
              <a:spcBef>
                <a:spcPct val="0"/>
              </a:spcBef>
              <a:spcAft>
                <a:spcPct val="0"/>
              </a:spcAft>
              <a:buFontTx/>
              <a:buChar char="•"/>
            </a:pPr>
            <a:r>
              <a:rPr lang="en-US" altLang="en-US" sz="1500" dirty="0">
                <a:latin typeface="+mj-lt"/>
              </a:rPr>
              <a:t>To understand and implement the Power Method for finding the largest eigenvalue and its corresponding eigenvector of a square matrix.</a:t>
            </a:r>
          </a:p>
          <a:p>
            <a:pPr lvl="0" algn="l" defTabSz="914400" eaLnBrk="0" fontAlgn="base" hangingPunct="0">
              <a:lnSpc>
                <a:spcPct val="100000"/>
              </a:lnSpc>
              <a:spcBef>
                <a:spcPct val="0"/>
              </a:spcBef>
              <a:spcAft>
                <a:spcPct val="0"/>
              </a:spcAft>
              <a:buFontTx/>
              <a:buChar char="•"/>
            </a:pPr>
            <a:r>
              <a:rPr lang="en-US" altLang="en-US" sz="1500" dirty="0">
                <a:latin typeface="+mj-lt"/>
              </a:rPr>
              <a:t>To demonstrate the use of iterative numerical techniques in solving eigenvalue problems using C programming.</a:t>
            </a:r>
          </a:p>
          <a:p>
            <a:pPr lvl="0" algn="l" defTabSz="914400" eaLnBrk="0" fontAlgn="base" hangingPunct="0">
              <a:lnSpc>
                <a:spcPct val="100000"/>
              </a:lnSpc>
              <a:spcBef>
                <a:spcPct val="0"/>
              </a:spcBef>
              <a:spcAft>
                <a:spcPct val="0"/>
              </a:spcAft>
            </a:pPr>
            <a:r>
              <a:rPr lang="en-US" altLang="en-US" sz="1500" b="1" u="sng" dirty="0">
                <a:latin typeface="+mj-lt"/>
              </a:rPr>
              <a:t>THEORY :</a:t>
            </a:r>
          </a:p>
          <a:p>
            <a:pPr lvl="0" algn="l" defTabSz="914400" eaLnBrk="0" fontAlgn="base" hangingPunct="0">
              <a:lnSpc>
                <a:spcPct val="100000"/>
              </a:lnSpc>
              <a:spcBef>
                <a:spcPct val="0"/>
              </a:spcBef>
              <a:spcAft>
                <a:spcPct val="0"/>
              </a:spcAft>
            </a:pPr>
            <a:r>
              <a:rPr lang="en-US" sz="1500" dirty="0">
                <a:latin typeface="+mj-lt"/>
              </a:rPr>
              <a:t>The Power Method is an iterative technique used to find the largest eigenvalue and its corresponding eigenvector of a square matrix. Starting with an initial vector, the method repeatedly multiplies the matrix with the vector and normalizes the result. Over several iterations, the vector converges to the dominant eigenvector, and the scaling factor gives the dominant eigenvalue.</a:t>
            </a:r>
          </a:p>
          <a:p>
            <a:pPr lvl="0" algn="l" defTabSz="914400" eaLnBrk="0" fontAlgn="base" hangingPunct="0">
              <a:lnSpc>
                <a:spcPct val="100000"/>
              </a:lnSpc>
              <a:spcBef>
                <a:spcPct val="0"/>
              </a:spcBef>
              <a:spcAft>
                <a:spcPct val="0"/>
              </a:spcAft>
            </a:pPr>
            <a:r>
              <a:rPr lang="en-US" sz="1500" b="1" u="sng" dirty="0">
                <a:latin typeface="+mj-lt"/>
              </a:rPr>
              <a:t>ALGORITHM:</a:t>
            </a:r>
          </a:p>
          <a:p>
            <a:pPr lvl="0" algn="l" defTabSz="914400" eaLnBrk="0" fontAlgn="base" hangingPunct="0">
              <a:lnSpc>
                <a:spcPct val="100000"/>
              </a:lnSpc>
              <a:spcBef>
                <a:spcPct val="0"/>
              </a:spcBef>
              <a:spcAft>
                <a:spcPct val="0"/>
              </a:spcAft>
            </a:pPr>
            <a:r>
              <a:rPr lang="en-US" altLang="en-US" sz="1500" dirty="0">
                <a:latin typeface="+mj-lt"/>
              </a:rPr>
              <a:t>1)Start</a:t>
            </a:r>
          </a:p>
          <a:p>
            <a:pPr lvl="0" algn="l" defTabSz="914400" eaLnBrk="0" fontAlgn="base" hangingPunct="0">
              <a:lnSpc>
                <a:spcPct val="100000"/>
              </a:lnSpc>
              <a:spcBef>
                <a:spcPct val="0"/>
              </a:spcBef>
              <a:spcAft>
                <a:spcPct val="0"/>
              </a:spcAft>
            </a:pPr>
            <a:r>
              <a:rPr lang="en-US" altLang="en-US" sz="1500" dirty="0">
                <a:latin typeface="+mj-lt"/>
              </a:rPr>
              <a:t>2)Input the order n of the square matrix.</a:t>
            </a:r>
          </a:p>
          <a:p>
            <a:pPr lvl="0" algn="l" defTabSz="914400" eaLnBrk="0" fontAlgn="base" hangingPunct="0">
              <a:lnSpc>
                <a:spcPct val="100000"/>
              </a:lnSpc>
              <a:spcBef>
                <a:spcPct val="0"/>
              </a:spcBef>
              <a:spcAft>
                <a:spcPct val="0"/>
              </a:spcAft>
            </a:pPr>
            <a:r>
              <a:rPr lang="en-US" altLang="en-US" sz="1500" dirty="0">
                <a:latin typeface="+mj-lt"/>
              </a:rPr>
              <a:t>3)Input the matrix A[n][n].</a:t>
            </a:r>
          </a:p>
          <a:p>
            <a:pPr lvl="0" algn="l" defTabSz="914400" eaLnBrk="0" fontAlgn="base" hangingPunct="0">
              <a:lnSpc>
                <a:spcPct val="100000"/>
              </a:lnSpc>
              <a:spcBef>
                <a:spcPct val="0"/>
              </a:spcBef>
              <a:spcAft>
                <a:spcPct val="0"/>
              </a:spcAft>
            </a:pPr>
            <a:r>
              <a:rPr lang="en-US" altLang="en-US" sz="1500" dirty="0">
                <a:latin typeface="+mj-lt"/>
              </a:rPr>
              <a:t>4)Input the initial guess vector X[n].</a:t>
            </a:r>
          </a:p>
          <a:p>
            <a:pPr lvl="0" algn="l" defTabSz="914400" eaLnBrk="0" fontAlgn="base" hangingPunct="0">
              <a:lnSpc>
                <a:spcPct val="100000"/>
              </a:lnSpc>
              <a:spcBef>
                <a:spcPct val="0"/>
              </a:spcBef>
              <a:spcAft>
                <a:spcPct val="0"/>
              </a:spcAft>
            </a:pPr>
            <a:r>
              <a:rPr lang="en-US" altLang="en-US" sz="1500" dirty="0">
                <a:latin typeface="+mj-lt"/>
              </a:rPr>
              <a:t>5)Set tolerance ε (e.g., 0.0001) and initialize eigenvalue λ = 0.</a:t>
            </a:r>
          </a:p>
          <a:p>
            <a:pPr lvl="0" algn="l" defTabSz="914400" eaLnBrk="0" fontAlgn="base" hangingPunct="0">
              <a:lnSpc>
                <a:spcPct val="100000"/>
              </a:lnSpc>
              <a:spcBef>
                <a:spcPct val="0"/>
              </a:spcBef>
              <a:spcAft>
                <a:spcPct val="0"/>
              </a:spcAft>
            </a:pPr>
            <a:r>
              <a:rPr lang="en-US" altLang="en-US" sz="1500" dirty="0">
                <a:latin typeface="+mj-lt"/>
              </a:rPr>
              <a:t>6)Repeat until convergence:</a:t>
            </a:r>
            <a:br>
              <a:rPr lang="en-US" altLang="en-US" sz="1500" dirty="0">
                <a:latin typeface="+mj-lt"/>
              </a:rPr>
            </a:br>
            <a:r>
              <a:rPr lang="en-US" altLang="en-US" sz="1500" dirty="0">
                <a:latin typeface="+mj-lt"/>
              </a:rPr>
              <a:t>a. Multiply Y = A × X</a:t>
            </a:r>
            <a:br>
              <a:rPr lang="en-US" altLang="en-US" sz="1500" dirty="0">
                <a:latin typeface="+mj-lt"/>
              </a:rPr>
            </a:br>
            <a:r>
              <a:rPr lang="en-US" altLang="en-US" sz="1500" dirty="0">
                <a:latin typeface="+mj-lt"/>
              </a:rPr>
              <a:t>b. Find the maximum absolute value in Y as the new λ</a:t>
            </a:r>
            <a:br>
              <a:rPr lang="en-US" altLang="en-US" sz="1500" dirty="0">
                <a:latin typeface="+mj-lt"/>
              </a:rPr>
            </a:br>
            <a:r>
              <a:rPr lang="en-US" altLang="en-US" sz="1500" dirty="0">
                <a:latin typeface="+mj-lt"/>
              </a:rPr>
              <a:t>c. Normalize Y by dividing each element by λ to get the new X</a:t>
            </a:r>
            <a:br>
              <a:rPr lang="en-US" altLang="en-US" sz="1500" dirty="0">
                <a:latin typeface="+mj-lt"/>
              </a:rPr>
            </a:br>
            <a:r>
              <a:rPr lang="en-US" altLang="en-US" sz="1500" dirty="0">
                <a:latin typeface="+mj-lt"/>
              </a:rPr>
              <a:t>d. Check if |λ - Previous_λ| &lt; ε, if yes, break</a:t>
            </a:r>
          </a:p>
          <a:p>
            <a:pPr lvl="0" algn="l" defTabSz="914400" eaLnBrk="0" fontAlgn="base" hangingPunct="0">
              <a:lnSpc>
                <a:spcPct val="100000"/>
              </a:lnSpc>
              <a:spcBef>
                <a:spcPct val="0"/>
              </a:spcBef>
              <a:spcAft>
                <a:spcPct val="0"/>
              </a:spcAft>
            </a:pPr>
            <a:r>
              <a:rPr lang="en-US" altLang="en-US" sz="1500" dirty="0">
                <a:latin typeface="+mj-lt"/>
              </a:rPr>
              <a:t>7)Print the final eigenvalue λ and eigenvector X</a:t>
            </a:r>
          </a:p>
          <a:p>
            <a:pPr lvl="0" algn="l" defTabSz="914400" eaLnBrk="0" fontAlgn="base" hangingPunct="0">
              <a:lnSpc>
                <a:spcPct val="100000"/>
              </a:lnSpc>
              <a:spcBef>
                <a:spcPct val="0"/>
              </a:spcBef>
              <a:spcAft>
                <a:spcPct val="0"/>
              </a:spcAft>
            </a:pPr>
            <a:r>
              <a:rPr lang="en-US" altLang="en-US" sz="1500" dirty="0">
                <a:latin typeface="+mj-lt"/>
              </a:rPr>
              <a:t>8)Stop</a:t>
            </a:r>
            <a:endParaRPr lang="en-US" sz="1500" b="1" u="sng" dirty="0">
              <a:latin typeface="+mj-lt"/>
            </a:endParaRPr>
          </a:p>
          <a:p>
            <a:pPr lvl="0" algn="l" defTabSz="914400" eaLnBrk="0" fontAlgn="base" hangingPunct="0">
              <a:lnSpc>
                <a:spcPct val="100000"/>
              </a:lnSpc>
              <a:spcBef>
                <a:spcPct val="0"/>
              </a:spcBef>
              <a:spcAft>
                <a:spcPct val="0"/>
              </a:spcAft>
            </a:pPr>
            <a:r>
              <a:rPr lang="en-US" altLang="en-US" sz="1500" b="1" u="sng" dirty="0">
                <a:latin typeface="+mj-lt"/>
              </a:rPr>
              <a:t>SOURCE CODE :</a:t>
            </a:r>
          </a:p>
          <a:p>
            <a:pPr algn="l"/>
            <a:r>
              <a:rPr lang="en-US" sz="1500" dirty="0">
                <a:latin typeface="+mj-lt"/>
              </a:rPr>
              <a:t>#include &lt;</a:t>
            </a:r>
            <a:r>
              <a:rPr lang="en-US" sz="1500" dirty="0" err="1">
                <a:latin typeface="+mj-lt"/>
              </a:rPr>
              <a:t>stdio.h</a:t>
            </a:r>
            <a:r>
              <a:rPr lang="en-US" sz="1500" dirty="0">
                <a:latin typeface="+mj-lt"/>
              </a:rPr>
              <a:t>&gt;</a:t>
            </a:r>
          </a:p>
          <a:p>
            <a:pPr algn="l"/>
            <a:r>
              <a:rPr lang="en-US" sz="1500" dirty="0">
                <a:latin typeface="+mj-lt"/>
              </a:rPr>
              <a:t>#include &lt;</a:t>
            </a:r>
            <a:r>
              <a:rPr lang="en-US" sz="1500" dirty="0" err="1">
                <a:latin typeface="+mj-lt"/>
              </a:rPr>
              <a:t>math.h</a:t>
            </a:r>
            <a:r>
              <a:rPr lang="en-US" sz="1500" dirty="0">
                <a:latin typeface="+mj-lt"/>
              </a:rPr>
              <a:t>&gt;</a:t>
            </a:r>
            <a:br>
              <a:rPr lang="en-US" sz="1500" dirty="0">
                <a:latin typeface="+mj-lt"/>
              </a:rPr>
            </a:br>
            <a:r>
              <a:rPr lang="en-US" sz="1500" dirty="0">
                <a:latin typeface="+mj-lt"/>
              </a:rPr>
              <a:t>#define E 0.001           </a:t>
            </a:r>
          </a:p>
          <a:p>
            <a:pPr algn="l"/>
            <a:r>
              <a:rPr lang="en-US" sz="1500" dirty="0">
                <a:latin typeface="+mj-lt"/>
              </a:rPr>
              <a:t>#define MAX_SIZE 10       </a:t>
            </a:r>
            <a:br>
              <a:rPr lang="en-US" sz="1500" dirty="0">
                <a:latin typeface="+mj-lt"/>
              </a:rPr>
            </a:br>
            <a:r>
              <a:rPr lang="en-US" sz="1500" dirty="0">
                <a:latin typeface="+mj-lt"/>
              </a:rPr>
              <a:t>int iteration = 0;</a:t>
            </a:r>
            <a:br>
              <a:rPr lang="en-US" sz="1500" dirty="0">
                <a:latin typeface="+mj-lt"/>
              </a:rPr>
            </a:br>
            <a:r>
              <a:rPr lang="en-US" sz="1500" dirty="0">
                <a:latin typeface="+mj-lt"/>
              </a:rPr>
              <a:t>void </a:t>
            </a:r>
            <a:r>
              <a:rPr lang="en-US" sz="1500" dirty="0" err="1">
                <a:latin typeface="+mj-lt"/>
              </a:rPr>
              <a:t>MatrixMultiply</a:t>
            </a:r>
            <a:r>
              <a:rPr lang="en-US" sz="1500" dirty="0">
                <a:latin typeface="+mj-lt"/>
              </a:rPr>
              <a:t>(float A[MAX_SIZE][MAX_SIZE], float X[MAX_SIZE], float Result[MAX_SIZE], int n) {</a:t>
            </a:r>
          </a:p>
          <a:p>
            <a:pPr algn="l"/>
            <a:r>
              <a:rPr lang="en-US" sz="1500" dirty="0">
                <a:latin typeface="+mj-lt"/>
              </a:rPr>
              <a:t>    for (int </a:t>
            </a:r>
            <a:r>
              <a:rPr lang="en-US" sz="1500" dirty="0" err="1">
                <a:latin typeface="+mj-lt"/>
              </a:rPr>
              <a:t>i</a:t>
            </a:r>
            <a:r>
              <a:rPr lang="en-US" sz="1500" dirty="0">
                <a:latin typeface="+mj-lt"/>
              </a:rPr>
              <a:t> = 0; </a:t>
            </a:r>
            <a:r>
              <a:rPr lang="en-US" sz="1500" dirty="0" err="1">
                <a:latin typeface="+mj-lt"/>
              </a:rPr>
              <a:t>i</a:t>
            </a:r>
            <a:r>
              <a:rPr lang="en-US" sz="1500" dirty="0">
                <a:latin typeface="+mj-lt"/>
              </a:rPr>
              <a:t> &lt; n; </a:t>
            </a:r>
            <a:r>
              <a:rPr lang="en-US" sz="1500" dirty="0" err="1">
                <a:latin typeface="+mj-lt"/>
              </a:rPr>
              <a:t>i</a:t>
            </a:r>
            <a:r>
              <a:rPr lang="en-US" sz="1500" dirty="0">
                <a:latin typeface="+mj-lt"/>
              </a:rPr>
              <a:t>++) {</a:t>
            </a:r>
          </a:p>
          <a:p>
            <a:pPr algn="l"/>
            <a:r>
              <a:rPr lang="en-US" sz="1500" dirty="0">
                <a:latin typeface="+mj-lt"/>
              </a:rPr>
              <a:t>        Result[</a:t>
            </a:r>
            <a:r>
              <a:rPr lang="en-US" sz="1500" dirty="0" err="1">
                <a:latin typeface="+mj-lt"/>
              </a:rPr>
              <a:t>i</a:t>
            </a:r>
            <a:r>
              <a:rPr lang="en-US" sz="1500" dirty="0">
                <a:latin typeface="+mj-lt"/>
              </a:rPr>
              <a:t>] = 0;</a:t>
            </a:r>
          </a:p>
          <a:p>
            <a:pPr algn="l"/>
            <a:r>
              <a:rPr lang="en-US" sz="1500" dirty="0">
                <a:latin typeface="+mj-lt"/>
              </a:rPr>
              <a:t>        for (int j = 0; j &lt; n; </a:t>
            </a:r>
            <a:r>
              <a:rPr lang="en-US" sz="1500" dirty="0" err="1">
                <a:latin typeface="+mj-lt"/>
              </a:rPr>
              <a:t>j++</a:t>
            </a:r>
            <a:r>
              <a:rPr lang="en-US" sz="1500" dirty="0">
                <a:latin typeface="+mj-lt"/>
              </a:rPr>
              <a:t>) {</a:t>
            </a:r>
          </a:p>
          <a:p>
            <a:pPr algn="l"/>
            <a:r>
              <a:rPr lang="en-US" sz="1500" dirty="0">
                <a:latin typeface="+mj-lt"/>
              </a:rPr>
              <a:t>            Result[</a:t>
            </a:r>
            <a:r>
              <a:rPr lang="en-US" sz="1500" dirty="0" err="1">
                <a:latin typeface="+mj-lt"/>
              </a:rPr>
              <a:t>i</a:t>
            </a:r>
            <a:r>
              <a:rPr lang="en-US" sz="1500" dirty="0">
                <a:latin typeface="+mj-lt"/>
              </a:rPr>
              <a:t>] += A[</a:t>
            </a:r>
            <a:r>
              <a:rPr lang="en-US" sz="1500" dirty="0" err="1">
                <a:latin typeface="+mj-lt"/>
              </a:rPr>
              <a:t>i</a:t>
            </a:r>
            <a:r>
              <a:rPr lang="en-US" sz="1500" dirty="0">
                <a:latin typeface="+mj-lt"/>
              </a:rPr>
              <a:t>][j] * X[j];</a:t>
            </a:r>
          </a:p>
          <a:p>
            <a:pPr algn="l"/>
            <a:r>
              <a:rPr lang="en-US" sz="1500" dirty="0">
                <a:latin typeface="+mj-lt"/>
              </a:rPr>
              <a:t>        } }  }</a:t>
            </a:r>
          </a:p>
          <a:p>
            <a:pPr algn="l"/>
            <a:r>
              <a:rPr lang="en-US" sz="1500" dirty="0">
                <a:latin typeface="+mj-lt"/>
              </a:rPr>
              <a:t>float Normalize(float Y[MAX_SIZE], float X[MAX_SIZE], int n) {</a:t>
            </a:r>
          </a:p>
          <a:p>
            <a:pPr algn="l"/>
            <a:r>
              <a:rPr lang="en-US" sz="1500" dirty="0">
                <a:latin typeface="+mj-lt"/>
              </a:rPr>
              <a:t>    float </a:t>
            </a:r>
            <a:r>
              <a:rPr lang="en-US" sz="1500" dirty="0" err="1">
                <a:latin typeface="+mj-lt"/>
              </a:rPr>
              <a:t>max_val</a:t>
            </a:r>
            <a:r>
              <a:rPr lang="en-US" sz="1500" dirty="0">
                <a:latin typeface="+mj-lt"/>
              </a:rPr>
              <a:t> = </a:t>
            </a:r>
            <a:r>
              <a:rPr lang="en-US" sz="1500" dirty="0" err="1">
                <a:latin typeface="+mj-lt"/>
              </a:rPr>
              <a:t>fabsf</a:t>
            </a:r>
            <a:r>
              <a:rPr lang="en-US" sz="1500" dirty="0">
                <a:latin typeface="+mj-lt"/>
              </a:rPr>
              <a:t>(Y[0]);</a:t>
            </a:r>
          </a:p>
          <a:p>
            <a:pPr algn="l"/>
            <a:br>
              <a:rPr lang="en-US" sz="1500" dirty="0">
                <a:latin typeface="+mj-lt"/>
              </a:rPr>
            </a:br>
            <a:endParaRPr lang="en-US" sz="1500" dirty="0">
              <a:latin typeface="+mj-lt"/>
            </a:endParaRPr>
          </a:p>
        </p:txBody>
      </p:sp>
    </p:spTree>
    <p:extLst>
      <p:ext uri="{BB962C8B-B14F-4D97-AF65-F5344CB8AC3E}">
        <p14:creationId xmlns:p14="http://schemas.microsoft.com/office/powerpoint/2010/main" val="167997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A41302-334F-0AA4-84EA-5A058B406EA6}"/>
              </a:ext>
            </a:extLst>
          </p:cNvPr>
          <p:cNvSpPr>
            <a:spLocks noGrp="1"/>
          </p:cNvSpPr>
          <p:nvPr>
            <p:ph idx="1"/>
          </p:nvPr>
        </p:nvSpPr>
        <p:spPr>
          <a:xfrm>
            <a:off x="286512" y="182879"/>
            <a:ext cx="6957568" cy="10342881"/>
          </a:xfrm>
        </p:spPr>
        <p:txBody>
          <a:bodyPr>
            <a:noAutofit/>
          </a:bodyPr>
          <a:lstStyle/>
          <a:p>
            <a:pPr marL="0" indent="0">
              <a:buNone/>
            </a:pPr>
            <a:r>
              <a:rPr lang="en-US" sz="1500" dirty="0"/>
              <a:t>    for (int </a:t>
            </a:r>
            <a:r>
              <a:rPr lang="en-US" sz="1500" dirty="0" err="1"/>
              <a:t>i</a:t>
            </a:r>
            <a:r>
              <a:rPr lang="en-US" sz="1500" dirty="0"/>
              <a:t> = 1; </a:t>
            </a:r>
            <a:r>
              <a:rPr lang="en-US" sz="1500" dirty="0" err="1"/>
              <a:t>i</a:t>
            </a:r>
            <a:r>
              <a:rPr lang="en-US" sz="1500" dirty="0"/>
              <a:t> &lt; n; </a:t>
            </a:r>
            <a:r>
              <a:rPr lang="en-US" sz="1500" dirty="0" err="1"/>
              <a:t>i</a:t>
            </a:r>
            <a:r>
              <a:rPr lang="en-US" sz="1500" dirty="0"/>
              <a:t>++) {</a:t>
            </a:r>
          </a:p>
          <a:p>
            <a:pPr marL="0" indent="0">
              <a:buNone/>
            </a:pPr>
            <a:r>
              <a:rPr lang="en-US" sz="1500" dirty="0"/>
              <a:t>        if (</a:t>
            </a:r>
            <a:r>
              <a:rPr lang="en-US" sz="1500" dirty="0" err="1"/>
              <a:t>fabsf</a:t>
            </a:r>
            <a:r>
              <a:rPr lang="en-US" sz="1500" dirty="0"/>
              <a:t>(Y[</a:t>
            </a:r>
            <a:r>
              <a:rPr lang="en-US" sz="1500" dirty="0" err="1"/>
              <a:t>i</a:t>
            </a:r>
            <a:r>
              <a:rPr lang="en-US" sz="1500" dirty="0"/>
              <a:t>]) &gt; </a:t>
            </a:r>
            <a:r>
              <a:rPr lang="en-US" sz="1500" dirty="0" err="1"/>
              <a:t>max_val</a:t>
            </a:r>
            <a:r>
              <a:rPr lang="en-US" sz="1500" dirty="0"/>
              <a:t>) {</a:t>
            </a:r>
          </a:p>
          <a:p>
            <a:pPr marL="0" indent="0">
              <a:buNone/>
            </a:pPr>
            <a:r>
              <a:rPr lang="en-US" sz="1500" dirty="0"/>
              <a:t>            </a:t>
            </a:r>
            <a:r>
              <a:rPr lang="en-US" sz="1500" dirty="0" err="1"/>
              <a:t>max_val</a:t>
            </a:r>
            <a:r>
              <a:rPr lang="en-US" sz="1500" dirty="0"/>
              <a:t> = </a:t>
            </a:r>
            <a:r>
              <a:rPr lang="en-US" sz="1500" dirty="0" err="1"/>
              <a:t>fabsf</a:t>
            </a:r>
            <a:r>
              <a:rPr lang="en-US" sz="1500" dirty="0"/>
              <a:t>(Y[</a:t>
            </a:r>
            <a:r>
              <a:rPr lang="en-US" sz="1500" dirty="0" err="1"/>
              <a:t>i</a:t>
            </a:r>
            <a:r>
              <a:rPr lang="en-US" sz="1500" dirty="0"/>
              <a:t>]);</a:t>
            </a:r>
          </a:p>
          <a:p>
            <a:pPr marL="0" indent="0">
              <a:buNone/>
            </a:pPr>
            <a:r>
              <a:rPr lang="en-US" sz="1500" dirty="0"/>
              <a:t>        }  }</a:t>
            </a:r>
          </a:p>
          <a:p>
            <a:pPr marL="0" indent="0">
              <a:buNone/>
            </a:pPr>
            <a:r>
              <a:rPr lang="en-US" sz="1500" dirty="0"/>
              <a:t>    for (int </a:t>
            </a:r>
            <a:r>
              <a:rPr lang="en-US" sz="1500" dirty="0" err="1"/>
              <a:t>i</a:t>
            </a:r>
            <a:r>
              <a:rPr lang="en-US" sz="1500" dirty="0"/>
              <a:t> = 0; </a:t>
            </a:r>
            <a:r>
              <a:rPr lang="en-US" sz="1500" dirty="0" err="1"/>
              <a:t>i</a:t>
            </a:r>
            <a:r>
              <a:rPr lang="en-US" sz="1500" dirty="0"/>
              <a:t> &lt; n; </a:t>
            </a:r>
            <a:r>
              <a:rPr lang="en-US" sz="1500" dirty="0" err="1"/>
              <a:t>i</a:t>
            </a:r>
            <a:r>
              <a:rPr lang="en-US" sz="1500" dirty="0"/>
              <a:t>++) {</a:t>
            </a:r>
          </a:p>
          <a:p>
            <a:pPr marL="0" indent="0">
              <a:buNone/>
            </a:pPr>
            <a:r>
              <a:rPr lang="en-US" sz="1500" dirty="0"/>
              <a:t>        X[</a:t>
            </a:r>
            <a:r>
              <a:rPr lang="en-US" sz="1500" dirty="0" err="1"/>
              <a:t>i</a:t>
            </a:r>
            <a:r>
              <a:rPr lang="en-US" sz="1500" dirty="0"/>
              <a:t>] = Y[</a:t>
            </a:r>
            <a:r>
              <a:rPr lang="en-US" sz="1500" dirty="0" err="1"/>
              <a:t>i</a:t>
            </a:r>
            <a:r>
              <a:rPr lang="en-US" sz="1500" dirty="0"/>
              <a:t>] / </a:t>
            </a:r>
            <a:r>
              <a:rPr lang="en-US" sz="1500" dirty="0" err="1"/>
              <a:t>max_val</a:t>
            </a:r>
            <a:r>
              <a:rPr lang="en-US" sz="1500" dirty="0"/>
              <a:t>;</a:t>
            </a:r>
          </a:p>
          <a:p>
            <a:pPr marL="0" indent="0">
              <a:buNone/>
            </a:pPr>
            <a:r>
              <a:rPr lang="en-US" sz="1500" dirty="0"/>
              <a:t>    }</a:t>
            </a:r>
          </a:p>
          <a:p>
            <a:pPr marL="0" indent="0">
              <a:buNone/>
            </a:pPr>
            <a:r>
              <a:rPr lang="en-US" sz="1500" dirty="0"/>
              <a:t>    return </a:t>
            </a:r>
            <a:r>
              <a:rPr lang="en-US" sz="1500" dirty="0" err="1"/>
              <a:t>max_val</a:t>
            </a:r>
            <a:r>
              <a:rPr lang="en-US" sz="1500" dirty="0"/>
              <a:t>;</a:t>
            </a:r>
          </a:p>
          <a:p>
            <a:pPr marL="0" indent="0">
              <a:buNone/>
            </a:pPr>
            <a:r>
              <a:rPr lang="en-US" sz="1500" dirty="0"/>
              <a:t>}</a:t>
            </a:r>
          </a:p>
          <a:p>
            <a:pPr marL="0" indent="0">
              <a:buNone/>
            </a:pPr>
            <a:br>
              <a:rPr lang="en-US" sz="1500" dirty="0"/>
            </a:br>
            <a:r>
              <a:rPr lang="en-US" sz="1500" dirty="0"/>
              <a:t>int main() {</a:t>
            </a:r>
          </a:p>
          <a:p>
            <a:pPr marL="0" indent="0">
              <a:buNone/>
            </a:pPr>
            <a:r>
              <a:rPr lang="en-US" sz="1500" dirty="0"/>
              <a:t>  float A[MAX_SIZE][MAX_SIZE], X[MAX_SIZE], Y[MAX_SIZE];</a:t>
            </a:r>
          </a:p>
          <a:p>
            <a:pPr marL="0" indent="0">
              <a:buNone/>
            </a:pPr>
            <a:r>
              <a:rPr lang="en-US" sz="1500" dirty="0"/>
              <a:t>  float </a:t>
            </a:r>
            <a:r>
              <a:rPr lang="en-US" sz="1500" dirty="0" err="1"/>
              <a:t>Lambda_New</a:t>
            </a:r>
            <a:r>
              <a:rPr lang="en-US" sz="1500" dirty="0"/>
              <a:t> = 0.0, </a:t>
            </a:r>
            <a:r>
              <a:rPr lang="en-US" sz="1500" dirty="0" err="1"/>
              <a:t>Lambda_Old</a:t>
            </a:r>
            <a:r>
              <a:rPr lang="en-US" sz="1500" dirty="0"/>
              <a:t> = 0.0;   int n;</a:t>
            </a:r>
            <a:br>
              <a:rPr lang="en-US" sz="1500" dirty="0"/>
            </a:br>
            <a:r>
              <a:rPr lang="en-US" sz="1500" dirty="0"/>
              <a:t>    </a:t>
            </a:r>
            <a:r>
              <a:rPr lang="en-US" sz="1500" dirty="0" err="1"/>
              <a:t>printf</a:t>
            </a:r>
            <a:r>
              <a:rPr lang="en-US" sz="1500" dirty="0"/>
              <a:t>("Order of Matrix (max %d): ", MAX_SIZE);</a:t>
            </a:r>
          </a:p>
          <a:p>
            <a:pPr marL="0" indent="0">
              <a:buNone/>
            </a:pPr>
            <a:r>
              <a:rPr lang="en-US" sz="1500" dirty="0"/>
              <a:t>    </a:t>
            </a:r>
            <a:r>
              <a:rPr lang="en-US" sz="1500" dirty="0" err="1"/>
              <a:t>scanf</a:t>
            </a:r>
            <a:r>
              <a:rPr lang="en-US" sz="1500" dirty="0"/>
              <a:t>("%d", &amp;n);</a:t>
            </a:r>
            <a:br>
              <a:rPr lang="en-US" sz="1500" dirty="0"/>
            </a:br>
            <a:r>
              <a:rPr lang="en-US" sz="1500" dirty="0"/>
              <a:t>    if (n &lt;= 0 || n &gt; MAX_SIZE) {</a:t>
            </a:r>
          </a:p>
          <a:p>
            <a:pPr marL="0" indent="0">
              <a:buNone/>
            </a:pPr>
            <a:r>
              <a:rPr lang="en-US" sz="1500" dirty="0"/>
              <a:t>        </a:t>
            </a:r>
            <a:r>
              <a:rPr lang="en-US" sz="1500" dirty="0" err="1"/>
              <a:t>printf</a:t>
            </a:r>
            <a:r>
              <a:rPr lang="en-US" sz="1500" dirty="0"/>
              <a:t>("Invalid matrix order. Please enter a value between 1 and %d.\</a:t>
            </a:r>
            <a:r>
              <a:rPr lang="en-US" sz="1500" dirty="0" err="1"/>
              <a:t>n",MAX_SIZE</a:t>
            </a:r>
            <a:r>
              <a:rPr lang="en-US" sz="1500" dirty="0"/>
              <a:t>);</a:t>
            </a:r>
          </a:p>
          <a:p>
            <a:pPr marL="0" indent="0">
              <a:buNone/>
            </a:pPr>
            <a:r>
              <a:rPr lang="en-US" sz="1500" dirty="0"/>
              <a:t>        return 1;</a:t>
            </a:r>
          </a:p>
          <a:p>
            <a:pPr marL="0" indent="0">
              <a:buNone/>
            </a:pPr>
            <a:r>
              <a:rPr lang="en-US" sz="1500" dirty="0"/>
              <a:t>    }</a:t>
            </a:r>
            <a:br>
              <a:rPr lang="en-US" sz="1500" dirty="0"/>
            </a:br>
            <a:r>
              <a:rPr lang="en-US" sz="1500" dirty="0"/>
              <a:t>    </a:t>
            </a:r>
            <a:r>
              <a:rPr lang="en-US" sz="1500" dirty="0" err="1"/>
              <a:t>printf</a:t>
            </a:r>
            <a:r>
              <a:rPr lang="en-US" sz="1500" dirty="0"/>
              <a:t>("Enter the elements of the matrix A:\n");</a:t>
            </a:r>
          </a:p>
          <a:p>
            <a:pPr marL="0" indent="0">
              <a:buNone/>
            </a:pPr>
            <a:r>
              <a:rPr lang="en-US" sz="1500" dirty="0"/>
              <a:t>    for (int </a:t>
            </a:r>
            <a:r>
              <a:rPr lang="en-US" sz="1500" dirty="0" err="1"/>
              <a:t>i</a:t>
            </a:r>
            <a:r>
              <a:rPr lang="en-US" sz="1500" dirty="0"/>
              <a:t> = 0; </a:t>
            </a:r>
            <a:r>
              <a:rPr lang="en-US" sz="1500" dirty="0" err="1"/>
              <a:t>i</a:t>
            </a:r>
            <a:r>
              <a:rPr lang="en-US" sz="1500" dirty="0"/>
              <a:t> &lt; n; </a:t>
            </a:r>
            <a:r>
              <a:rPr lang="en-US" sz="1500" dirty="0" err="1"/>
              <a:t>i</a:t>
            </a:r>
            <a:r>
              <a:rPr lang="en-US" sz="1500" dirty="0"/>
              <a:t>++) {</a:t>
            </a:r>
          </a:p>
          <a:p>
            <a:pPr marL="0" indent="0">
              <a:buNone/>
            </a:pPr>
            <a:r>
              <a:rPr lang="en-US" sz="1500" dirty="0"/>
              <a:t>        for (int j = 0; j &lt; n; </a:t>
            </a:r>
            <a:r>
              <a:rPr lang="en-US" sz="1500" dirty="0" err="1"/>
              <a:t>j++</a:t>
            </a:r>
            <a:r>
              <a:rPr lang="en-US" sz="1500" dirty="0"/>
              <a:t>) {</a:t>
            </a:r>
          </a:p>
          <a:p>
            <a:pPr marL="0" indent="0">
              <a:buNone/>
            </a:pPr>
            <a:r>
              <a:rPr lang="en-US" sz="1500" dirty="0"/>
              <a:t>            </a:t>
            </a:r>
            <a:r>
              <a:rPr lang="en-US" sz="1500" dirty="0" err="1"/>
              <a:t>printf</a:t>
            </a:r>
            <a:r>
              <a:rPr lang="en-US" sz="1500" dirty="0"/>
              <a:t>("A[%d][%d]: ", </a:t>
            </a:r>
            <a:r>
              <a:rPr lang="en-US" sz="1500" dirty="0" err="1"/>
              <a:t>i</a:t>
            </a:r>
            <a:r>
              <a:rPr lang="en-US" sz="1500" dirty="0"/>
              <a:t>, j);</a:t>
            </a:r>
          </a:p>
          <a:p>
            <a:pPr marL="0" indent="0">
              <a:buNone/>
            </a:pPr>
            <a:r>
              <a:rPr lang="en-US" sz="1500" dirty="0"/>
              <a:t>            </a:t>
            </a:r>
            <a:r>
              <a:rPr lang="en-US" sz="1500" dirty="0" err="1"/>
              <a:t>scanf</a:t>
            </a:r>
            <a:r>
              <a:rPr lang="en-US" sz="1500" dirty="0"/>
              <a:t>("%f", &amp;A[</a:t>
            </a:r>
            <a:r>
              <a:rPr lang="en-US" sz="1500" dirty="0" err="1"/>
              <a:t>i</a:t>
            </a:r>
            <a:r>
              <a:rPr lang="en-US" sz="1500" dirty="0"/>
              <a:t>][j]);</a:t>
            </a:r>
          </a:p>
          <a:p>
            <a:pPr marL="0" indent="0">
              <a:buNone/>
            </a:pPr>
            <a:r>
              <a:rPr lang="en-US" sz="1500" dirty="0"/>
              <a:t>        }   }</a:t>
            </a:r>
            <a:br>
              <a:rPr lang="en-US" sz="1500" dirty="0"/>
            </a:br>
            <a:r>
              <a:rPr lang="en-US" sz="1500" dirty="0"/>
              <a:t>    </a:t>
            </a:r>
            <a:r>
              <a:rPr lang="en-US" sz="1500" dirty="0" err="1"/>
              <a:t>printf</a:t>
            </a:r>
            <a:r>
              <a:rPr lang="en-US" sz="1500" dirty="0"/>
              <a:t>("\</a:t>
            </a:r>
            <a:r>
              <a:rPr lang="en-US" sz="1500" dirty="0" err="1"/>
              <a:t>nEnter</a:t>
            </a:r>
            <a:r>
              <a:rPr lang="en-US" sz="1500" dirty="0"/>
              <a:t> the elements of the initial eigenvector:\n");</a:t>
            </a:r>
          </a:p>
          <a:p>
            <a:pPr marL="0" indent="0">
              <a:buNone/>
            </a:pPr>
            <a:r>
              <a:rPr lang="en-US" sz="1500" dirty="0"/>
              <a:t>    for (int </a:t>
            </a:r>
            <a:r>
              <a:rPr lang="en-US" sz="1500" dirty="0" err="1"/>
              <a:t>i</a:t>
            </a:r>
            <a:r>
              <a:rPr lang="en-US" sz="1500" dirty="0"/>
              <a:t> = 0; </a:t>
            </a:r>
            <a:r>
              <a:rPr lang="en-US" sz="1500" dirty="0" err="1"/>
              <a:t>i</a:t>
            </a:r>
            <a:r>
              <a:rPr lang="en-US" sz="1500" dirty="0"/>
              <a:t> &lt; n; </a:t>
            </a:r>
            <a:r>
              <a:rPr lang="en-US" sz="1500" dirty="0" err="1"/>
              <a:t>i</a:t>
            </a:r>
            <a:r>
              <a:rPr lang="en-US" sz="1500" dirty="0"/>
              <a:t>++) {</a:t>
            </a:r>
          </a:p>
          <a:p>
            <a:pPr marL="0" indent="0">
              <a:buNone/>
            </a:pPr>
            <a:r>
              <a:rPr lang="en-US" sz="1500" dirty="0"/>
              <a:t>        </a:t>
            </a:r>
            <a:r>
              <a:rPr lang="en-US" sz="1500" dirty="0" err="1"/>
              <a:t>printf</a:t>
            </a:r>
            <a:r>
              <a:rPr lang="en-US" sz="1500" dirty="0"/>
              <a:t>("X[%d]: ", </a:t>
            </a:r>
            <a:r>
              <a:rPr lang="en-US" sz="1500" dirty="0" err="1"/>
              <a:t>i</a:t>
            </a:r>
            <a:r>
              <a:rPr lang="en-US" sz="1500" dirty="0"/>
              <a:t>);</a:t>
            </a:r>
          </a:p>
          <a:p>
            <a:pPr marL="0" indent="0">
              <a:buNone/>
            </a:pPr>
            <a:r>
              <a:rPr lang="en-US" sz="1500" dirty="0"/>
              <a:t>        </a:t>
            </a:r>
            <a:r>
              <a:rPr lang="en-US" sz="1500" dirty="0" err="1"/>
              <a:t>scanf</a:t>
            </a:r>
            <a:r>
              <a:rPr lang="en-US" sz="1500" dirty="0"/>
              <a:t>("%f", &amp;X[</a:t>
            </a:r>
            <a:r>
              <a:rPr lang="en-US" sz="1500" dirty="0" err="1"/>
              <a:t>i</a:t>
            </a:r>
            <a:r>
              <a:rPr lang="en-US" sz="1500" dirty="0"/>
              <a:t>]);</a:t>
            </a:r>
          </a:p>
          <a:p>
            <a:pPr marL="0" indent="0">
              <a:buNone/>
            </a:pPr>
            <a:r>
              <a:rPr lang="en-US" sz="1500" dirty="0"/>
              <a:t>    } do {</a:t>
            </a:r>
          </a:p>
          <a:p>
            <a:pPr marL="0" indent="0">
              <a:buNone/>
            </a:pPr>
            <a:r>
              <a:rPr lang="en-US" sz="1500" dirty="0"/>
              <a:t>        iteration++;</a:t>
            </a:r>
          </a:p>
          <a:p>
            <a:pPr marL="0" indent="0">
              <a:buNone/>
            </a:pPr>
            <a:r>
              <a:rPr lang="en-US" sz="1500" dirty="0"/>
              <a:t>        </a:t>
            </a:r>
            <a:r>
              <a:rPr lang="en-US" sz="1500" dirty="0" err="1"/>
              <a:t>Lambda_Old</a:t>
            </a:r>
            <a:r>
              <a:rPr lang="en-US" sz="1500" dirty="0"/>
              <a:t> = </a:t>
            </a:r>
            <a:r>
              <a:rPr lang="en-US" sz="1500" dirty="0" err="1"/>
              <a:t>Lambda_New</a:t>
            </a:r>
            <a:r>
              <a:rPr lang="en-US" sz="1500" dirty="0"/>
              <a:t>;</a:t>
            </a:r>
          </a:p>
          <a:p>
            <a:pPr marL="0" indent="0">
              <a:buNone/>
            </a:pPr>
            <a:r>
              <a:rPr lang="en-US" sz="1500" dirty="0"/>
              <a:t>        </a:t>
            </a:r>
            <a:r>
              <a:rPr lang="en-US" sz="1500" dirty="0" err="1"/>
              <a:t>MatrixMultiply</a:t>
            </a:r>
            <a:r>
              <a:rPr lang="en-US" sz="1500" dirty="0"/>
              <a:t>(A, X, Y, n);</a:t>
            </a:r>
          </a:p>
          <a:p>
            <a:pPr marL="0" indent="0">
              <a:buNone/>
            </a:pPr>
            <a:r>
              <a:rPr lang="en-US" sz="1500" dirty="0"/>
              <a:t>        </a:t>
            </a:r>
            <a:r>
              <a:rPr lang="en-US" sz="1500" dirty="0" err="1"/>
              <a:t>Lambda_New</a:t>
            </a:r>
            <a:r>
              <a:rPr lang="en-US" sz="1500" dirty="0"/>
              <a:t> = Normalize(Y, X, n);</a:t>
            </a:r>
          </a:p>
          <a:p>
            <a:pPr marL="0" indent="0">
              <a:buNone/>
            </a:pPr>
            <a:r>
              <a:rPr lang="en-US" sz="1500" dirty="0"/>
              <a:t>    } while (</a:t>
            </a:r>
            <a:r>
              <a:rPr lang="en-US" sz="1500" dirty="0" err="1"/>
              <a:t>fabsf</a:t>
            </a:r>
            <a:r>
              <a:rPr lang="en-US" sz="1500" dirty="0"/>
              <a:t>(</a:t>
            </a:r>
            <a:r>
              <a:rPr lang="en-US" sz="1500" dirty="0" err="1"/>
              <a:t>Lambda_New</a:t>
            </a:r>
            <a:r>
              <a:rPr lang="en-US" sz="1500" dirty="0"/>
              <a:t> - </a:t>
            </a:r>
            <a:r>
              <a:rPr lang="en-US" sz="1500" dirty="0" err="1"/>
              <a:t>Lambda_Old</a:t>
            </a:r>
            <a:r>
              <a:rPr lang="en-US" sz="1500" dirty="0"/>
              <a:t>) &gt; E);</a:t>
            </a:r>
          </a:p>
          <a:p>
            <a:pPr marL="0" indent="0">
              <a:buNone/>
            </a:pPr>
            <a:br>
              <a:rPr lang="en-US" sz="1500" dirty="0"/>
            </a:br>
            <a:br>
              <a:rPr lang="en-US" sz="1500" dirty="0"/>
            </a:br>
            <a:endParaRPr lang="en-US" sz="1500" dirty="0"/>
          </a:p>
          <a:p>
            <a:pPr marL="0" lvl="0" indent="0" defTabSz="914400" eaLnBrk="0" fontAlgn="base" hangingPunct="0">
              <a:lnSpc>
                <a:spcPct val="100000"/>
              </a:lnSpc>
              <a:spcBef>
                <a:spcPct val="0"/>
              </a:spcBef>
              <a:spcAft>
                <a:spcPct val="0"/>
              </a:spcAft>
              <a:buNone/>
            </a:pPr>
            <a:endParaRPr lang="en-US" altLang="en-US" sz="1500" b="1" u="sng"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p:txBody>
      </p:sp>
    </p:spTree>
    <p:extLst>
      <p:ext uri="{BB962C8B-B14F-4D97-AF65-F5344CB8AC3E}">
        <p14:creationId xmlns:p14="http://schemas.microsoft.com/office/powerpoint/2010/main" val="2195544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C2B0C43-02ED-A88F-6A1F-5935A73C154A}"/>
              </a:ext>
            </a:extLst>
          </p:cNvPr>
          <p:cNvSpPr>
            <a:spLocks noGrp="1"/>
          </p:cNvSpPr>
          <p:nvPr>
            <p:ph type="subTitle" idx="1"/>
          </p:nvPr>
        </p:nvSpPr>
        <p:spPr>
          <a:xfrm>
            <a:off x="406400" y="314960"/>
            <a:ext cx="6817360" cy="10180320"/>
          </a:xfrm>
        </p:spPr>
        <p:txBody>
          <a:bodyPr>
            <a:normAutofit/>
          </a:bodyPr>
          <a:lstStyle/>
          <a:p>
            <a:pPr algn="l"/>
            <a:r>
              <a:rPr lang="en-US" sz="1500" dirty="0">
                <a:latin typeface="+mj-lt"/>
              </a:rPr>
              <a:t>    </a:t>
            </a:r>
            <a:r>
              <a:rPr lang="en-US" sz="1500" dirty="0" err="1">
                <a:latin typeface="+mj-lt"/>
              </a:rPr>
              <a:t>printf</a:t>
            </a:r>
            <a:r>
              <a:rPr lang="en-US" sz="1500" dirty="0">
                <a:latin typeface="+mj-lt"/>
              </a:rPr>
              <a:t>("\</a:t>
            </a:r>
            <a:r>
              <a:rPr lang="en-US" sz="1500" dirty="0" err="1">
                <a:latin typeface="+mj-lt"/>
              </a:rPr>
              <a:t>nConverged</a:t>
            </a:r>
            <a:r>
              <a:rPr lang="en-US" sz="1500" dirty="0">
                <a:latin typeface="+mj-lt"/>
              </a:rPr>
              <a:t> in %d iterations.\n", iteration);</a:t>
            </a:r>
          </a:p>
          <a:p>
            <a:pPr algn="l"/>
            <a:r>
              <a:rPr lang="en-US" sz="1500" dirty="0">
                <a:latin typeface="+mj-lt"/>
              </a:rPr>
              <a:t>    </a:t>
            </a:r>
            <a:r>
              <a:rPr lang="en-US" sz="1500" dirty="0" err="1">
                <a:latin typeface="+mj-lt"/>
              </a:rPr>
              <a:t>printf</a:t>
            </a:r>
            <a:r>
              <a:rPr lang="en-US" sz="1500" dirty="0">
                <a:latin typeface="+mj-lt"/>
              </a:rPr>
              <a:t>("The Largest Eigenvalue = %.4f\n", </a:t>
            </a:r>
            <a:r>
              <a:rPr lang="en-US" sz="1500" dirty="0" err="1">
                <a:latin typeface="+mj-lt"/>
              </a:rPr>
              <a:t>Lambda_New</a:t>
            </a:r>
            <a:r>
              <a:rPr lang="en-US" sz="1500" dirty="0">
                <a:latin typeface="+mj-lt"/>
              </a:rPr>
              <a:t>);</a:t>
            </a:r>
          </a:p>
          <a:p>
            <a:pPr algn="l"/>
            <a:r>
              <a:rPr lang="en-US" sz="1500" dirty="0">
                <a:latin typeface="+mj-lt"/>
              </a:rPr>
              <a:t>    </a:t>
            </a:r>
            <a:r>
              <a:rPr lang="en-US" sz="1500" dirty="0" err="1">
                <a:latin typeface="+mj-lt"/>
              </a:rPr>
              <a:t>printf</a:t>
            </a:r>
            <a:r>
              <a:rPr lang="en-US" sz="1500" dirty="0">
                <a:latin typeface="+mj-lt"/>
              </a:rPr>
              <a:t>("The Corresponding Eigenvector:\n");</a:t>
            </a:r>
          </a:p>
          <a:p>
            <a:pPr algn="l"/>
            <a:r>
              <a:rPr lang="en-US" sz="1500" dirty="0">
                <a:latin typeface="+mj-lt"/>
              </a:rPr>
              <a:t>    for (int </a:t>
            </a:r>
            <a:r>
              <a:rPr lang="en-US" sz="1500" dirty="0" err="1">
                <a:latin typeface="+mj-lt"/>
              </a:rPr>
              <a:t>i</a:t>
            </a:r>
            <a:r>
              <a:rPr lang="en-US" sz="1500" dirty="0">
                <a:latin typeface="+mj-lt"/>
              </a:rPr>
              <a:t> = 0; </a:t>
            </a:r>
            <a:r>
              <a:rPr lang="en-US" sz="1500" dirty="0" err="1">
                <a:latin typeface="+mj-lt"/>
              </a:rPr>
              <a:t>i</a:t>
            </a:r>
            <a:r>
              <a:rPr lang="en-US" sz="1500" dirty="0">
                <a:latin typeface="+mj-lt"/>
              </a:rPr>
              <a:t> &lt; n; </a:t>
            </a:r>
            <a:r>
              <a:rPr lang="en-US" sz="1500" dirty="0" err="1">
                <a:latin typeface="+mj-lt"/>
              </a:rPr>
              <a:t>i</a:t>
            </a:r>
            <a:r>
              <a:rPr lang="en-US" sz="1500" dirty="0">
                <a:latin typeface="+mj-lt"/>
              </a:rPr>
              <a:t>++) {</a:t>
            </a:r>
          </a:p>
          <a:p>
            <a:pPr algn="l"/>
            <a:r>
              <a:rPr lang="en-US" sz="1500" dirty="0">
                <a:latin typeface="+mj-lt"/>
              </a:rPr>
              <a:t>        </a:t>
            </a:r>
            <a:r>
              <a:rPr lang="en-US" sz="1500" dirty="0" err="1">
                <a:latin typeface="+mj-lt"/>
              </a:rPr>
              <a:t>printf</a:t>
            </a:r>
            <a:r>
              <a:rPr lang="en-US" sz="1500" dirty="0">
                <a:latin typeface="+mj-lt"/>
              </a:rPr>
              <a:t>("X[%d] = %.4f\n", </a:t>
            </a:r>
            <a:r>
              <a:rPr lang="en-US" sz="1500" dirty="0" err="1">
                <a:latin typeface="+mj-lt"/>
              </a:rPr>
              <a:t>i</a:t>
            </a:r>
            <a:r>
              <a:rPr lang="en-US" sz="1500" dirty="0">
                <a:latin typeface="+mj-lt"/>
              </a:rPr>
              <a:t>, X[</a:t>
            </a:r>
            <a:r>
              <a:rPr lang="en-US" sz="1500" dirty="0" err="1">
                <a:latin typeface="+mj-lt"/>
              </a:rPr>
              <a:t>i</a:t>
            </a:r>
            <a:r>
              <a:rPr lang="en-US" sz="1500" dirty="0">
                <a:latin typeface="+mj-lt"/>
              </a:rPr>
              <a:t>]);</a:t>
            </a:r>
          </a:p>
          <a:p>
            <a:pPr algn="l"/>
            <a:r>
              <a:rPr lang="en-US" sz="1500" dirty="0">
                <a:latin typeface="+mj-lt"/>
              </a:rPr>
              <a:t>    }</a:t>
            </a:r>
          </a:p>
          <a:p>
            <a:pPr algn="l"/>
            <a:r>
              <a:rPr lang="en-US" sz="1500" dirty="0">
                <a:latin typeface="+mj-lt"/>
              </a:rPr>
              <a:t>   return 0;</a:t>
            </a:r>
          </a:p>
          <a:p>
            <a:pPr algn="l"/>
            <a:r>
              <a:rPr lang="en-US" sz="1500" dirty="0">
                <a:latin typeface="+mj-lt"/>
              </a:rPr>
              <a:t>}</a:t>
            </a:r>
          </a:p>
          <a:p>
            <a:pPr algn="l"/>
            <a:r>
              <a:rPr lang="en-US" sz="1500" b="1" u="sng" dirty="0">
                <a:latin typeface="+mj-lt"/>
              </a:rPr>
              <a:t>OUTPUT :</a:t>
            </a:r>
          </a:p>
          <a:p>
            <a:pPr algn="l"/>
            <a:endParaRPr lang="en-US" sz="1500" b="1" u="sng" dirty="0">
              <a:latin typeface="+mj-lt"/>
            </a:endParaRPr>
          </a:p>
          <a:p>
            <a:pPr algn="l"/>
            <a:endParaRPr lang="en-US" sz="1500" b="1" u="sng" dirty="0">
              <a:latin typeface="+mj-lt"/>
            </a:endParaRPr>
          </a:p>
          <a:p>
            <a:pPr algn="l"/>
            <a:endParaRPr lang="en-US" sz="1500" b="1" u="sng" dirty="0">
              <a:latin typeface="+mj-lt"/>
            </a:endParaRPr>
          </a:p>
          <a:p>
            <a:pPr algn="l"/>
            <a:endParaRPr lang="en-US" sz="1500" b="1" u="sng" dirty="0">
              <a:latin typeface="+mj-lt"/>
            </a:endParaRPr>
          </a:p>
          <a:p>
            <a:pPr algn="l"/>
            <a:endParaRPr lang="en-US" sz="1500" b="1" u="sng" dirty="0">
              <a:latin typeface="+mj-lt"/>
            </a:endParaRPr>
          </a:p>
          <a:p>
            <a:pPr algn="l"/>
            <a:endParaRPr lang="en-US" sz="1500" b="1" u="sng" dirty="0">
              <a:latin typeface="+mj-lt"/>
            </a:endParaRPr>
          </a:p>
          <a:p>
            <a:pPr algn="l"/>
            <a:endParaRPr lang="en-US" sz="1500" b="1" u="sng" dirty="0">
              <a:latin typeface="+mj-lt"/>
            </a:endParaRPr>
          </a:p>
          <a:p>
            <a:pPr algn="l"/>
            <a:endParaRPr lang="en-US" sz="1500" b="1" u="sng" dirty="0">
              <a:latin typeface="+mj-lt"/>
            </a:endParaRPr>
          </a:p>
          <a:p>
            <a:pPr algn="l"/>
            <a:endParaRPr lang="en-US" sz="1500" b="1" u="sng" dirty="0">
              <a:latin typeface="+mj-lt"/>
            </a:endParaRPr>
          </a:p>
          <a:p>
            <a:pPr algn="l"/>
            <a:endParaRPr lang="en-US" sz="1500" b="1" u="sng" dirty="0">
              <a:latin typeface="+mj-lt"/>
            </a:endParaRPr>
          </a:p>
          <a:p>
            <a:pPr algn="l"/>
            <a:endParaRPr lang="en-US" sz="1500" b="1" u="sng" dirty="0">
              <a:latin typeface="+mj-lt"/>
            </a:endParaRPr>
          </a:p>
          <a:p>
            <a:pPr algn="l"/>
            <a:r>
              <a:rPr lang="en-US" sz="1500" b="1" u="sng" dirty="0">
                <a:latin typeface="+mj-lt"/>
              </a:rPr>
              <a:t>DISCUSSION</a:t>
            </a:r>
          </a:p>
          <a:p>
            <a:pPr algn="l"/>
            <a:r>
              <a:rPr lang="en-US" sz="1500" dirty="0">
                <a:latin typeface="+mj-lt"/>
              </a:rPr>
              <a:t>In this experiment, the Power Method was implemented using C to compute the dominant eigenvalue and its corresponding eigenvector of a square matrix. The method involved repeated multiplication of a matrix with an initial vector, followed by normalization. The process was repeated until the change in eigenvalue between iterations was minimal. The algorithm showed good convergence when the dominant eigenvalue was distinct and the initial guess was appropriate.</a:t>
            </a:r>
          </a:p>
          <a:p>
            <a:pPr algn="l"/>
            <a:r>
              <a:rPr lang="en-US" sz="1500" b="1" u="sng" dirty="0">
                <a:latin typeface="+mj-lt"/>
              </a:rPr>
              <a:t>CONCLUSION:</a:t>
            </a:r>
          </a:p>
          <a:p>
            <a:pPr algn="l"/>
            <a:r>
              <a:rPr lang="en-US" sz="1500" dirty="0">
                <a:latin typeface="+mj-lt"/>
              </a:rPr>
              <a:t>The experiment successfully showed how the Power Method can be used to solve eigenvalue problems through an iterative approach. It helped in understanding the concept of convergence and the importance of normalization in numerical methods. The main goal of finding the dominant eigenvalue and eigenvector was achieved using a simple and efficient algorithm.</a:t>
            </a:r>
            <a:endParaRPr lang="en-US" sz="1500" b="1" u="sng" dirty="0">
              <a:latin typeface="+mj-lt"/>
            </a:endParaRPr>
          </a:p>
        </p:txBody>
      </p:sp>
      <p:pic>
        <p:nvPicPr>
          <p:cNvPr id="5" name="Picture 4">
            <a:extLst>
              <a:ext uri="{FF2B5EF4-FFF2-40B4-BE49-F238E27FC236}">
                <a16:creationId xmlns:a16="http://schemas.microsoft.com/office/drawing/2014/main" id="{24B85898-E286-200D-9E9A-857CFC4198BC}"/>
              </a:ext>
            </a:extLst>
          </p:cNvPr>
          <p:cNvPicPr>
            <a:picLocks noChangeAspect="1"/>
          </p:cNvPicPr>
          <p:nvPr/>
        </p:nvPicPr>
        <p:blipFill>
          <a:blip r:embed="rId2"/>
          <a:stretch>
            <a:fillRect/>
          </a:stretch>
        </p:blipFill>
        <p:spPr>
          <a:xfrm>
            <a:off x="1868794" y="2803412"/>
            <a:ext cx="4344871" cy="3470065"/>
          </a:xfrm>
          <a:prstGeom prst="rect">
            <a:avLst/>
          </a:prstGeom>
        </p:spPr>
      </p:pic>
    </p:spTree>
    <p:extLst>
      <p:ext uri="{BB962C8B-B14F-4D97-AF65-F5344CB8AC3E}">
        <p14:creationId xmlns:p14="http://schemas.microsoft.com/office/powerpoint/2010/main" val="362126007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32</TotalTime>
  <Words>1052</Words>
  <Application>Microsoft Office PowerPoint</Application>
  <PresentationFormat>Custom</PresentationFormat>
  <Paragraphs>95</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oshan bajracharya</dc:creator>
  <cp:lastModifiedBy>oshan bajracharya</cp:lastModifiedBy>
  <cp:revision>3</cp:revision>
  <dcterms:created xsi:type="dcterms:W3CDTF">2025-07-09T15:03:32Z</dcterms:created>
  <dcterms:modified xsi:type="dcterms:W3CDTF">2025-07-09T15:37:25Z</dcterms:modified>
</cp:coreProperties>
</file>