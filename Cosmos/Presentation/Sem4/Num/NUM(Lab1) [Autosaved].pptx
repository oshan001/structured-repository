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
  </p:notesMasterIdLst>
  <p:sldIdLst>
    <p:sldId id="256" r:id="rId2"/>
    <p:sldId id="257" r:id="rId3"/>
    <p:sldId id="258" r:id="rId4"/>
    <p:sldId id="261" r:id="rId5"/>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52" d="100"/>
          <a:sy n="52" d="100"/>
        </p:scale>
        <p:origin x="2626"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943A1-22FA-4CAF-8EE0-54238668904C}" type="datetimeFigureOut">
              <a:rPr lang="en-US" smtClean="0"/>
              <a:t>5/14/2025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C2928-E6EE-48E4-BDA0-879EFE75A0DF}" type="slidenum">
              <a:rPr lang="en-US" smtClean="0"/>
              <a:t>‹#›</a:t>
            </a:fld>
            <a:endParaRPr lang="en-US"/>
          </a:p>
        </p:txBody>
      </p:sp>
    </p:spTree>
    <p:extLst>
      <p:ext uri="{BB962C8B-B14F-4D97-AF65-F5344CB8AC3E}">
        <p14:creationId xmlns:p14="http://schemas.microsoft.com/office/powerpoint/2010/main" val="310564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4C2928-E6EE-48E4-BDA0-879EFE75A0DF}" type="slidenum">
              <a:rPr lang="en-US" smtClean="0"/>
              <a:t>1</a:t>
            </a:fld>
            <a:endParaRPr lang="en-US"/>
          </a:p>
        </p:txBody>
      </p:sp>
    </p:spTree>
    <p:extLst>
      <p:ext uri="{BB962C8B-B14F-4D97-AF65-F5344CB8AC3E}">
        <p14:creationId xmlns:p14="http://schemas.microsoft.com/office/powerpoint/2010/main" val="3626349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358F62-4369-46C5-B534-4861455C28D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3209739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358F62-4369-46C5-B534-4861455C28D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574476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358F62-4369-46C5-B534-4861455C28D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6893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358F62-4369-46C5-B534-4861455C28D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258140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358F62-4369-46C5-B534-4861455C28D0}" type="datetimeFigureOut">
              <a:rPr lang="en-US" smtClean="0"/>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3889650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358F62-4369-46C5-B534-4861455C28D0}" type="datetimeFigureOut">
              <a:rPr lang="en-US" smtClean="0"/>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429290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358F62-4369-46C5-B534-4861455C28D0}" type="datetimeFigureOut">
              <a:rPr lang="en-US" smtClean="0"/>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3513467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76358F62-4369-46C5-B534-4861455C28D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2987725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76358F62-4369-46C5-B534-4861455C28D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2069907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358F62-4369-46C5-B534-4861455C28D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3123805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358F62-4369-46C5-B534-4861455C28D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2355F9-EE0E-48ED-AC24-03E351E4689F}" type="slidenum">
              <a:rPr lang="en-US" smtClean="0"/>
              <a:t>‹#›</a:t>
            </a:fld>
            <a:endParaRPr lang="en-US"/>
          </a:p>
        </p:txBody>
      </p:sp>
    </p:spTree>
    <p:extLst>
      <p:ext uri="{BB962C8B-B14F-4D97-AF65-F5344CB8AC3E}">
        <p14:creationId xmlns:p14="http://schemas.microsoft.com/office/powerpoint/2010/main" val="2157893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76358F62-4369-46C5-B534-4861455C28D0}" type="datetimeFigureOut">
              <a:rPr lang="en-US" smtClean="0"/>
              <a:t>5/14/2025</a:t>
            </a:fld>
            <a:endParaRPr 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662355F9-EE0E-48ED-AC24-03E351E4689F}" type="slidenum">
              <a:rPr lang="en-US" smtClean="0"/>
              <a:t>‹#›</a:t>
            </a:fld>
            <a:endParaRPr lang="en-US"/>
          </a:p>
        </p:txBody>
      </p:sp>
    </p:spTree>
    <p:extLst>
      <p:ext uri="{BB962C8B-B14F-4D97-AF65-F5344CB8AC3E}">
        <p14:creationId xmlns:p14="http://schemas.microsoft.com/office/powerpoint/2010/main" val="35585667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Subtitle 2">
                <a:extLst>
                  <a:ext uri="{FF2B5EF4-FFF2-40B4-BE49-F238E27FC236}">
                    <a16:creationId xmlns:a16="http://schemas.microsoft.com/office/drawing/2014/main" id="{FC2AD1F8-14C7-A26C-3C0C-F0A474F0ECB3}"/>
                  </a:ext>
                </a:extLst>
              </p:cNvPr>
              <p:cNvSpPr>
                <a:spLocks noGrp="1"/>
              </p:cNvSpPr>
              <p:nvPr>
                <p:ph type="subTitle" idx="1"/>
              </p:nvPr>
            </p:nvSpPr>
            <p:spPr>
              <a:xfrm>
                <a:off x="560439" y="1683569"/>
                <a:ext cx="6356555" cy="8714043"/>
              </a:xfrm>
            </p:spPr>
            <p:txBody>
              <a:bodyPr>
                <a:noAutofit/>
              </a:bodyPr>
              <a:lstStyle/>
              <a:p>
                <a:pPr algn="l"/>
                <a:r>
                  <a:rPr lang="en-US" sz="2000" b="1" i="1" u="sng" dirty="0">
                    <a:latin typeface="+mj-lt"/>
                  </a:rPr>
                  <a:t>Tittle :</a:t>
                </a:r>
              </a:p>
              <a:p>
                <a:pPr algn="l"/>
                <a:r>
                  <a:rPr lang="en-US" sz="2000" i="1" dirty="0">
                    <a:latin typeface="+mj-lt"/>
                  </a:rPr>
                  <a:t>Bisection Method   for solution of non </a:t>
                </a:r>
                <a:r>
                  <a:rPr lang="en-US" sz="2000" i="1" dirty="0" err="1">
                    <a:latin typeface="+mj-lt"/>
                  </a:rPr>
                  <a:t>linear,equation</a:t>
                </a:r>
                <a:r>
                  <a:rPr lang="en-US" sz="2000" i="1" dirty="0">
                    <a:latin typeface="+mj-lt"/>
                  </a:rPr>
                  <a:t> </a:t>
                </a:r>
              </a:p>
              <a:p>
                <a:pPr algn="l"/>
                <a:r>
                  <a:rPr lang="en-US" sz="2000" b="1" i="1" u="sng" dirty="0">
                    <a:latin typeface="+mj-lt"/>
                  </a:rPr>
                  <a:t>Objective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1" u="none" strike="noStrike" cap="none" normalizeH="0" baseline="0" dirty="0">
                    <a:ln>
                      <a:noFill/>
                    </a:ln>
                    <a:solidFill>
                      <a:schemeClr val="tx1"/>
                    </a:solidFill>
                    <a:effectLst/>
                    <a:latin typeface="+mj-lt"/>
                  </a:rPr>
                  <a:t>To learn how to find roots of nonlinear equations using numerical methods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1" u="none" strike="noStrike" cap="none" normalizeH="0" baseline="0" dirty="0">
                    <a:ln>
                      <a:noFill/>
                    </a:ln>
                    <a:solidFill>
                      <a:schemeClr val="tx1"/>
                    </a:solidFill>
                    <a:effectLst/>
                    <a:latin typeface="+mj-lt"/>
                  </a:rPr>
                  <a:t>To evaluate and compare the methods in practical scenarios</a:t>
                </a:r>
              </a:p>
              <a:p>
                <a:pPr marR="0" lvl="0" algn="l" defTabSz="914400" rtl="0" eaLnBrk="0" fontAlgn="base" latinLnBrk="0" hangingPunct="0">
                  <a:lnSpc>
                    <a:spcPct val="100000"/>
                  </a:lnSpc>
                  <a:spcBef>
                    <a:spcPct val="0"/>
                  </a:spcBef>
                  <a:spcAft>
                    <a:spcPct val="0"/>
                  </a:spcAft>
                  <a:buClrTx/>
                  <a:buSzTx/>
                  <a:tabLst/>
                </a:pPr>
                <a:r>
                  <a:rPr lang="en-US" altLang="en-US" sz="2000" b="1" i="1" u="sng" dirty="0">
                    <a:latin typeface="+mj-lt"/>
                  </a:rPr>
                  <a:t>Theory :</a:t>
                </a:r>
              </a:p>
              <a:p>
                <a:pPr marR="0" lvl="0" algn="l" defTabSz="914400" rtl="0" eaLnBrk="0" fontAlgn="base" latinLnBrk="0" hangingPunct="0">
                  <a:lnSpc>
                    <a:spcPct val="100000"/>
                  </a:lnSpc>
                  <a:spcBef>
                    <a:spcPct val="0"/>
                  </a:spcBef>
                  <a:spcAft>
                    <a:spcPct val="0"/>
                  </a:spcAft>
                  <a:buClrTx/>
                  <a:buSzTx/>
                  <a:tabLst/>
                </a:pPr>
                <a:r>
                  <a:rPr lang="en-US" sz="2000" i="1" dirty="0">
                    <a:latin typeface="+mj-lt"/>
                  </a:rPr>
                  <a:t>Nonlinear equations involve non-unit exponents or transcendental functions. Since closed-form solutions are impractical, numerical methods approximate roots. Bisection and Regula False iteratively refine estimates.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1" u="sng" strike="noStrike" cap="none" normalizeH="0" baseline="0" dirty="0">
                    <a:ln>
                      <a:noFill/>
                    </a:ln>
                    <a:solidFill>
                      <a:schemeClr val="tx1"/>
                    </a:solidFill>
                    <a:effectLst/>
                    <a:latin typeface="+mj-lt"/>
                  </a:rPr>
                  <a:t>Bisection Method</a:t>
                </a:r>
                <a:r>
                  <a:rPr kumimoji="0" lang="en-US" altLang="en-US" sz="2000" i="1" u="none" strike="noStrike" cap="none" normalizeH="0" baseline="0" dirty="0">
                    <a:ln>
                      <a:noFill/>
                    </a:ln>
                    <a:solidFill>
                      <a:schemeClr val="tx1"/>
                    </a:solidFill>
                    <a:effectLst/>
                    <a:latin typeface="+mj-lt"/>
                  </a:rPr>
                  <a:t>: Start with two points where the function values have opposite signs, ensuring a root exists between them. Repeatedly halve the interval by checking the midpoint until the root is approximated. It is reliable but may be slow.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i="1" u="sng" dirty="0">
                    <a:latin typeface="+mj-lt"/>
                  </a:rPr>
                  <a:t>Algorithm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1" u="sng" strike="noStrike" cap="none" normalizeH="0" baseline="0" dirty="0">
                    <a:ln>
                      <a:noFill/>
                    </a:ln>
                    <a:solidFill>
                      <a:schemeClr val="tx1"/>
                    </a:solidFill>
                    <a:effectLst/>
                    <a:latin typeface="+mj-lt"/>
                  </a:rPr>
                  <a:t>Bisection Method Steps</a:t>
                </a:r>
                <a:r>
                  <a:rPr kumimoji="0" lang="en-US" altLang="en-US" sz="2000" i="1"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r>
                  <a:rPr lang="en-US" sz="2000" i="1" dirty="0">
                    <a:latin typeface="+mj-lt"/>
                  </a:rPr>
                  <a:t>1)Check if the root exists in the interval</a:t>
                </a:r>
                <a:r>
                  <a:rPr lang="en-US" sz="2000" i="1" dirty="0">
                    <a:latin typeface="+mj-lt"/>
                    <a:sym typeface="Wingdings" panose="05000000000000000000" pitchFamily="2" charset="2"/>
                  </a:rPr>
                  <a:t>:</a:t>
                </a:r>
              </a:p>
              <a:p>
                <a:pPr marL="0" marR="0" lvl="0" indent="0" algn="l" defTabSz="914400" rtl="0" eaLnBrk="0" fontAlgn="base" latinLnBrk="0" hangingPunct="0">
                  <a:lnSpc>
                    <a:spcPct val="100000"/>
                  </a:lnSpc>
                  <a:spcBef>
                    <a:spcPct val="0"/>
                  </a:spcBef>
                  <a:spcAft>
                    <a:spcPct val="0"/>
                  </a:spcAft>
                  <a:buClrTx/>
                  <a:buSzTx/>
                  <a:buFontTx/>
                  <a:buNone/>
                  <a:tabLst/>
                </a:pPr>
                <a:r>
                  <a:rPr lang="en-US" sz="2000" i="1" dirty="0">
                    <a:latin typeface="+mj-lt"/>
                    <a:sym typeface="Wingdings" panose="05000000000000000000" pitchFamily="2" charset="2"/>
                  </a:rPr>
                  <a:t>    </a:t>
                </a:r>
                <a:r>
                  <a:rPr lang="en-US" sz="2000" i="1" dirty="0">
                    <a:latin typeface="+mj-lt"/>
                  </a:rPr>
                  <a:t>If f(a)⋅f(b) ≥ 0, print error and stop.</a:t>
                </a:r>
              </a:p>
              <a:p>
                <a:pPr algn="l" defTabSz="914400" eaLnBrk="0" fontAlgn="base" hangingPunct="0">
                  <a:lnSpc>
                    <a:spcPct val="100000"/>
                  </a:lnSpc>
                  <a:spcBef>
                    <a:spcPct val="0"/>
                  </a:spcBef>
                  <a:spcAft>
                    <a:spcPct val="0"/>
                  </a:spcAft>
                </a:pPr>
                <a:r>
                  <a:rPr lang="en-US" sz="2000" i="1" dirty="0">
                    <a:latin typeface="+mj-lt"/>
                  </a:rPr>
                  <a:t>2)Repeat until the interval is smaller than the tolerance                        epsilon </a:t>
                </a:r>
                <a:r>
                  <a:rPr lang="en-US" sz="2000" b="1" i="1" dirty="0">
                    <a:latin typeface="+mj-lt"/>
                  </a:rPr>
                  <a:t>ϵ :</a:t>
                </a:r>
              </a:p>
              <a:p>
                <a:pPr marL="457200" indent="-457200" algn="l" defTabSz="914400" eaLnBrk="0" fontAlgn="base" hangingPunct="0">
                  <a:lnSpc>
                    <a:spcPct val="100000"/>
                  </a:lnSpc>
                  <a:spcBef>
                    <a:spcPct val="0"/>
                  </a:spcBef>
                  <a:spcAft>
                    <a:spcPct val="0"/>
                  </a:spcAft>
                  <a:buAutoNum type="alphaLcPeriod"/>
                </a:pPr>
                <a:r>
                  <a:rPr lang="en-US" sz="2000" i="1" dirty="0">
                    <a:latin typeface="+mj-lt"/>
                  </a:rPr>
                  <a:t>Compute midpoint: </a:t>
                </a:r>
                <a14:m>
                  <m:oMath xmlns:m="http://schemas.openxmlformats.org/officeDocument/2006/math">
                    <m:f>
                      <m:fPr>
                        <m:ctrlPr>
                          <a:rPr lang="en-US" sz="2000" b="1" i="1" dirty="0" smtClean="0">
                            <a:solidFill>
                              <a:srgbClr val="836967"/>
                            </a:solidFill>
                            <a:latin typeface="Cambria Math" panose="02040503050406030204" pitchFamily="18" charset="0"/>
                          </a:rPr>
                        </m:ctrlPr>
                      </m:fPr>
                      <m:num>
                        <m:r>
                          <a:rPr lang="en-US" sz="2000" b="1" i="1" dirty="0" smtClean="0">
                            <a:latin typeface="Cambria Math" panose="02040503050406030204" pitchFamily="18" charset="0"/>
                          </a:rPr>
                          <m:t>𝒂</m:t>
                        </m:r>
                        <m:r>
                          <a:rPr lang="en-US" sz="2000" b="1" i="1" dirty="0" smtClean="0">
                            <a:latin typeface="Cambria Math" panose="02040503050406030204" pitchFamily="18" charset="0"/>
                          </a:rPr>
                          <m:t>+</m:t>
                        </m:r>
                        <m:r>
                          <a:rPr lang="en-US" sz="2000" b="1" i="1" dirty="0" smtClean="0">
                            <a:latin typeface="Cambria Math" panose="02040503050406030204" pitchFamily="18" charset="0"/>
                          </a:rPr>
                          <m:t>𝒃</m:t>
                        </m:r>
                      </m:num>
                      <m:den>
                        <m:r>
                          <a:rPr lang="en-US" sz="2000" b="1" i="1" dirty="0" smtClean="0">
                            <a:latin typeface="Cambria Math" panose="02040503050406030204" pitchFamily="18" charset="0"/>
                          </a:rPr>
                          <m:t>𝟐</m:t>
                        </m:r>
                      </m:den>
                    </m:f>
                    <m:r>
                      <a:rPr lang="en-US" sz="2000" b="1" i="1" dirty="0" smtClean="0">
                        <a:latin typeface="Cambria Math" panose="02040503050406030204" pitchFamily="18" charset="0"/>
                      </a:rPr>
                      <m:t> </m:t>
                    </m:r>
                  </m:oMath>
                </a14:m>
                <a:endParaRPr lang="en-US" sz="2000" b="1" i="1"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000" i="1" dirty="0">
                    <a:latin typeface="+mj-lt"/>
                  </a:rPr>
                  <a:t>b. Evaluate f(c )</a:t>
                </a:r>
              </a:p>
              <a:p>
                <a:pPr marL="0" marR="0" lvl="0" indent="0" algn="l" defTabSz="914400" rtl="0" eaLnBrk="0" fontAlgn="base" latinLnBrk="0" hangingPunct="0">
                  <a:lnSpc>
                    <a:spcPct val="100000"/>
                  </a:lnSpc>
                  <a:spcBef>
                    <a:spcPct val="0"/>
                  </a:spcBef>
                  <a:spcAft>
                    <a:spcPct val="0"/>
                  </a:spcAft>
                  <a:buClrTx/>
                  <a:buSzTx/>
                  <a:buFontTx/>
                  <a:buNone/>
                  <a:tabLst/>
                </a:pPr>
                <a:r>
                  <a:rPr lang="en-US" sz="2000" i="1" dirty="0">
                    <a:latin typeface="+mj-lt"/>
                  </a:rPr>
                  <a:t>c. Check if the result is close enough:</a:t>
                </a:r>
              </a:p>
              <a:p>
                <a:pPr algn="l" defTabSz="914400" eaLnBrk="0" fontAlgn="base" hangingPunct="0">
                  <a:lnSpc>
                    <a:spcPct val="100000"/>
                  </a:lnSpc>
                  <a:spcBef>
                    <a:spcPct val="0"/>
                  </a:spcBef>
                  <a:spcAft>
                    <a:spcPct val="0"/>
                  </a:spcAft>
                </a:pPr>
                <a:r>
                  <a:rPr lang="en-US" sz="2000" i="1" dirty="0">
                    <a:latin typeface="+mj-lt"/>
                  </a:rPr>
                  <a:t>If ∣f(c)∣&lt;</a:t>
                </a:r>
                <a:r>
                  <a:rPr lang="en-US" sz="2000" b="1" i="1" dirty="0">
                    <a:latin typeface="+mj-lt"/>
                  </a:rPr>
                  <a:t> ϵ</a:t>
                </a:r>
                <a:r>
                  <a:rPr lang="en-US" sz="2000" i="1" dirty="0">
                    <a:latin typeface="+mj-lt"/>
                  </a:rPr>
                  <a:t>, then return c as the root.</a:t>
                </a:r>
              </a:p>
              <a:p>
                <a:pPr marL="0" marR="0" lvl="0" indent="0" algn="l" defTabSz="914400" rtl="0" eaLnBrk="0" fontAlgn="base" latinLnBrk="0" hangingPunct="0">
                  <a:lnSpc>
                    <a:spcPct val="100000"/>
                  </a:lnSpc>
                  <a:spcBef>
                    <a:spcPct val="0"/>
                  </a:spcBef>
                  <a:spcAft>
                    <a:spcPct val="0"/>
                  </a:spcAft>
                  <a:buClrTx/>
                  <a:buSzTx/>
                  <a:buFontTx/>
                  <a:buNone/>
                  <a:tabLst/>
                </a:pPr>
                <a:endParaRPr lang="en-US" sz="2000" i="1"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b="1" i="1" dirty="0">
                  <a:latin typeface="+mj-lt"/>
                </a:endParaRPr>
              </a:p>
              <a:p>
                <a:pPr algn="l" defTabSz="914400" eaLnBrk="0" fontAlgn="base" hangingPunct="0">
                  <a:lnSpc>
                    <a:spcPct val="100000"/>
                  </a:lnSpc>
                  <a:spcBef>
                    <a:spcPct val="0"/>
                  </a:spcBef>
                  <a:spcAft>
                    <a:spcPct val="0"/>
                  </a:spcAft>
                </a:pPr>
                <a:endParaRPr lang="en-US" sz="2000" b="1" i="1" dirty="0">
                  <a:latin typeface="+mj-lt"/>
                </a:endParaRPr>
              </a:p>
              <a:p>
                <a:pPr algn="l" defTabSz="914400" eaLnBrk="0" fontAlgn="base" hangingPunct="0">
                  <a:lnSpc>
                    <a:spcPct val="100000"/>
                  </a:lnSpc>
                  <a:spcBef>
                    <a:spcPct val="0"/>
                  </a:spcBef>
                  <a:spcAft>
                    <a:spcPct val="0"/>
                  </a:spcAft>
                </a:pPr>
                <a:endParaRPr lang="en-US" sz="2000" b="1" i="1"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i="1"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1" u="sng"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tabLst/>
                </a:pPr>
                <a:endParaRPr lang="en-US" sz="2000" i="1" dirty="0">
                  <a:latin typeface="+mj-lt"/>
                </a:endParaRPr>
              </a:p>
              <a:p>
                <a:pPr marR="0" lvl="0" algn="l" defTabSz="914400" rtl="0" eaLnBrk="0" fontAlgn="base" latinLnBrk="0" hangingPunct="0">
                  <a:lnSpc>
                    <a:spcPct val="100000"/>
                  </a:lnSpc>
                  <a:spcBef>
                    <a:spcPct val="0"/>
                  </a:spcBef>
                  <a:spcAft>
                    <a:spcPct val="0"/>
                  </a:spcAft>
                  <a:buClrTx/>
                  <a:buSzTx/>
                  <a:tabLst/>
                </a:pPr>
                <a:br>
                  <a:rPr kumimoji="0" lang="en-US" altLang="en-US" sz="2000" i="1" u="none" strike="noStrike" cap="none" normalizeH="0" baseline="0" dirty="0">
                    <a:ln>
                      <a:noFill/>
                    </a:ln>
                    <a:solidFill>
                      <a:schemeClr val="tx1"/>
                    </a:solidFill>
                    <a:effectLst/>
                    <a:latin typeface="+mj-lt"/>
                  </a:rPr>
                </a:br>
                <a:endParaRPr kumimoji="0" lang="en-US" altLang="en-US" sz="2000" i="1"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1"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1" u="none" strike="noStrike" cap="none" normalizeH="0" baseline="0" dirty="0">
                  <a:ln>
                    <a:noFill/>
                  </a:ln>
                  <a:solidFill>
                    <a:schemeClr val="tx1"/>
                  </a:solidFill>
                  <a:effectLst/>
                  <a:latin typeface="+mj-lt"/>
                </a:endParaRPr>
              </a:p>
              <a:p>
                <a:pPr algn="l"/>
                <a:r>
                  <a:rPr lang="en-US" sz="2000" i="1" dirty="0">
                    <a:latin typeface="+mj-lt"/>
                  </a:rPr>
                  <a:t> </a:t>
                </a:r>
              </a:p>
            </p:txBody>
          </p:sp>
        </mc:Choice>
        <mc:Fallback>
          <p:sp>
            <p:nvSpPr>
              <p:cNvPr id="3" name="Subtitle 2">
                <a:extLst>
                  <a:ext uri="{FF2B5EF4-FFF2-40B4-BE49-F238E27FC236}">
                    <a16:creationId xmlns:a16="http://schemas.microsoft.com/office/drawing/2014/main" id="{FC2AD1F8-14C7-A26C-3C0C-F0A474F0ECB3}"/>
                  </a:ext>
                </a:extLst>
              </p:cNvPr>
              <p:cNvSpPr>
                <a:spLocks noGrp="1" noRot="1" noChangeAspect="1" noMove="1" noResize="1" noEditPoints="1" noAdjustHandles="1" noChangeArrowheads="1" noChangeShapeType="1" noTextEdit="1"/>
              </p:cNvSpPr>
              <p:nvPr>
                <p:ph type="subTitle" idx="1"/>
              </p:nvPr>
            </p:nvSpPr>
            <p:spPr>
              <a:xfrm>
                <a:off x="560439" y="1683569"/>
                <a:ext cx="6356555" cy="8714043"/>
              </a:xfrm>
              <a:blipFill>
                <a:blip r:embed="rId3"/>
                <a:stretch>
                  <a:fillRect l="-1055" t="-699" r="-13039"/>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234AE610-A4BB-F00B-EF7F-66DF6449C1EF}"/>
              </a:ext>
            </a:extLst>
          </p:cNvPr>
          <p:cNvSpPr>
            <a:spLocks noChangeArrowheads="1"/>
          </p:cNvSpPr>
          <p:nvPr/>
        </p:nvSpPr>
        <p:spPr bwMode="auto">
          <a:xfrm>
            <a:off x="-1" y="1371600"/>
            <a:ext cx="7559675"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965205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0F8D49D-F4F5-C42C-AE46-05A2D111D355}"/>
                  </a:ext>
                </a:extLst>
              </p:cNvPr>
              <p:cNvSpPr>
                <a:spLocks noGrp="1"/>
              </p:cNvSpPr>
              <p:nvPr>
                <p:ph idx="1"/>
              </p:nvPr>
            </p:nvSpPr>
            <p:spPr>
              <a:xfrm>
                <a:off x="519727" y="312516"/>
                <a:ext cx="7429653" cy="11869652"/>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i="1" dirty="0">
                    <a:latin typeface="+mj-lt"/>
                  </a:rPr>
                  <a:t>If f(a)⋅f(c)&lt; 0 , set b=c </a:t>
                </a:r>
              </a:p>
              <a:p>
                <a:pPr marL="0" indent="0">
                  <a:buNone/>
                </a:pPr>
                <a:r>
                  <a:rPr lang="en-US" sz="2000" i="1" dirty="0">
                    <a:latin typeface="+mj-lt"/>
                  </a:rPr>
                  <a:t>   Else, set a=c </a:t>
                </a:r>
              </a:p>
              <a:p>
                <a:pPr marL="0" indent="0">
                  <a:buNone/>
                </a:pPr>
                <a:r>
                  <a:rPr lang="en-US" sz="2000" i="1" dirty="0">
                    <a:latin typeface="+mj-lt"/>
                  </a:rPr>
                  <a:t>3) Return the final midpoint c as the approximate root</a:t>
                </a:r>
              </a:p>
              <a:p>
                <a:r>
                  <a:rPr lang="en-US" sz="2000" i="1" dirty="0">
                    <a:latin typeface="+mj-lt"/>
                  </a:rPr>
                  <a:t>Else if f(b)⋅f(xₙ)&lt; 0 f(b)</a:t>
                </a:r>
                <a:br>
                  <a:rPr lang="en-US" sz="2000" i="1" dirty="0">
                    <a:latin typeface="+mj-lt"/>
                  </a:rPr>
                </a:br>
                <a:r>
                  <a:rPr lang="en-US" sz="2000" i="1" dirty="0">
                    <a:latin typeface="+mj-lt"/>
                  </a:rPr>
                  <a:t>Replace a with xₙ  (i.e., set a= xₙ​).</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1" u="none" strike="noStrike" cap="none" normalizeH="0" baseline="0" dirty="0">
                    <a:ln>
                      <a:noFill/>
                    </a:ln>
                    <a:solidFill>
                      <a:schemeClr val="tx1"/>
                    </a:solidFill>
                    <a:effectLst/>
                    <a:latin typeface="+mj-lt"/>
                  </a:rPr>
                  <a:t>5)Check for Convergence: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1" u="none" strike="noStrike" cap="none" normalizeH="0" baseline="0" dirty="0">
                    <a:ln>
                      <a:noFill/>
                    </a:ln>
                    <a:solidFill>
                      <a:schemeClr val="tx1"/>
                    </a:solidFill>
                    <a:effectLst/>
                    <a:latin typeface="+mj-lt"/>
                  </a:rPr>
                  <a:t>If |f(</a:t>
                </a:r>
                <a:r>
                  <a:rPr lang="en-US" sz="2000" i="1" dirty="0">
                    <a:latin typeface="+mj-lt"/>
                  </a:rPr>
                  <a:t>xₙ </a:t>
                </a:r>
                <a:r>
                  <a:rPr kumimoji="0" lang="en-US" altLang="en-US" sz="2000" i="1" u="none" strike="noStrike" cap="none" normalizeH="0" baseline="0" dirty="0">
                    <a:ln>
                      <a:noFill/>
                    </a:ln>
                    <a:solidFill>
                      <a:schemeClr val="tx1"/>
                    </a:solidFill>
                    <a:effectLst/>
                    <a:latin typeface="+mj-lt"/>
                  </a:rPr>
                  <a:t>)| is less than a given tolerance (say ϵ ), 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1" u="none" strike="noStrike" cap="none" normalizeH="0" baseline="0" dirty="0">
                    <a:ln>
                      <a:noFill/>
                    </a:ln>
                    <a:solidFill>
                      <a:schemeClr val="tx1"/>
                    </a:solidFill>
                    <a:effectLst/>
                    <a:latin typeface="+mj-lt"/>
                  </a:rPr>
                  <a:t>If the change in </a:t>
                </a:r>
                <a:r>
                  <a:rPr lang="en-US" sz="2000" i="1" dirty="0">
                    <a:latin typeface="+mj-lt"/>
                  </a:rPr>
                  <a:t> xₙ </a:t>
                </a:r>
                <a:r>
                  <a:rPr kumimoji="0" lang="en-US" altLang="en-US" sz="2000" i="1" u="none" strike="noStrike" cap="none" normalizeH="0" baseline="0" dirty="0">
                    <a:ln>
                      <a:noFill/>
                    </a:ln>
                    <a:solidFill>
                      <a:schemeClr val="tx1"/>
                    </a:solidFill>
                    <a:effectLst/>
                    <a:latin typeface="+mj-lt"/>
                  </a:rPr>
                  <a:t>​ is very small between iterations,</a:t>
                </a:r>
                <a:br>
                  <a:rPr kumimoji="0" lang="en-US" altLang="en-US" sz="2000" i="1" u="none" strike="noStrike" cap="none" normalizeH="0" baseline="0" dirty="0">
                    <a:ln>
                      <a:noFill/>
                    </a:ln>
                    <a:solidFill>
                      <a:schemeClr val="tx1"/>
                    </a:solidFill>
                    <a:effectLst/>
                    <a:latin typeface="+mj-lt"/>
                  </a:rPr>
                </a:br>
                <a:r>
                  <a:rPr kumimoji="0" lang="en-US" altLang="en-US" sz="2000" i="1" u="none" strike="noStrike" cap="none" normalizeH="0" baseline="0" dirty="0">
                    <a:ln>
                      <a:noFill/>
                    </a:ln>
                    <a:solidFill>
                      <a:schemeClr val="tx1"/>
                    </a:solidFill>
                    <a:effectLst/>
                    <a:latin typeface="+mj-lt"/>
                  </a:rPr>
                  <a:t>   then stop </a:t>
                </a:r>
                <a:r>
                  <a:rPr lang="en-US" sz="2000" i="1" dirty="0">
                    <a:latin typeface="+mj-lt"/>
                  </a:rPr>
                  <a:t> xₙ </a:t>
                </a:r>
                <a:r>
                  <a:rPr kumimoji="0" lang="en-US" altLang="en-US" sz="2000" i="1" u="none" strike="noStrike" cap="none" normalizeH="0" baseline="0" dirty="0">
                    <a:ln>
                      <a:noFill/>
                    </a:ln>
                    <a:solidFill>
                      <a:schemeClr val="tx1"/>
                    </a:solidFill>
                    <a:effectLst/>
                    <a:latin typeface="+mj-lt"/>
                  </a:rPr>
                  <a:t>​ is an approximate root.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i="1" u="none" strike="noStrike" cap="none" normalizeH="0" baseline="0" dirty="0">
                    <a:ln>
                      <a:noFill/>
                    </a:ln>
                    <a:solidFill>
                      <a:schemeClr val="tx1"/>
                    </a:solidFill>
                    <a:effectLst/>
                    <a:latin typeface="+mj-lt"/>
                  </a:rPr>
                  <a:t>6)Repeat Steps 2 to 5 until convergence criteria are met.</a:t>
                </a:r>
              </a:p>
              <a:p>
                <a:pPr marL="0" indent="0">
                  <a:buNone/>
                </a:pPr>
                <a:r>
                  <a:rPr lang="en-US" sz="2000" b="1" i="1" u="sng" dirty="0">
                    <a:latin typeface="+mj-lt"/>
                  </a:rPr>
                  <a:t>Source Code:</a:t>
                </a:r>
              </a:p>
              <a:p>
                <a:pPr marL="0" indent="0">
                  <a:buNone/>
                </a:pPr>
                <a:r>
                  <a:rPr lang="en-US" sz="2000" i="1" dirty="0">
                    <a:latin typeface="+mj-lt"/>
                  </a:rPr>
                  <a:t>Questions:</a:t>
                </a:r>
                <a:endParaRPr lang="en-US" sz="2000" b="1" i="1" dirty="0">
                  <a:latin typeface="+mj-lt"/>
                </a:endParaRPr>
              </a:p>
              <a:p>
                <a14:m>
                  <m:oMath xmlns:m="http://schemas.openxmlformats.org/officeDocument/2006/math">
                    <m:r>
                      <a:rPr lang="en-US" sz="2000" b="1" i="1" smtClean="0">
                        <a:latin typeface="Cambria Math" panose="02040503050406030204" pitchFamily="18" charset="0"/>
                      </a:rPr>
                      <m:t>𝒇</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e>
                    </m:d>
                    <m:r>
                      <a:rPr lang="en-US" sz="2000" b="1" i="1" smtClean="0">
                        <a:latin typeface="Cambria Math" panose="02040503050406030204" pitchFamily="18" charset="0"/>
                      </a:rPr>
                      <m:t>=</m:t>
                    </m:r>
                    <m:r>
                      <a:rPr lang="en-US" sz="2000" b="1" i="1" smtClean="0">
                        <a:latin typeface="Cambria Math" panose="02040503050406030204" pitchFamily="18" charset="0"/>
                      </a:rPr>
                      <m:t>𝒙</m:t>
                    </m:r>
                    <m:sSup>
                      <m:sSupPr>
                        <m:ctrlPr>
                          <a:rPr lang="en-US" sz="2000" b="1" i="1" dirty="0">
                            <a:solidFill>
                              <a:srgbClr val="836967"/>
                            </a:solidFill>
                            <a:latin typeface="Cambria Math" panose="02040503050406030204" pitchFamily="18" charset="0"/>
                          </a:rPr>
                        </m:ctrlPr>
                      </m:sSupPr>
                      <m:e>
                        <m:r>
                          <a:rPr lang="en-US" sz="2000" b="1" i="1" dirty="0" smtClean="0">
                            <a:latin typeface="Cambria Math" panose="02040503050406030204" pitchFamily="18" charset="0"/>
                          </a:rPr>
                          <m:t>𝒆</m:t>
                        </m:r>
                      </m:e>
                      <m:sup>
                        <m:r>
                          <a:rPr lang="en-US" sz="2000" b="1" i="1" dirty="0" smtClean="0">
                            <a:latin typeface="Cambria Math" panose="02040503050406030204" pitchFamily="18" charset="0"/>
                          </a:rPr>
                          <m:t>𝒙</m:t>
                        </m:r>
                      </m:sup>
                    </m:sSup>
                  </m:oMath>
                </a14:m>
                <a:r>
                  <a:rPr lang="en-US" sz="2000" b="1" i="1" dirty="0">
                    <a:latin typeface="+mj-lt"/>
                  </a:rPr>
                  <a:t>- cos(x)</a:t>
                </a:r>
              </a:p>
              <a:p>
                <a14:m>
                  <m:oMath xmlns:m="http://schemas.openxmlformats.org/officeDocument/2006/math">
                    <m:r>
                      <a:rPr lang="en-US" sz="2000" b="1" i="1" smtClean="0">
                        <a:latin typeface="Cambria Math" panose="02040503050406030204" pitchFamily="18" charset="0"/>
                      </a:rPr>
                      <m:t>𝒇</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e>
                    </m:d>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 </m:t>
                    </m:r>
                    <m:sSub>
                      <m:sSubPr>
                        <m:ctrlPr>
                          <a:rPr lang="en-US" sz="2000" b="1" i="1" dirty="0" smtClean="0">
                            <a:solidFill>
                              <a:srgbClr val="836967"/>
                            </a:solidFill>
                            <a:latin typeface="Cambria Math" panose="02040503050406030204" pitchFamily="18" charset="0"/>
                          </a:rPr>
                        </m:ctrlPr>
                      </m:sSubPr>
                      <m:e>
                        <m:r>
                          <a:rPr lang="en-US" sz="2000" b="1" i="1" dirty="0" smtClean="0">
                            <a:latin typeface="Cambria Math" panose="02040503050406030204" pitchFamily="18" charset="0"/>
                          </a:rPr>
                          <m:t>𝒍𝒐𝒈</m:t>
                        </m:r>
                      </m:e>
                      <m:sub>
                        <m:r>
                          <a:rPr lang="en-US" sz="2000" b="1" i="1" dirty="0" smtClean="0">
                            <a:latin typeface="Cambria Math" panose="02040503050406030204" pitchFamily="18" charset="0"/>
                          </a:rPr>
                          <m:t>𝟏𝟎</m:t>
                        </m:r>
                      </m:sub>
                    </m:sSub>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r>
                      <a:rPr lang="en-US" sz="2000" b="1" i="1" dirty="0" smtClean="0">
                        <a:latin typeface="Cambria Math" panose="02040503050406030204" pitchFamily="18" charset="0"/>
                      </a:rPr>
                      <m:t>.</m:t>
                    </m:r>
                    <m:r>
                      <a:rPr lang="en-US" sz="2000" b="1" i="1" dirty="0" smtClean="0">
                        <a:latin typeface="Cambria Math" panose="02040503050406030204" pitchFamily="18" charset="0"/>
                      </a:rPr>
                      <m:t>𝟐</m:t>
                    </m:r>
                  </m:oMath>
                </a14:m>
                <a:endParaRPr lang="en-US" sz="2000" b="1" i="1" dirty="0">
                  <a:latin typeface="+mj-lt"/>
                </a:endParaRPr>
              </a:p>
              <a:p>
                <a14:m>
                  <m:oMath xmlns:m="http://schemas.openxmlformats.org/officeDocument/2006/math">
                    <m:r>
                      <a:rPr lang="en-US" sz="2000" b="1" i="1" smtClean="0">
                        <a:latin typeface="Cambria Math" panose="02040503050406030204" pitchFamily="18" charset="0"/>
                      </a:rPr>
                      <m:t>𝒇</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e>
                    </m:d>
                    <m:r>
                      <a:rPr lang="en-US" sz="2000" b="1" i="1" smtClean="0">
                        <a:latin typeface="Cambria Math" panose="02040503050406030204" pitchFamily="18" charset="0"/>
                      </a:rPr>
                      <m:t>= </m:t>
                    </m:r>
                  </m:oMath>
                </a14:m>
                <a:r>
                  <a:rPr lang="en-US" sz="2000" b="1" i="1" dirty="0">
                    <a:solidFill>
                      <a:srgbClr val="836967"/>
                    </a:solidFill>
                    <a:latin typeface="+mj-lt"/>
                  </a:rPr>
                  <a:t> </a:t>
                </a:r>
                <a14:m>
                  <m:oMath xmlns:m="http://schemas.openxmlformats.org/officeDocument/2006/math">
                    <m:sSup>
                      <m:sSupPr>
                        <m:ctrlPr>
                          <a:rPr lang="en-US" sz="2000" b="1" i="1" dirty="0">
                            <a:solidFill>
                              <a:srgbClr val="836967"/>
                            </a:solidFill>
                            <a:latin typeface="Cambria Math" panose="02040503050406030204" pitchFamily="18" charset="0"/>
                          </a:rPr>
                        </m:ctrlPr>
                      </m:sSupPr>
                      <m:e>
                        <m:r>
                          <a:rPr lang="en-US" sz="2000" b="1" i="1" dirty="0" smtClean="0">
                            <a:solidFill>
                              <a:srgbClr val="836967"/>
                            </a:solidFill>
                            <a:latin typeface="Cambria Math" panose="02040503050406030204" pitchFamily="18" charset="0"/>
                          </a:rPr>
                          <m:t>𝒙</m:t>
                        </m:r>
                      </m:e>
                      <m:sup>
                        <m:r>
                          <a:rPr lang="en-US" sz="2000" b="1" i="1" dirty="0" smtClean="0">
                            <a:latin typeface="Cambria Math" panose="02040503050406030204" pitchFamily="18" charset="0"/>
                          </a:rPr>
                          <m:t>𝟐</m:t>
                        </m:r>
                      </m:sup>
                    </m:sSup>
                    <m:r>
                      <a:rPr lang="en-US" sz="2000" b="1" i="1" dirty="0" smtClean="0">
                        <a:latin typeface="Cambria Math" panose="02040503050406030204" pitchFamily="18" charset="0"/>
                      </a:rPr>
                      <m:t>−</m:t>
                    </m:r>
                    <m:r>
                      <a:rPr lang="en-US" sz="2000" b="1" i="1" dirty="0" smtClean="0">
                        <a:latin typeface="Cambria Math" panose="02040503050406030204" pitchFamily="18" charset="0"/>
                      </a:rPr>
                      <m:t>𝒙</m:t>
                    </m:r>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r>
                      <a:rPr lang="en-US" sz="2000" b="1" i="1" dirty="0" smtClean="0">
                        <a:latin typeface="Cambria Math" panose="02040503050406030204" pitchFamily="18" charset="0"/>
                      </a:rPr>
                      <m:t>;</m:t>
                    </m:r>
                  </m:oMath>
                </a14:m>
                <a:endParaRPr lang="en-US" sz="2000" b="1" i="1" dirty="0">
                  <a:latin typeface="+mj-lt"/>
                </a:endParaRPr>
              </a:p>
              <a:p>
                <a:pPr marL="0" indent="0">
                  <a:buNone/>
                </a:pPr>
                <a:r>
                  <a:rPr kumimoji="0" lang="en-US" altLang="en-US" sz="2000" i="1" u="sng" strike="noStrike" cap="none" normalizeH="0" baseline="0" dirty="0">
                    <a:ln>
                      <a:noFill/>
                    </a:ln>
                    <a:solidFill>
                      <a:schemeClr val="tx1"/>
                    </a:solidFill>
                    <a:effectLst/>
                    <a:latin typeface="+mj-lt"/>
                  </a:rPr>
                  <a:t>Bisection Method Code</a:t>
                </a:r>
                <a:r>
                  <a:rPr lang="en-US" altLang="en-US" sz="2000" i="1" u="sng" dirty="0">
                    <a:latin typeface="+mj-lt"/>
                  </a:rPr>
                  <a:t>:</a:t>
                </a:r>
              </a:p>
              <a:p>
                <a:pPr algn="l">
                  <a:lnSpc>
                    <a:spcPts val="1425"/>
                  </a:lnSpc>
                  <a:buNone/>
                </a:pPr>
                <a:r>
                  <a:rPr lang="en-US" sz="2000" b="0" i="1" dirty="0">
                    <a:effectLst/>
                    <a:latin typeface="+mj-lt"/>
                  </a:rPr>
                  <a:t>#include &lt;</a:t>
                </a:r>
                <a:r>
                  <a:rPr lang="en-US" sz="2000" b="0" i="1" dirty="0" err="1">
                    <a:effectLst/>
                    <a:latin typeface="+mj-lt"/>
                  </a:rPr>
                  <a:t>stdio.h</a:t>
                </a:r>
                <a:r>
                  <a:rPr lang="en-US" sz="2000" b="0" i="1" dirty="0">
                    <a:effectLst/>
                    <a:latin typeface="+mj-lt"/>
                  </a:rPr>
                  <a:t>&gt;</a:t>
                </a:r>
              </a:p>
              <a:p>
                <a:pPr algn="l">
                  <a:lnSpc>
                    <a:spcPts val="1425"/>
                  </a:lnSpc>
                  <a:buNone/>
                </a:pPr>
                <a:r>
                  <a:rPr lang="en-US" sz="2000" b="0" i="1" dirty="0">
                    <a:effectLst/>
                    <a:latin typeface="+mj-lt"/>
                  </a:rPr>
                  <a:t>#include &lt;</a:t>
                </a:r>
                <a:r>
                  <a:rPr lang="en-US" sz="2000" b="0" i="1" dirty="0" err="1">
                    <a:effectLst/>
                    <a:latin typeface="+mj-lt"/>
                  </a:rPr>
                  <a:t>math.h</a:t>
                </a:r>
                <a:r>
                  <a:rPr lang="en-US" sz="2000" b="0" i="1" dirty="0">
                    <a:effectLst/>
                    <a:latin typeface="+mj-lt"/>
                  </a:rPr>
                  <a:t>&gt;</a:t>
                </a:r>
              </a:p>
              <a:p>
                <a:pPr algn="l">
                  <a:lnSpc>
                    <a:spcPts val="1425"/>
                  </a:lnSpc>
                  <a:buNone/>
                </a:pPr>
                <a:r>
                  <a:rPr lang="en-US" sz="2000" b="0" i="1" dirty="0">
                    <a:effectLst/>
                    <a:latin typeface="+mj-lt"/>
                  </a:rPr>
                  <a:t>#define </a:t>
                </a:r>
                <a:r>
                  <a:rPr lang="en-US" sz="2000" b="0" i="1" dirty="0" err="1">
                    <a:effectLst/>
                    <a:latin typeface="+mj-lt"/>
                  </a:rPr>
                  <a:t>tol</a:t>
                </a:r>
                <a:r>
                  <a:rPr lang="en-US" sz="2000" b="0" i="1" dirty="0">
                    <a:effectLst/>
                    <a:latin typeface="+mj-lt"/>
                  </a:rPr>
                  <a:t> 0.001</a:t>
                </a:r>
              </a:p>
              <a:p>
                <a:pPr marL="0" indent="0" algn="l">
                  <a:lnSpc>
                    <a:spcPts val="1425"/>
                  </a:lnSpc>
                  <a:buNone/>
                </a:pPr>
                <a:r>
                  <a:rPr lang="en-US" sz="2000" b="0" i="1" dirty="0">
                    <a:effectLst/>
                    <a:latin typeface="+mj-lt"/>
                  </a:rPr>
                  <a:t>float f(float x) </a:t>
                </a:r>
              </a:p>
              <a:p>
                <a:pPr marL="0" indent="0" algn="l">
                  <a:lnSpc>
                    <a:spcPts val="1425"/>
                  </a:lnSpc>
                  <a:buNone/>
                </a:pPr>
                <a:r>
                  <a:rPr lang="en-US" sz="2000" b="0" i="1" dirty="0">
                    <a:effectLst/>
                    <a:latin typeface="+mj-lt"/>
                  </a:rPr>
                  <a:t>{</a:t>
                </a:r>
              </a:p>
              <a:p>
                <a:pPr marL="0" indent="0" algn="l">
                  <a:lnSpc>
                    <a:spcPts val="1425"/>
                  </a:lnSpc>
                  <a:buNone/>
                </a:pPr>
                <a:r>
                  <a:rPr lang="en-US" sz="2000" i="1" dirty="0">
                    <a:latin typeface="+mj-lt"/>
                  </a:rPr>
                  <a:t>  </a:t>
                </a:r>
                <a:r>
                  <a:rPr lang="en-US" sz="2000" b="0" i="1" dirty="0">
                    <a:effectLst/>
                    <a:latin typeface="+mj-lt"/>
                  </a:rPr>
                  <a:t>return x*x-x-1;</a:t>
                </a:r>
              </a:p>
              <a:p>
                <a:pPr marL="0" indent="0" algn="l">
                  <a:lnSpc>
                    <a:spcPts val="1425"/>
                  </a:lnSpc>
                  <a:buNone/>
                </a:pPr>
                <a:r>
                  <a:rPr lang="en-US" sz="2000" b="0" i="1" dirty="0">
                    <a:effectLst/>
                    <a:latin typeface="+mj-lt"/>
                  </a:rPr>
                  <a:t>}</a:t>
                </a:r>
              </a:p>
              <a:p>
                <a:pPr marL="0" indent="0" algn="l">
                  <a:lnSpc>
                    <a:spcPts val="1425"/>
                  </a:lnSpc>
                  <a:buNone/>
                </a:pPr>
                <a:r>
                  <a:rPr lang="en-US" sz="2000" b="0" i="1" dirty="0">
                    <a:effectLst/>
                    <a:latin typeface="+mj-lt"/>
                  </a:rPr>
                  <a:t>int main(){</a:t>
                </a:r>
              </a:p>
              <a:p>
                <a:pPr marL="0" indent="0" algn="l">
                  <a:lnSpc>
                    <a:spcPts val="1425"/>
                  </a:lnSpc>
                  <a:buNone/>
                </a:pPr>
                <a:r>
                  <a:rPr lang="en-US" sz="2000" i="1" dirty="0">
                    <a:latin typeface="+mj-lt"/>
                  </a:rPr>
                  <a:t>   </a:t>
                </a:r>
                <a:r>
                  <a:rPr lang="en-US" sz="2000" b="0" i="1" dirty="0">
                    <a:effectLst/>
                    <a:latin typeface="+mj-lt"/>
                  </a:rPr>
                  <a:t>float x0, x1,f1,f2,f0,x2;</a:t>
                </a:r>
              </a:p>
              <a:p>
                <a:pPr marL="0" indent="0" algn="l">
                  <a:lnSpc>
                    <a:spcPts val="1425"/>
                  </a:lnSpc>
                  <a:buNone/>
                </a:pPr>
                <a:r>
                  <a:rPr lang="en-US" sz="2000" b="0" i="1" dirty="0">
                    <a:effectLst/>
                    <a:latin typeface="+mj-lt"/>
                  </a:rPr>
                  <a:t>   loop:</a:t>
                </a:r>
              </a:p>
              <a:p>
                <a:pPr marL="0" indent="0" algn="l">
                  <a:lnSpc>
                    <a:spcPts val="1425"/>
                  </a:lnSpc>
                  <a:buNone/>
                </a:pPr>
                <a:r>
                  <a:rPr lang="en-US" sz="2000" b="0" i="1" dirty="0" err="1">
                    <a:effectLst/>
                    <a:latin typeface="+mj-lt"/>
                  </a:rPr>
                  <a:t>printf</a:t>
                </a:r>
                <a:r>
                  <a:rPr lang="en-US" sz="2000" b="0" i="1" dirty="0">
                    <a:effectLst/>
                    <a:latin typeface="+mj-lt"/>
                  </a:rPr>
                  <a:t>("enter the value of X0,X1 :\n");</a:t>
                </a:r>
              </a:p>
              <a:p>
                <a:pPr marL="0" indent="0" algn="l">
                  <a:lnSpc>
                    <a:spcPts val="1425"/>
                  </a:lnSpc>
                  <a:buNone/>
                </a:pPr>
                <a:r>
                  <a:rPr lang="en-US" sz="2000" i="1" dirty="0">
                    <a:latin typeface="+mj-lt"/>
                  </a:rPr>
                  <a:t>   </a:t>
                </a:r>
                <a:r>
                  <a:rPr lang="en-US" sz="2000" b="0" i="1" dirty="0" err="1">
                    <a:effectLst/>
                    <a:latin typeface="+mj-lt"/>
                  </a:rPr>
                  <a:t>scanf</a:t>
                </a:r>
                <a:r>
                  <a:rPr lang="en-US" sz="2000" b="0" i="1" dirty="0">
                    <a:effectLst/>
                    <a:latin typeface="+mj-lt"/>
                  </a:rPr>
                  <a:t>("%f %f", &amp;x0, &amp;x1);</a:t>
                </a:r>
              </a:p>
              <a:p>
                <a:pPr marL="0" indent="0" algn="l">
                  <a:lnSpc>
                    <a:spcPts val="1425"/>
                  </a:lnSpc>
                  <a:buNone/>
                </a:pPr>
                <a:r>
                  <a:rPr lang="en-US" sz="2000" i="1" dirty="0">
                    <a:latin typeface="+mj-lt"/>
                  </a:rPr>
                  <a:t>   </a:t>
                </a:r>
                <a:r>
                  <a:rPr lang="en-US" sz="2000" b="0" i="1" dirty="0">
                    <a:effectLst/>
                    <a:latin typeface="+mj-lt"/>
                  </a:rPr>
                  <a:t>f0=f(x0); </a:t>
                </a:r>
              </a:p>
              <a:p>
                <a:pPr marL="0" indent="0">
                  <a:buNone/>
                </a:pPr>
                <a:r>
                  <a:rPr lang="en-US" sz="2000" b="0" i="1" dirty="0">
                    <a:effectLst/>
                    <a:latin typeface="+mj-lt"/>
                  </a:rPr>
                  <a:t>f1=f(x1);     </a:t>
                </a:r>
              </a:p>
              <a:p>
                <a:pPr marL="0" indent="0" algn="l">
                  <a:lnSpc>
                    <a:spcPts val="1425"/>
                  </a:lnSpc>
                  <a:buNone/>
                </a:pPr>
                <a:r>
                  <a:rPr lang="en-US" sz="2000" i="1" dirty="0">
                    <a:latin typeface="+mj-lt"/>
                  </a:rPr>
                  <a:t>   </a:t>
                </a:r>
                <a:r>
                  <a:rPr lang="en-US" sz="2000" b="0" i="1" dirty="0">
                    <a:effectLst/>
                    <a:latin typeface="+mj-lt"/>
                  </a:rPr>
                  <a:t>if(f0*f1&gt;0) </a:t>
                </a:r>
              </a:p>
              <a:p>
                <a:pPr marL="0" indent="0">
                  <a:buNone/>
                </a:pPr>
                <a:endParaRPr lang="en-US" sz="2000" b="1" i="1" dirty="0">
                  <a:latin typeface="+mj-lt"/>
                </a:endParaRPr>
              </a:p>
              <a:p>
                <a:pPr>
                  <a:lnSpc>
                    <a:spcPts val="1425"/>
                  </a:lnSpc>
                  <a:buNone/>
                </a:pPr>
                <a:r>
                  <a:rPr lang="en-US" sz="2000" b="0" i="1" dirty="0">
                    <a:solidFill>
                      <a:srgbClr val="FFFFFF"/>
                    </a:solidFill>
                    <a:effectLst/>
                    <a:latin typeface="+mj-lt"/>
                  </a:rPr>
                  <a:t>bisection method</a:t>
                </a:r>
              </a:p>
              <a:p>
                <a:pPr marL="0" indent="0">
                  <a:buNone/>
                </a:pPr>
                <a:endParaRPr lang="en-US" sz="2000" i="1" dirty="0">
                  <a:latin typeface="+mj-lt"/>
                </a:endParaRPr>
              </a:p>
              <a:p>
                <a:pPr marL="0" indent="0" algn="l">
                  <a:lnSpc>
                    <a:spcPts val="1425"/>
                  </a:lnSpc>
                  <a:buNone/>
                </a:pPr>
                <a:endParaRPr lang="en-US" sz="2000" b="0" i="1" dirty="0">
                  <a:effectLst/>
                  <a:latin typeface="+mj-lt"/>
                </a:endParaRPr>
              </a:p>
              <a:p>
                <a:endParaRPr lang="en-US" sz="2000" b="1" i="1" dirty="0">
                  <a:latin typeface="+mj-lt"/>
                </a:endParaRPr>
              </a:p>
              <a:p>
                <a:pPr marL="0" indent="0">
                  <a:buNone/>
                </a:pPr>
                <a:endParaRPr lang="en-US" sz="2000" b="1" i="1" u="sng" dirty="0">
                  <a:latin typeface="+mj-lt"/>
                </a:endParaRPr>
              </a:p>
              <a:p>
                <a:pPr marL="0" indent="0">
                  <a:buNone/>
                </a:pPr>
                <a:endParaRPr lang="en-US" sz="2000" i="1"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i="1" u="sng" dirty="0">
                  <a:latin typeface="+mj-lt"/>
                </a:endParaRPr>
              </a:p>
              <a:p>
                <a:pPr>
                  <a:buNone/>
                </a:pPr>
                <a:endParaRPr lang="en-US" sz="2000" i="1" dirty="0">
                  <a:latin typeface="+mj-lt"/>
                </a:endParaRPr>
              </a:p>
              <a:p>
                <a:pPr>
                  <a:buNone/>
                </a:pPr>
                <a:endParaRPr kumimoji="0" lang="en-US" altLang="en-US" sz="2000" i="1" u="none" strike="noStrike" cap="none" normalizeH="0" baseline="0" dirty="0">
                  <a:ln>
                    <a:noFill/>
                  </a:ln>
                  <a:solidFill>
                    <a:schemeClr val="tx1"/>
                  </a:solidFill>
                  <a:effectLst/>
                  <a:latin typeface="+mj-lt"/>
                </a:endParaRPr>
              </a:p>
            </p:txBody>
          </p:sp>
        </mc:Choice>
        <mc:Fallback>
          <p:sp>
            <p:nvSpPr>
              <p:cNvPr id="3" name="Content Placeholder 2">
                <a:extLst>
                  <a:ext uri="{FF2B5EF4-FFF2-40B4-BE49-F238E27FC236}">
                    <a16:creationId xmlns:a16="http://schemas.microsoft.com/office/drawing/2014/main" id="{A0F8D49D-F4F5-C42C-AE46-05A2D111D355}"/>
                  </a:ext>
                </a:extLst>
              </p:cNvPr>
              <p:cNvSpPr>
                <a:spLocks noGrp="1" noRot="1" noChangeAspect="1" noMove="1" noResize="1" noEditPoints="1" noAdjustHandles="1" noChangeArrowheads="1" noChangeShapeType="1" noTextEdit="1"/>
              </p:cNvSpPr>
              <p:nvPr>
                <p:ph idx="1"/>
              </p:nvPr>
            </p:nvSpPr>
            <p:spPr>
              <a:xfrm>
                <a:off x="519727" y="312516"/>
                <a:ext cx="7429653" cy="11869652"/>
              </a:xfrm>
              <a:blipFill>
                <a:blip r:embed="rId2"/>
                <a:stretch>
                  <a:fillRect l="-902" t="-360"/>
                </a:stretch>
              </a:blipFill>
            </p:spPr>
            <p:txBody>
              <a:bodyPr/>
              <a:lstStyle/>
              <a:p>
                <a:r>
                  <a:rPr lang="en-US">
                    <a:noFill/>
                  </a:rPr>
                  <a:t> </a:t>
                </a:r>
              </a:p>
            </p:txBody>
          </p:sp>
        </mc:Fallback>
      </mc:AlternateContent>
    </p:spTree>
    <p:extLst>
      <p:ext uri="{BB962C8B-B14F-4D97-AF65-F5344CB8AC3E}">
        <p14:creationId xmlns:p14="http://schemas.microsoft.com/office/powerpoint/2010/main" val="4162858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44295B-E18D-90ED-1844-672F6E8B0FE9}"/>
              </a:ext>
            </a:extLst>
          </p:cNvPr>
          <p:cNvSpPr>
            <a:spLocks noGrp="1"/>
          </p:cNvSpPr>
          <p:nvPr>
            <p:ph idx="1"/>
          </p:nvPr>
        </p:nvSpPr>
        <p:spPr>
          <a:xfrm>
            <a:off x="519727" y="219919"/>
            <a:ext cx="7754117" cy="10044958"/>
          </a:xfrm>
        </p:spPr>
        <p:txBody>
          <a:bodyPr>
            <a:noAutofit/>
          </a:bodyPr>
          <a:lstStyle/>
          <a:p>
            <a:pPr marL="0" indent="0" algn="l">
              <a:lnSpc>
                <a:spcPts val="1425"/>
              </a:lnSpc>
              <a:buNone/>
            </a:pPr>
            <a:r>
              <a:rPr lang="en-US" sz="2000" i="1" dirty="0">
                <a:latin typeface="+mj-lt"/>
              </a:rPr>
              <a:t> </a:t>
            </a:r>
            <a:r>
              <a:rPr lang="en-US" sz="2000" b="0" i="1" dirty="0">
                <a:effectLst/>
                <a:latin typeface="+mj-lt"/>
              </a:rPr>
              <a:t>{</a:t>
            </a:r>
          </a:p>
          <a:p>
            <a:pPr marL="0" indent="0" algn="l">
              <a:lnSpc>
                <a:spcPts val="1425"/>
              </a:lnSpc>
              <a:buNone/>
            </a:pPr>
            <a:r>
              <a:rPr lang="en-US" sz="2000" i="1" dirty="0">
                <a:latin typeface="+mj-lt"/>
              </a:rPr>
              <a:t>      </a:t>
            </a:r>
            <a:r>
              <a:rPr lang="en-US" sz="2000" b="0" i="1" dirty="0" err="1">
                <a:effectLst/>
                <a:latin typeface="+mj-lt"/>
              </a:rPr>
              <a:t>printf</a:t>
            </a:r>
            <a:r>
              <a:rPr lang="en-US" sz="2000" b="0" i="1" dirty="0">
                <a:effectLst/>
                <a:latin typeface="+mj-lt"/>
              </a:rPr>
              <a:t>("Invalid input\n");</a:t>
            </a:r>
          </a:p>
          <a:p>
            <a:pPr marL="0" indent="0" algn="l">
              <a:lnSpc>
                <a:spcPts val="1425"/>
              </a:lnSpc>
              <a:buNone/>
            </a:pPr>
            <a:r>
              <a:rPr lang="en-US" sz="2000" i="1" dirty="0">
                <a:latin typeface="+mj-lt"/>
              </a:rPr>
              <a:t>      </a:t>
            </a:r>
            <a:r>
              <a:rPr lang="en-US" sz="2000" b="0" i="1" dirty="0" err="1">
                <a:effectLst/>
                <a:latin typeface="+mj-lt"/>
              </a:rPr>
              <a:t>goto</a:t>
            </a:r>
            <a:r>
              <a:rPr lang="en-US" sz="2000" b="0" i="1" dirty="0">
                <a:effectLst/>
                <a:latin typeface="+mj-lt"/>
              </a:rPr>
              <a:t> loop;</a:t>
            </a:r>
          </a:p>
          <a:p>
            <a:pPr marL="0" indent="0" algn="l">
              <a:lnSpc>
                <a:spcPts val="1425"/>
              </a:lnSpc>
              <a:buNone/>
            </a:pPr>
            <a:r>
              <a:rPr lang="en-US" sz="2000" i="1" dirty="0">
                <a:latin typeface="+mj-lt"/>
              </a:rPr>
              <a:t>    </a:t>
            </a:r>
            <a:r>
              <a:rPr lang="en-US" sz="2000" b="0" i="1" dirty="0">
                <a:effectLst/>
                <a:latin typeface="+mj-lt"/>
              </a:rPr>
              <a:t>}</a:t>
            </a:r>
          </a:p>
          <a:p>
            <a:pPr algn="l">
              <a:lnSpc>
                <a:spcPts val="1425"/>
              </a:lnSpc>
              <a:buNone/>
            </a:pPr>
            <a:r>
              <a:rPr lang="en-US" sz="2000" b="0" i="1" dirty="0">
                <a:effectLst/>
                <a:latin typeface="+mj-lt"/>
              </a:rPr>
              <a:t>else</a:t>
            </a:r>
          </a:p>
          <a:p>
            <a:pPr algn="l">
              <a:lnSpc>
                <a:spcPts val="1425"/>
              </a:lnSpc>
            </a:pPr>
            <a:r>
              <a:rPr lang="en-US" sz="2000" i="1" dirty="0">
                <a:latin typeface="+mj-lt"/>
              </a:rPr>
              <a:t>    </a:t>
            </a:r>
            <a:r>
              <a:rPr lang="en-US" sz="2000" b="0" i="1" dirty="0">
                <a:effectLst/>
                <a:latin typeface="+mj-lt"/>
              </a:rPr>
              <a:t>{</a:t>
            </a:r>
          </a:p>
          <a:p>
            <a:pPr algn="l">
              <a:lnSpc>
                <a:spcPts val="1425"/>
              </a:lnSpc>
            </a:pPr>
            <a:r>
              <a:rPr lang="en-US" sz="2000" i="1" dirty="0">
                <a:latin typeface="+mj-lt"/>
              </a:rPr>
              <a:t>      </a:t>
            </a:r>
            <a:r>
              <a:rPr lang="en-US" sz="2000" b="0" i="1" dirty="0" err="1">
                <a:effectLst/>
                <a:latin typeface="+mj-lt"/>
              </a:rPr>
              <a:t>printf</a:t>
            </a:r>
            <a:r>
              <a:rPr lang="en-US" sz="2000" b="0" i="1" dirty="0">
                <a:effectLst/>
                <a:latin typeface="+mj-lt"/>
              </a:rPr>
              <a:t>("\n initial guess bracket the root\n");</a:t>
            </a:r>
          </a:p>
          <a:p>
            <a:pPr algn="l">
              <a:lnSpc>
                <a:spcPts val="1425"/>
              </a:lnSpc>
              <a:buNone/>
            </a:pPr>
            <a:r>
              <a:rPr lang="en-US" sz="2000" i="1" dirty="0">
                <a:latin typeface="+mj-lt"/>
              </a:rPr>
              <a:t>    }</a:t>
            </a:r>
          </a:p>
          <a:p>
            <a:pPr algn="l">
              <a:lnSpc>
                <a:spcPts val="1425"/>
              </a:lnSpc>
              <a:buNone/>
            </a:pPr>
            <a:r>
              <a:rPr lang="en-US" sz="2000" b="0" i="1" dirty="0">
                <a:solidFill>
                  <a:srgbClr val="FFFFFF"/>
                </a:solidFill>
                <a:effectLst/>
                <a:latin typeface="+mj-lt"/>
              </a:rPr>
              <a:t> c </a:t>
            </a:r>
            <a:r>
              <a:rPr lang="en-US" sz="2000" b="0" i="1" dirty="0" err="1">
                <a:effectLst/>
                <a:latin typeface="+mj-lt"/>
              </a:rPr>
              <a:t>printf</a:t>
            </a:r>
            <a:r>
              <a:rPr lang="en-US" sz="2000" b="0" i="1" dirty="0">
                <a:effectLst/>
                <a:latin typeface="+mj-lt"/>
              </a:rPr>
              <a:t>("iteration\tX0\tX1\tX2\</a:t>
            </a:r>
            <a:r>
              <a:rPr lang="en-US" sz="2000" b="0" i="1" dirty="0" err="1">
                <a:effectLst/>
                <a:latin typeface="+mj-lt"/>
              </a:rPr>
              <a:t>tF</a:t>
            </a:r>
            <a:r>
              <a:rPr lang="en-US" sz="2000" b="0" i="1" dirty="0">
                <a:effectLst/>
                <a:latin typeface="+mj-lt"/>
              </a:rPr>
              <a:t>(X2)\n"); </a:t>
            </a:r>
          </a:p>
          <a:p>
            <a:pPr algn="l">
              <a:lnSpc>
                <a:spcPts val="1425"/>
              </a:lnSpc>
              <a:buNone/>
            </a:pPr>
            <a:r>
              <a:rPr lang="en-US" sz="2000" b="0" i="1" dirty="0">
                <a:effectLst/>
                <a:latin typeface="+mj-lt"/>
              </a:rPr>
              <a:t>    </a:t>
            </a:r>
            <a:r>
              <a:rPr lang="en-US" sz="2000" b="0" i="1" dirty="0" err="1">
                <a:effectLst/>
                <a:latin typeface="+mj-lt"/>
              </a:rPr>
              <a:t>printf</a:t>
            </a:r>
            <a:r>
              <a:rPr lang="en-US" sz="2000" b="0" i="1" dirty="0">
                <a:effectLst/>
                <a:latin typeface="+mj-lt"/>
              </a:rPr>
              <a:t>("--------------------------------------------------------------\n");</a:t>
            </a:r>
          </a:p>
          <a:p>
            <a:pPr algn="l">
              <a:lnSpc>
                <a:spcPts val="1425"/>
              </a:lnSpc>
            </a:pPr>
            <a:r>
              <a:rPr lang="en-US" sz="2000" b="0" i="1" dirty="0">
                <a:effectLst/>
                <a:latin typeface="+mj-lt"/>
              </a:rPr>
              <a:t>    int iteration=0; </a:t>
            </a:r>
          </a:p>
          <a:p>
            <a:pPr algn="l">
              <a:lnSpc>
                <a:spcPts val="1425"/>
              </a:lnSpc>
              <a:buNone/>
            </a:pPr>
            <a:r>
              <a:rPr lang="en-US" sz="2000" b="0" i="1" dirty="0">
                <a:effectLst/>
                <a:latin typeface="+mj-lt"/>
              </a:rPr>
              <a:t>    do{</a:t>
            </a:r>
          </a:p>
          <a:p>
            <a:pPr algn="l">
              <a:lnSpc>
                <a:spcPts val="1425"/>
              </a:lnSpc>
              <a:buNone/>
            </a:pPr>
            <a:r>
              <a:rPr lang="en-US" sz="2000" b="0" i="1" dirty="0">
                <a:effectLst/>
                <a:latin typeface="+mj-lt"/>
              </a:rPr>
              <a:t>          x2=(x0+x1)/2;    </a:t>
            </a:r>
          </a:p>
          <a:p>
            <a:pPr algn="l">
              <a:lnSpc>
                <a:spcPts val="1425"/>
              </a:lnSpc>
              <a:buNone/>
            </a:pPr>
            <a:r>
              <a:rPr lang="en-US" sz="2000" b="0" i="1" dirty="0">
                <a:effectLst/>
                <a:latin typeface="+mj-lt"/>
              </a:rPr>
              <a:t>          f2=f(x2); </a:t>
            </a:r>
          </a:p>
          <a:p>
            <a:pPr algn="l">
              <a:lnSpc>
                <a:spcPts val="1425"/>
              </a:lnSpc>
              <a:buNone/>
            </a:pPr>
            <a:r>
              <a:rPr lang="en-US" sz="2000" b="0" i="1" dirty="0">
                <a:effectLst/>
                <a:latin typeface="+mj-lt"/>
              </a:rPr>
              <a:t>          </a:t>
            </a:r>
            <a:r>
              <a:rPr lang="en-US" sz="2000" b="0" i="1" dirty="0" err="1">
                <a:effectLst/>
                <a:latin typeface="+mj-lt"/>
              </a:rPr>
              <a:t>printf</a:t>
            </a:r>
            <a:r>
              <a:rPr lang="en-US" sz="2000" b="0" i="1" dirty="0">
                <a:effectLst/>
                <a:latin typeface="+mj-lt"/>
              </a:rPr>
              <a:t>("%d\</a:t>
            </a:r>
            <a:r>
              <a:rPr lang="en-US" sz="2000" b="0" i="1" dirty="0" err="1">
                <a:effectLst/>
                <a:latin typeface="+mj-lt"/>
              </a:rPr>
              <a:t>t%f</a:t>
            </a:r>
            <a:r>
              <a:rPr lang="en-US" sz="2000" b="0" i="1" dirty="0">
                <a:effectLst/>
                <a:latin typeface="+mj-lt"/>
              </a:rPr>
              <a:t>\</a:t>
            </a:r>
            <a:r>
              <a:rPr lang="en-US" sz="2000" b="0" i="1" dirty="0" err="1">
                <a:effectLst/>
                <a:latin typeface="+mj-lt"/>
              </a:rPr>
              <a:t>t%f</a:t>
            </a:r>
            <a:r>
              <a:rPr lang="en-US" sz="2000" b="0" i="1" dirty="0">
                <a:effectLst/>
                <a:latin typeface="+mj-lt"/>
              </a:rPr>
              <a:t>\</a:t>
            </a:r>
            <a:r>
              <a:rPr lang="en-US" sz="2000" b="0" i="1" dirty="0" err="1">
                <a:effectLst/>
                <a:latin typeface="+mj-lt"/>
              </a:rPr>
              <a:t>t%f</a:t>
            </a:r>
            <a:r>
              <a:rPr lang="en-US" sz="2000" b="0" i="1" dirty="0">
                <a:effectLst/>
                <a:latin typeface="+mj-lt"/>
              </a:rPr>
              <a:t>\</a:t>
            </a:r>
            <a:r>
              <a:rPr lang="en-US" sz="2000" b="0" i="1" dirty="0" err="1">
                <a:effectLst/>
                <a:latin typeface="+mj-lt"/>
              </a:rPr>
              <a:t>t%f</a:t>
            </a:r>
            <a:r>
              <a:rPr lang="en-US" sz="2000" b="0" i="1" dirty="0">
                <a:effectLst/>
                <a:latin typeface="+mj-lt"/>
              </a:rPr>
              <a:t>\n", iteration, x0, x1, x2,fabs(f2)); </a:t>
            </a:r>
          </a:p>
          <a:p>
            <a:pPr algn="l">
              <a:lnSpc>
                <a:spcPts val="1425"/>
              </a:lnSpc>
              <a:buNone/>
            </a:pPr>
            <a:r>
              <a:rPr lang="en-US" sz="2000" b="0" i="1" dirty="0">
                <a:effectLst/>
                <a:latin typeface="+mj-lt"/>
              </a:rPr>
              <a:t>          iteration++; </a:t>
            </a:r>
          </a:p>
          <a:p>
            <a:pPr algn="l">
              <a:lnSpc>
                <a:spcPts val="1425"/>
              </a:lnSpc>
              <a:buNone/>
            </a:pPr>
            <a:r>
              <a:rPr lang="en-US" sz="2000" b="0" i="1" dirty="0">
                <a:effectLst/>
                <a:latin typeface="+mj-lt"/>
              </a:rPr>
              <a:t>          if(f2 == 0)</a:t>
            </a:r>
          </a:p>
          <a:p>
            <a:pPr algn="l">
              <a:lnSpc>
                <a:spcPts val="1425"/>
              </a:lnSpc>
              <a:buNone/>
            </a:pPr>
            <a:r>
              <a:rPr lang="en-US" sz="2000" b="0" i="1" dirty="0">
                <a:effectLst/>
                <a:latin typeface="+mj-lt"/>
              </a:rPr>
              <a:t>          break;</a:t>
            </a:r>
          </a:p>
          <a:p>
            <a:pPr algn="l">
              <a:lnSpc>
                <a:spcPts val="1425"/>
              </a:lnSpc>
              <a:buNone/>
            </a:pPr>
            <a:r>
              <a:rPr lang="en-US" sz="2000" b="0" i="1" dirty="0">
                <a:effectLst/>
                <a:latin typeface="+mj-lt"/>
              </a:rPr>
              <a:t>          else if (f0*f2&lt;0)</a:t>
            </a:r>
          </a:p>
          <a:p>
            <a:pPr algn="l">
              <a:lnSpc>
                <a:spcPts val="1425"/>
              </a:lnSpc>
              <a:buNone/>
            </a:pPr>
            <a:r>
              <a:rPr lang="en-US" sz="2000" b="0" i="1" dirty="0">
                <a:effectLst/>
                <a:latin typeface="+mj-lt"/>
              </a:rPr>
              <a:t>          x1=x2;</a:t>
            </a:r>
          </a:p>
          <a:p>
            <a:pPr algn="l">
              <a:lnSpc>
                <a:spcPts val="1425"/>
              </a:lnSpc>
              <a:buNone/>
            </a:pPr>
            <a:r>
              <a:rPr lang="en-US" sz="2000" b="0" i="1" dirty="0">
                <a:effectLst/>
                <a:latin typeface="+mj-lt"/>
              </a:rPr>
              <a:t>          else</a:t>
            </a:r>
          </a:p>
          <a:p>
            <a:pPr algn="l">
              <a:lnSpc>
                <a:spcPts val="1425"/>
              </a:lnSpc>
              <a:buNone/>
            </a:pPr>
            <a:r>
              <a:rPr lang="en-US" sz="2000" b="0" i="1" dirty="0">
                <a:effectLst/>
                <a:latin typeface="+mj-lt"/>
              </a:rPr>
              <a:t>          x0=x2;</a:t>
            </a:r>
          </a:p>
          <a:p>
            <a:pPr algn="l">
              <a:lnSpc>
                <a:spcPts val="1425"/>
              </a:lnSpc>
              <a:buNone/>
            </a:pPr>
            <a:r>
              <a:rPr lang="en-US" sz="2000" b="0" i="1" dirty="0">
                <a:effectLst/>
                <a:latin typeface="+mj-lt"/>
              </a:rPr>
              <a:t>     }while(fabs(f2)&gt;</a:t>
            </a:r>
            <a:r>
              <a:rPr lang="en-US" sz="2000" b="0" i="1" dirty="0" err="1">
                <a:effectLst/>
                <a:latin typeface="+mj-lt"/>
              </a:rPr>
              <a:t>tol</a:t>
            </a:r>
            <a:r>
              <a:rPr lang="en-US" sz="2000" b="0" i="1" dirty="0">
                <a:effectLst/>
                <a:latin typeface="+mj-lt"/>
              </a:rPr>
              <a:t>); </a:t>
            </a:r>
          </a:p>
          <a:p>
            <a:pPr algn="l">
              <a:lnSpc>
                <a:spcPts val="1425"/>
              </a:lnSpc>
              <a:buNone/>
            </a:pPr>
            <a:r>
              <a:rPr lang="en-US" sz="2000" b="0" i="1" dirty="0">
                <a:effectLst/>
                <a:latin typeface="+mj-lt"/>
              </a:rPr>
              <a:t>     </a:t>
            </a:r>
            <a:r>
              <a:rPr lang="en-US" sz="2000" b="0" i="1" dirty="0" err="1">
                <a:effectLst/>
                <a:latin typeface="+mj-lt"/>
              </a:rPr>
              <a:t>printf</a:t>
            </a:r>
            <a:r>
              <a:rPr lang="en-US" sz="2000" b="0" i="1" dirty="0">
                <a:effectLst/>
                <a:latin typeface="+mj-lt"/>
              </a:rPr>
              <a:t>("\</a:t>
            </a:r>
            <a:r>
              <a:rPr lang="en-US" sz="2000" b="0" i="1" dirty="0" err="1">
                <a:effectLst/>
                <a:latin typeface="+mj-lt"/>
              </a:rPr>
              <a:t>nRoot</a:t>
            </a:r>
            <a:r>
              <a:rPr lang="en-US" sz="2000" b="0" i="1" dirty="0">
                <a:effectLst/>
                <a:latin typeface="+mj-lt"/>
              </a:rPr>
              <a:t> is: %f\n", x2); </a:t>
            </a:r>
          </a:p>
          <a:p>
            <a:pPr algn="l">
              <a:lnSpc>
                <a:spcPts val="1425"/>
              </a:lnSpc>
              <a:buNone/>
            </a:pPr>
            <a:r>
              <a:rPr lang="en-US" sz="2000" b="0" i="1" dirty="0">
                <a:effectLst/>
                <a:latin typeface="+mj-lt"/>
              </a:rPr>
              <a:t>     return 0;</a:t>
            </a:r>
          </a:p>
          <a:p>
            <a:pPr algn="l">
              <a:lnSpc>
                <a:spcPts val="1425"/>
              </a:lnSpc>
              <a:buNone/>
            </a:pPr>
            <a:r>
              <a:rPr lang="en-US" sz="2000" b="0" i="1" dirty="0">
                <a:effectLst/>
                <a:latin typeface="+mj-lt"/>
              </a:rPr>
              <a:t>}</a:t>
            </a:r>
            <a:endParaRPr lang="en-US" sz="2000" b="1" i="1" u="sng" dirty="0">
              <a:latin typeface="+mj-lt"/>
            </a:endParaRPr>
          </a:p>
          <a:p>
            <a:pPr marL="0" indent="0" algn="l">
              <a:lnSpc>
                <a:spcPts val="1425"/>
              </a:lnSpc>
              <a:buNone/>
            </a:pPr>
            <a:endParaRPr lang="en-US" sz="2000" i="1" dirty="0">
              <a:latin typeface="+mj-lt"/>
            </a:endParaRPr>
          </a:p>
          <a:p>
            <a:pPr marL="0" indent="0" algn="l">
              <a:lnSpc>
                <a:spcPts val="1425"/>
              </a:lnSpc>
              <a:buNone/>
            </a:pPr>
            <a:r>
              <a:rPr lang="en-US" sz="2000" b="1" i="1" u="sng" dirty="0">
                <a:latin typeface="+mj-lt"/>
              </a:rPr>
              <a:t>Output :</a:t>
            </a:r>
          </a:p>
        </p:txBody>
      </p:sp>
      <p:pic>
        <p:nvPicPr>
          <p:cNvPr id="2" name="Picture 1">
            <a:extLst>
              <a:ext uri="{FF2B5EF4-FFF2-40B4-BE49-F238E27FC236}">
                <a16:creationId xmlns:a16="http://schemas.microsoft.com/office/drawing/2014/main" id="{2A79E363-C1F3-3A77-9DE8-EB23726D7483}"/>
              </a:ext>
            </a:extLst>
          </p:cNvPr>
          <p:cNvPicPr>
            <a:picLocks noChangeAspect="1"/>
          </p:cNvPicPr>
          <p:nvPr/>
        </p:nvPicPr>
        <p:blipFill>
          <a:blip r:embed="rId2"/>
          <a:stretch>
            <a:fillRect/>
          </a:stretch>
        </p:blipFill>
        <p:spPr>
          <a:xfrm>
            <a:off x="2595715" y="7282650"/>
            <a:ext cx="4090071" cy="3189244"/>
          </a:xfrm>
          <a:prstGeom prst="rect">
            <a:avLst/>
          </a:prstGeom>
        </p:spPr>
      </p:pic>
    </p:spTree>
    <p:extLst>
      <p:ext uri="{BB962C8B-B14F-4D97-AF65-F5344CB8AC3E}">
        <p14:creationId xmlns:p14="http://schemas.microsoft.com/office/powerpoint/2010/main" val="4073171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73FFFA-2C23-8607-D45F-87A42C3F8B6A}"/>
              </a:ext>
            </a:extLst>
          </p:cNvPr>
          <p:cNvSpPr>
            <a:spLocks noGrp="1"/>
          </p:cNvSpPr>
          <p:nvPr>
            <p:ph idx="1"/>
          </p:nvPr>
        </p:nvSpPr>
        <p:spPr>
          <a:xfrm>
            <a:off x="405115" y="335665"/>
            <a:ext cx="7154560" cy="12185715"/>
          </a:xfrm>
        </p:spPr>
        <p:txBody>
          <a:bodyPr>
            <a:normAutofit/>
          </a:bodyPr>
          <a:lstStyle/>
          <a:p>
            <a:pPr marL="0" indent="0">
              <a:buNone/>
            </a:pPr>
            <a:r>
              <a:rPr lang="en-US" sz="2000" b="1" i="1" u="sng" dirty="0">
                <a:latin typeface="+mj-lt"/>
              </a:rPr>
              <a:t>Discussion &amp; Conclusion:</a:t>
            </a:r>
          </a:p>
          <a:p>
            <a:pPr marL="0" indent="0">
              <a:buNone/>
            </a:pPr>
            <a:r>
              <a:rPr lang="en-US" sz="2000" dirty="0">
                <a:latin typeface="+mj-lt"/>
              </a:rPr>
              <a:t>The Bisection Method was used to approximate the root of a nonlinear equation by iteratively halving an interval where a sign change occurred. While it provided a structured and reliable approach, the method was relatively slow, requiring multiple iterations for improved accuracy. The experiment confirmed its effectiveness but also highlighted its computational expense compared to faster alternatives. Despite its limitations, the Bisection Method remains a fundamental numerical technique for solving equations when analytical solutions are impractical.</a:t>
            </a:r>
            <a:endParaRPr lang="en-US" sz="2000" b="1" i="1" u="sng" dirty="0">
              <a:latin typeface="+mj-lt"/>
            </a:endParaRPr>
          </a:p>
        </p:txBody>
      </p:sp>
    </p:spTree>
    <p:extLst>
      <p:ext uri="{BB962C8B-B14F-4D97-AF65-F5344CB8AC3E}">
        <p14:creationId xmlns:p14="http://schemas.microsoft.com/office/powerpoint/2010/main" val="17916902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1290</TotalTime>
  <Words>731</Words>
  <Application>Microsoft Office PowerPoint</Application>
  <PresentationFormat>Custom</PresentationFormat>
  <Paragraphs>96</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oshan bajracharya</dc:creator>
  <cp:lastModifiedBy>oshan bajracharya</cp:lastModifiedBy>
  <cp:revision>7</cp:revision>
  <dcterms:created xsi:type="dcterms:W3CDTF">2025-05-10T09:54:44Z</dcterms:created>
  <dcterms:modified xsi:type="dcterms:W3CDTF">2025-05-15T01:20:27Z</dcterms:modified>
</cp:coreProperties>
</file>