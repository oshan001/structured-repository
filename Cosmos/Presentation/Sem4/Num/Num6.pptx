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7589838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241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238" y="1750834"/>
            <a:ext cx="6451362" cy="3724546"/>
          </a:xfrm>
        </p:spPr>
        <p:txBody>
          <a:bodyPr anchor="b"/>
          <a:lstStyle>
            <a:lvl1pPr algn="ctr">
              <a:defRPr sz="4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730" y="5619013"/>
            <a:ext cx="5692379" cy="2582912"/>
          </a:xfrm>
        </p:spPr>
        <p:txBody>
          <a:bodyPr/>
          <a:lstStyle>
            <a:lvl1pPr marL="0" indent="0" algn="ctr">
              <a:buNone/>
              <a:defRPr sz="1992"/>
            </a:lvl1pPr>
            <a:lvl2pPr marL="379476" indent="0" algn="ctr">
              <a:buNone/>
              <a:defRPr sz="1660"/>
            </a:lvl2pPr>
            <a:lvl3pPr marL="758952" indent="0" algn="ctr">
              <a:buNone/>
              <a:defRPr sz="1494"/>
            </a:lvl3pPr>
            <a:lvl4pPr marL="1138428" indent="0" algn="ctr">
              <a:buNone/>
              <a:defRPr sz="1328"/>
            </a:lvl4pPr>
            <a:lvl5pPr marL="1517904" indent="0" algn="ctr">
              <a:buNone/>
              <a:defRPr sz="1328"/>
            </a:lvl5pPr>
            <a:lvl6pPr marL="1897380" indent="0" algn="ctr">
              <a:buNone/>
              <a:defRPr sz="1328"/>
            </a:lvl6pPr>
            <a:lvl7pPr marL="2276856" indent="0" algn="ctr">
              <a:buNone/>
              <a:defRPr sz="1328"/>
            </a:lvl7pPr>
            <a:lvl8pPr marL="2656332" indent="0" algn="ctr">
              <a:buNone/>
              <a:defRPr sz="1328"/>
            </a:lvl8pPr>
            <a:lvl9pPr marL="3035808" indent="0" algn="ctr">
              <a:buNone/>
              <a:defRPr sz="13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8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49" y="2667115"/>
            <a:ext cx="6546235" cy="4450138"/>
          </a:xfrm>
        </p:spPr>
        <p:txBody>
          <a:bodyPr anchor="b"/>
          <a:lstStyle>
            <a:lvl1pPr>
              <a:defRPr sz="4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849" y="7159353"/>
            <a:ext cx="6546235" cy="2340222"/>
          </a:xfrm>
        </p:spPr>
        <p:txBody>
          <a:bodyPr/>
          <a:lstStyle>
            <a:lvl1pPr marL="0" indent="0">
              <a:buNone/>
              <a:defRPr sz="1992">
                <a:solidFill>
                  <a:schemeClr val="tx1"/>
                </a:solidFill>
              </a:defRPr>
            </a:lvl1pPr>
            <a:lvl2pPr marL="379476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2pPr>
            <a:lvl3pPr marL="758952" indent="0">
              <a:buNone/>
              <a:defRPr sz="1494">
                <a:solidFill>
                  <a:schemeClr val="tx1">
                    <a:tint val="75000"/>
                  </a:schemeClr>
                </a:solidFill>
              </a:defRPr>
            </a:lvl3pPr>
            <a:lvl4pPr marL="1138428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4pPr>
            <a:lvl5pPr marL="1517904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5pPr>
            <a:lvl6pPr marL="1897380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6pPr>
            <a:lvl7pPr marL="2276856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7pPr>
            <a:lvl8pPr marL="2656332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8pPr>
            <a:lvl9pPr marL="3035808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4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801" y="2847891"/>
            <a:ext cx="3225681" cy="6787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2356" y="2847891"/>
            <a:ext cx="3225681" cy="6787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6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569580"/>
            <a:ext cx="6546235" cy="20678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791" y="2622536"/>
            <a:ext cx="3210857" cy="1285265"/>
          </a:xfrm>
        </p:spPr>
        <p:txBody>
          <a:bodyPr anchor="b"/>
          <a:lstStyle>
            <a:lvl1pPr marL="0" indent="0">
              <a:buNone/>
              <a:defRPr sz="1992" b="1"/>
            </a:lvl1pPr>
            <a:lvl2pPr marL="379476" indent="0">
              <a:buNone/>
              <a:defRPr sz="1660" b="1"/>
            </a:lvl2pPr>
            <a:lvl3pPr marL="758952" indent="0">
              <a:buNone/>
              <a:defRPr sz="1494" b="1"/>
            </a:lvl3pPr>
            <a:lvl4pPr marL="1138428" indent="0">
              <a:buNone/>
              <a:defRPr sz="1328" b="1"/>
            </a:lvl4pPr>
            <a:lvl5pPr marL="1517904" indent="0">
              <a:buNone/>
              <a:defRPr sz="1328" b="1"/>
            </a:lvl5pPr>
            <a:lvl6pPr marL="1897380" indent="0">
              <a:buNone/>
              <a:defRPr sz="1328" b="1"/>
            </a:lvl6pPr>
            <a:lvl7pPr marL="2276856" indent="0">
              <a:buNone/>
              <a:defRPr sz="1328" b="1"/>
            </a:lvl7pPr>
            <a:lvl8pPr marL="2656332" indent="0">
              <a:buNone/>
              <a:defRPr sz="1328" b="1"/>
            </a:lvl8pPr>
            <a:lvl9pPr marL="3035808" indent="0">
              <a:buNone/>
              <a:defRPr sz="13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791" y="3907801"/>
            <a:ext cx="3210857" cy="574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2356" y="2622536"/>
            <a:ext cx="3226670" cy="1285265"/>
          </a:xfrm>
        </p:spPr>
        <p:txBody>
          <a:bodyPr anchor="b"/>
          <a:lstStyle>
            <a:lvl1pPr marL="0" indent="0">
              <a:buNone/>
              <a:defRPr sz="1992" b="1"/>
            </a:lvl1pPr>
            <a:lvl2pPr marL="379476" indent="0">
              <a:buNone/>
              <a:defRPr sz="1660" b="1"/>
            </a:lvl2pPr>
            <a:lvl3pPr marL="758952" indent="0">
              <a:buNone/>
              <a:defRPr sz="1494" b="1"/>
            </a:lvl3pPr>
            <a:lvl4pPr marL="1138428" indent="0">
              <a:buNone/>
              <a:defRPr sz="1328" b="1"/>
            </a:lvl4pPr>
            <a:lvl5pPr marL="1517904" indent="0">
              <a:buNone/>
              <a:defRPr sz="1328" b="1"/>
            </a:lvl5pPr>
            <a:lvl6pPr marL="1897380" indent="0">
              <a:buNone/>
              <a:defRPr sz="1328" b="1"/>
            </a:lvl6pPr>
            <a:lvl7pPr marL="2276856" indent="0">
              <a:buNone/>
              <a:defRPr sz="1328" b="1"/>
            </a:lvl7pPr>
            <a:lvl8pPr marL="2656332" indent="0">
              <a:buNone/>
              <a:defRPr sz="1328" b="1"/>
            </a:lvl8pPr>
            <a:lvl9pPr marL="3035808" indent="0">
              <a:buNone/>
              <a:defRPr sz="13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2356" y="3907801"/>
            <a:ext cx="3226670" cy="574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5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8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713211"/>
            <a:ext cx="2447920" cy="2496238"/>
          </a:xfrm>
        </p:spPr>
        <p:txBody>
          <a:bodyPr anchor="b"/>
          <a:lstStyle>
            <a:lvl1pPr>
              <a:defRPr sz="26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6670" y="1540340"/>
            <a:ext cx="3842355" cy="7602630"/>
          </a:xfrm>
        </p:spPr>
        <p:txBody>
          <a:bodyPr/>
          <a:lstStyle>
            <a:lvl1pPr>
              <a:defRPr sz="2656"/>
            </a:lvl1pPr>
            <a:lvl2pPr>
              <a:defRPr sz="2324"/>
            </a:lvl2pPr>
            <a:lvl3pPr>
              <a:defRPr sz="1992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3209449"/>
            <a:ext cx="2447920" cy="5945901"/>
          </a:xfrm>
        </p:spPr>
        <p:txBody>
          <a:bodyPr/>
          <a:lstStyle>
            <a:lvl1pPr marL="0" indent="0">
              <a:buNone/>
              <a:defRPr sz="1328"/>
            </a:lvl1pPr>
            <a:lvl2pPr marL="379476" indent="0">
              <a:buNone/>
              <a:defRPr sz="1162"/>
            </a:lvl2pPr>
            <a:lvl3pPr marL="758952" indent="0">
              <a:buNone/>
              <a:defRPr sz="996"/>
            </a:lvl3pPr>
            <a:lvl4pPr marL="1138428" indent="0">
              <a:buNone/>
              <a:defRPr sz="830"/>
            </a:lvl4pPr>
            <a:lvl5pPr marL="1517904" indent="0">
              <a:buNone/>
              <a:defRPr sz="830"/>
            </a:lvl5pPr>
            <a:lvl6pPr marL="1897380" indent="0">
              <a:buNone/>
              <a:defRPr sz="830"/>
            </a:lvl6pPr>
            <a:lvl7pPr marL="2276856" indent="0">
              <a:buNone/>
              <a:defRPr sz="830"/>
            </a:lvl7pPr>
            <a:lvl8pPr marL="2656332" indent="0">
              <a:buNone/>
              <a:defRPr sz="830"/>
            </a:lvl8pPr>
            <a:lvl9pPr marL="3035808" indent="0">
              <a:buNone/>
              <a:defRPr sz="8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713211"/>
            <a:ext cx="2447920" cy="2496238"/>
          </a:xfrm>
        </p:spPr>
        <p:txBody>
          <a:bodyPr anchor="b"/>
          <a:lstStyle>
            <a:lvl1pPr>
              <a:defRPr sz="26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26670" y="1540340"/>
            <a:ext cx="3842355" cy="7602630"/>
          </a:xfrm>
        </p:spPr>
        <p:txBody>
          <a:bodyPr anchor="t"/>
          <a:lstStyle>
            <a:lvl1pPr marL="0" indent="0">
              <a:buNone/>
              <a:defRPr sz="2656"/>
            </a:lvl1pPr>
            <a:lvl2pPr marL="379476" indent="0">
              <a:buNone/>
              <a:defRPr sz="2324"/>
            </a:lvl2pPr>
            <a:lvl3pPr marL="758952" indent="0">
              <a:buNone/>
              <a:defRPr sz="1992"/>
            </a:lvl3pPr>
            <a:lvl4pPr marL="1138428" indent="0">
              <a:buNone/>
              <a:defRPr sz="1660"/>
            </a:lvl4pPr>
            <a:lvl5pPr marL="1517904" indent="0">
              <a:buNone/>
              <a:defRPr sz="1660"/>
            </a:lvl5pPr>
            <a:lvl6pPr marL="1897380" indent="0">
              <a:buNone/>
              <a:defRPr sz="1660"/>
            </a:lvl6pPr>
            <a:lvl7pPr marL="2276856" indent="0">
              <a:buNone/>
              <a:defRPr sz="1660"/>
            </a:lvl7pPr>
            <a:lvl8pPr marL="2656332" indent="0">
              <a:buNone/>
              <a:defRPr sz="1660"/>
            </a:lvl8pPr>
            <a:lvl9pPr marL="3035808" indent="0">
              <a:buNone/>
              <a:defRPr sz="1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3209449"/>
            <a:ext cx="2447920" cy="5945901"/>
          </a:xfrm>
        </p:spPr>
        <p:txBody>
          <a:bodyPr/>
          <a:lstStyle>
            <a:lvl1pPr marL="0" indent="0">
              <a:buNone/>
              <a:defRPr sz="1328"/>
            </a:lvl1pPr>
            <a:lvl2pPr marL="379476" indent="0">
              <a:buNone/>
              <a:defRPr sz="1162"/>
            </a:lvl2pPr>
            <a:lvl3pPr marL="758952" indent="0">
              <a:buNone/>
              <a:defRPr sz="996"/>
            </a:lvl3pPr>
            <a:lvl4pPr marL="1138428" indent="0">
              <a:buNone/>
              <a:defRPr sz="830"/>
            </a:lvl4pPr>
            <a:lvl5pPr marL="1517904" indent="0">
              <a:buNone/>
              <a:defRPr sz="830"/>
            </a:lvl5pPr>
            <a:lvl6pPr marL="1897380" indent="0">
              <a:buNone/>
              <a:defRPr sz="830"/>
            </a:lvl6pPr>
            <a:lvl7pPr marL="2276856" indent="0">
              <a:buNone/>
              <a:defRPr sz="830"/>
            </a:lvl7pPr>
            <a:lvl8pPr marL="2656332" indent="0">
              <a:buNone/>
              <a:defRPr sz="830"/>
            </a:lvl8pPr>
            <a:lvl9pPr marL="3035808" indent="0">
              <a:buNone/>
              <a:defRPr sz="8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9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2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31478" y="569578"/>
            <a:ext cx="1636559" cy="9066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1802" y="569578"/>
            <a:ext cx="4814803" cy="906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3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802" y="569580"/>
            <a:ext cx="6546235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802" y="2847891"/>
            <a:ext cx="6546235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1801" y="9915615"/>
            <a:ext cx="1707714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A4612-6336-4990-96B8-1F45CCA6454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4134" y="9915615"/>
            <a:ext cx="2561570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60323" y="9915615"/>
            <a:ext cx="1707714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CE4C-5D27-4786-A638-BCAC85B30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6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8952" rtl="0" eaLnBrk="1" latinLnBrk="0" hangingPunct="1">
        <a:lnSpc>
          <a:spcPct val="90000"/>
        </a:lnSpc>
        <a:spcBef>
          <a:spcPct val="0"/>
        </a:spcBef>
        <a:buNone/>
        <a:defRPr sz="36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738" indent="-189738" algn="l" defTabSz="758952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324" kern="1200">
          <a:solidFill>
            <a:schemeClr val="tx1"/>
          </a:solidFill>
          <a:latin typeface="+mn-lt"/>
          <a:ea typeface="+mn-ea"/>
          <a:cs typeface="+mn-cs"/>
        </a:defRPr>
      </a:lvl1pPr>
      <a:lvl2pPr marL="569214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948690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328166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4pPr>
      <a:lvl5pPr marL="1707642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5pPr>
      <a:lvl6pPr marL="2087118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6pPr>
      <a:lvl7pPr marL="2466594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7pPr>
      <a:lvl8pPr marL="2846070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8pPr>
      <a:lvl9pPr marL="3225546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1pPr>
      <a:lvl2pPr marL="379476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2pPr>
      <a:lvl3pPr marL="758952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3pPr>
      <a:lvl4pPr marL="1138428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4pPr>
      <a:lvl5pPr marL="1517904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5pPr>
      <a:lvl6pPr marL="1897380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6pPr>
      <a:lvl7pPr marL="2276856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7pPr>
      <a:lvl8pPr marL="2656332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8pPr>
      <a:lvl9pPr marL="3035808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FBC3A33-6081-B416-668D-1A8517EC686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96389" y="313509"/>
                <a:ext cx="6742611" cy="10278291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1600" b="1" u="sng" dirty="0">
                    <a:latin typeface="+mj-lt"/>
                  </a:rPr>
                  <a:t>TITLE :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Numerical Integration using Romberg's Integration</a:t>
                </a:r>
              </a:p>
              <a:p>
                <a:pPr algn="l"/>
                <a:r>
                  <a:rPr lang="en-US" sz="1600" b="1" u="sng" dirty="0">
                    <a:latin typeface="+mj-lt"/>
                  </a:rPr>
                  <a:t>OBJECTIVE :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To implement Romberg’s Integration method using the trapezoidal rule and Richardson extrapolation.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To achieve highly accurate numerical results for definite integrals and analyze the efficiency of the method.</a:t>
                </a:r>
              </a:p>
              <a:p>
                <a:pPr algn="l"/>
                <a:r>
                  <a:rPr lang="en-US" sz="1600" b="1" u="sng" dirty="0">
                    <a:latin typeface="+mj-lt"/>
                  </a:rPr>
                  <a:t>THEORY :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Trapezoidal Rule: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It approximates the area under a curve by dividing the interval into n equal subintervals and summing up the areas of trapezoids.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/>
                        <m:t>𝑻</m:t>
                      </m:r>
                      <m:d>
                        <m:dPr>
                          <m:ctrlPr>
                            <a:rPr lang="en-US" sz="1600" b="1" i="1" dirty="0" smtClean="0">
                              <a:solidFill>
                                <a:srgbClr val="836967"/>
                              </a:solidFill>
                            </a:rPr>
                          </m:ctrlPr>
                        </m:dPr>
                        <m:e>
                          <m:r>
                            <a:rPr lang="en-US" sz="1600" b="1" i="1" dirty="0" smtClean="0">
                              <a:solidFill>
                                <a:srgbClr val="836967"/>
                              </a:solidFill>
                            </a:rPr>
                            <m:t>𝒉</m:t>
                          </m:r>
                        </m:e>
                      </m:d>
                      <m:r>
                        <a:rPr lang="en-US" sz="1600" b="1" i="1" dirty="0" smtClean="0"/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836967"/>
                              </a:solidFill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836967"/>
                              </a:solidFill>
                            </a:rPr>
                            <m:t>𝒉</m:t>
                          </m:r>
                        </m:num>
                        <m:den>
                          <m:r>
                            <a:rPr lang="en-US" sz="1600" b="1" i="0" dirty="0" smtClean="0"/>
                            <m:t>𝟐</m:t>
                          </m:r>
                        </m:den>
                      </m:f>
                      <m:r>
                        <a:rPr lang="en-US" sz="1600" b="1" i="1" dirty="0" smtClean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 dirty="0" smtClean="0">
                              <a:solidFill>
                                <a:srgbClr val="836967"/>
                              </a:solidFill>
                            </a:rPr>
                          </m:ctrlPr>
                        </m:dPr>
                        <m:e>
                          <m:r>
                            <a:rPr lang="en-US" sz="1600" b="1" i="0" dirty="0" smtClean="0">
                              <a:solidFill>
                                <a:srgbClr val="836967"/>
                              </a:solidFill>
                            </a:rPr>
                            <m:t>𝐟</m:t>
                          </m:r>
                          <m:d>
                            <m:dPr>
                              <m:ctrlPr>
                                <a:rPr lang="en-US" sz="1600" b="1" i="1" dirty="0" smtClean="0">
                                  <a:solidFill>
                                    <a:srgbClr val="836967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z="1600" b="1" i="0" dirty="0" smtClean="0">
                                  <a:solidFill>
                                    <a:srgbClr val="836967"/>
                                  </a:solidFill>
                                </a:rPr>
                                <m:t>𝐱</m:t>
                              </m:r>
                            </m:e>
                          </m:d>
                          <m:r>
                            <a:rPr lang="en-US" sz="1600" b="1" i="0" dirty="0" smtClean="0">
                              <a:solidFill>
                                <a:srgbClr val="836967"/>
                              </a:solidFill>
                            </a:rPr>
                            <m:t>+</m:t>
                          </m:r>
                          <m:r>
                            <a:rPr lang="en-US" sz="1600" b="1" i="0" dirty="0" smtClean="0">
                              <a:solidFill>
                                <a:srgbClr val="836967"/>
                              </a:solidFill>
                            </a:rPr>
                            <m:t>𝟐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1600" b="1" i="1" dirty="0" smtClean="0"/>
                              </m:ctrlPr>
                            </m:naryPr>
                            <m:sub>
                              <m:r>
                                <a:rPr lang="en-US" sz="1600" b="1" i="1" dirty="0" smtClean="0"/>
                                <m:t>𝒊</m:t>
                              </m:r>
                              <m:r>
                                <a:rPr lang="en-US" sz="1600" b="1" i="1" dirty="0" smtClean="0"/>
                                <m:t>=</m:t>
                              </m:r>
                              <m:r>
                                <a:rPr lang="en-US" sz="1600" b="1" i="1" dirty="0" smtClean="0"/>
                                <m:t>𝟏</m:t>
                              </m:r>
                            </m:sub>
                            <m:sup>
                              <m:r>
                                <a:rPr lang="en-US" sz="1600" b="1" i="1" dirty="0" smtClean="0"/>
                                <m:t>𝒏</m:t>
                              </m:r>
                              <m:r>
                                <a:rPr lang="en-US" sz="1600" b="1" i="1" dirty="0" smtClean="0"/>
                                <m:t>−</m:t>
                              </m:r>
                              <m:r>
                                <a:rPr lang="en-US" sz="1600" b="1" i="1" dirty="0" smtClean="0"/>
                                <m:t>𝟏</m:t>
                              </m:r>
                            </m:sup>
                            <m:e>
                              <m:r>
                                <a:rPr lang="en-US" sz="1600" b="1" i="0" dirty="0" smtClean="0"/>
                                <m:t>𝐟</m:t>
                              </m:r>
                              <m:d>
                                <m:dPr>
                                  <m:ctrlPr>
                                    <a:rPr lang="en-US" sz="1600" b="1" i="1" dirty="0" smtClean="0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 dirty="0" smtClean="0">
                                          <a:solidFill>
                                            <a:srgbClr val="836967"/>
                                          </a:solidFill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dirty="0" smtClean="0"/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 b="1" i="1" dirty="0" smtClean="0"/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1" i="1" dirty="0" smtClean="0"/>
                                <m:t>+</m:t>
                              </m:r>
                              <m:r>
                                <a:rPr lang="en-US" sz="1600" b="1" i="1" dirty="0" smtClean="0"/>
                                <m:t>𝒇</m:t>
                              </m:r>
                              <m:r>
                                <a:rPr lang="en-US" sz="1600" b="1" i="1" dirty="0" smtClean="0"/>
                                <m:t>(</m:t>
                              </m:r>
                              <m:r>
                                <a:rPr lang="en-US" sz="1600" b="1" i="1" dirty="0" smtClean="0"/>
                                <m:t>𝒃</m:t>
                              </m:r>
                              <m:r>
                                <a:rPr lang="en-US" sz="1600" b="1" i="1" dirty="0" smtClean="0"/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1600" b="1" dirty="0"/>
              </a:p>
              <a:p>
                <a:pPr algn="l"/>
                <a:r>
                  <a:rPr lang="en-US" sz="1600" b="1" dirty="0">
                    <a:latin typeface="+mj-lt"/>
                  </a:rPr>
                  <a:t>Romberg’s Method: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Romberg integration generates a table of improved approximations R(</a:t>
                </a:r>
                <a:r>
                  <a:rPr lang="en-US" sz="1600" dirty="0" err="1">
                    <a:latin typeface="+mj-lt"/>
                  </a:rPr>
                  <a:t>n,m</a:t>
                </a:r>
                <a:r>
                  <a:rPr lang="en-US" sz="1600" dirty="0">
                    <a:latin typeface="+mj-lt"/>
                  </a:rPr>
                  <a:t>) by applying Richardson extrapolation on trapezoidal estimates. The idea is to eliminate error terms in a systematic way.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     Recursive formula:</a:t>
                </a:r>
              </a:p>
              <a:p>
                <a:r>
                  <a:rPr lang="en-US" sz="1600" b="1" dirty="0">
                    <a:solidFill>
                      <a:srgbClr val="836967"/>
                    </a:solidFill>
                  </a:rPr>
                  <a:t>R(n,m) = R(n,m-1)+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 smtClean="0">
                            <a:solidFill>
                              <a:srgbClr val="836967"/>
                            </a:solidFill>
                          </a:rPr>
                        </m:ctrlPr>
                      </m:fPr>
                      <m:num>
                        <m:r>
                          <a:rPr lang="en-US" sz="1600" b="1" i="1" dirty="0" smtClean="0">
                            <a:solidFill>
                              <a:srgbClr val="836967"/>
                            </a:solidFill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sz="1600" b="1" i="1" dirty="0" smtClean="0">
                                <a:solidFill>
                                  <a:srgbClr val="836967"/>
                                </a:solidFill>
                              </a:rPr>
                            </m:ctrlPr>
                          </m:sSupPr>
                          <m:e>
                            <m:r>
                              <a:rPr lang="en-US" sz="1600" b="1" i="0" dirty="0" smtClean="0">
                                <a:solidFill>
                                  <a:srgbClr val="836967"/>
                                </a:solidFill>
                              </a:rPr>
                              <m:t>𝟒</m:t>
                            </m:r>
                          </m:e>
                          <m:sup>
                            <m:r>
                              <a:rPr lang="en-US" sz="1600" b="1" i="1" dirty="0" smtClean="0"/>
                              <m:t>𝒎</m:t>
                            </m:r>
                          </m:sup>
                        </m:sSup>
                        <m:r>
                          <a:rPr lang="en-US" sz="1600" b="1" i="1" dirty="0" smtClean="0"/>
                          <m:t>−</m:t>
                        </m:r>
                        <m:r>
                          <a:rPr lang="en-US" sz="1600" b="1" i="1" dirty="0" smtClean="0"/>
                          <m:t>𝟏</m:t>
                        </m:r>
                      </m:den>
                    </m:f>
                  </m:oMath>
                </a14:m>
                <a:r>
                  <a:rPr lang="en-US" sz="1600" b="1" dirty="0"/>
                  <a:t>[R(n,m-1) – R(n-1,m-1)]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Romberg Table: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A two-dimensional table is constructed where: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First column contains trapezoidal approximations with 2^n intervals.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Each new column improves the previous using extrapolation.</a:t>
                </a:r>
              </a:p>
              <a:p>
                <a:pPr algn="l"/>
                <a:r>
                  <a:rPr lang="en-US" sz="1600" b="1" u="sng" dirty="0">
                    <a:latin typeface="+mj-lt"/>
                  </a:rPr>
                  <a:t>ALGORITHM : </a:t>
                </a: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>
                    <a:latin typeface="+mj-lt"/>
                  </a:rPr>
                  <a:t>Step 1:</a:t>
                </a:r>
                <a:r>
                  <a:rPr lang="en-US" altLang="en-US" sz="1600" dirty="0">
                    <a:latin typeface="+mj-lt"/>
                  </a:rPr>
                  <a:t> Start.</a:t>
                </a: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>
                    <a:latin typeface="+mj-lt"/>
                  </a:rPr>
                  <a:t>Step 2:</a:t>
                </a:r>
                <a:r>
                  <a:rPr lang="en-US" altLang="en-US" sz="1600" dirty="0">
                    <a:latin typeface="+mj-lt"/>
                  </a:rPr>
                  <a:t> Input the function f(x), lower limit a, upper limit b, and number of  </a:t>
                </a: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>
                    <a:latin typeface="+mj-lt"/>
                  </a:rPr>
                  <a:t>             levels n.</a:t>
                </a: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>
                    <a:latin typeface="+mj-lt"/>
                  </a:rPr>
                  <a:t>Step 3:</a:t>
                </a:r>
                <a:r>
                  <a:rPr lang="en-US" altLang="en-US" sz="1600" dirty="0">
                    <a:latin typeface="+mj-lt"/>
                  </a:rPr>
                  <a:t> Initialize a 2D array R[n][n] to store Romberg table values.</a:t>
                </a: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>
                    <a:latin typeface="+mj-lt"/>
                  </a:rPr>
                  <a:t>Step 4:</a:t>
                </a:r>
                <a:r>
                  <a:rPr lang="en-US" altLang="en-US" sz="1600" dirty="0">
                    <a:latin typeface="+mj-lt"/>
                  </a:rPr>
                  <a:t> For I = 0 to n−1: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836967"/>
                            </a:solidFill>
                            <a:latin typeface="+mj-lt"/>
                          </a:rPr>
                        </m:ctrlPr>
                      </m:fPr>
                      <m:num>
                        <m:r>
                          <a:rPr lang="en-US" sz="1600" i="1">
                            <a:latin typeface="+mj-lt"/>
                          </a:rPr>
                          <m:t>𝑏</m:t>
                        </m:r>
                        <m:r>
                          <a:rPr lang="en-US" sz="1600" i="1">
                            <a:latin typeface="+mj-lt"/>
                          </a:rPr>
                          <m:t>−</m:t>
                        </m:r>
                        <m:r>
                          <a:rPr lang="en-US" sz="1600" i="1">
                            <a:latin typeface="+mj-lt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1600" i="1">
                                <a:solidFill>
                                  <a:srgbClr val="836967"/>
                                </a:solidFill>
                                <a:latin typeface="+mj-lt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latin typeface="+mj-lt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600">
                                <a:latin typeface="+mj-lt"/>
                              </a:rPr>
                              <m:t>i</m:t>
                            </m:r>
                          </m:sup>
                        </m:sSup>
                      </m:den>
                    </m:f>
                  </m:oMath>
                </a14:m>
                <a:endParaRPr lang="en-US" altLang="en-US" sz="1600" dirty="0">
                  <a:latin typeface="+mj-lt"/>
                </a:endParaRP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latin typeface="+mj-lt"/>
                  </a:rPr>
                  <a:t>             a. Calculate step size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+mj-lt"/>
                      </a:rPr>
                      <m:t>h</m:t>
                    </m:r>
                    <m:r>
                      <a:rPr lang="en-US" sz="1600" i="0" smtClean="0">
                        <a:latin typeface="+mj-lt"/>
                      </a:rPr>
                      <m:t>=</m:t>
                    </m:r>
                  </m:oMath>
                </a14:m>
                <a:r>
                  <a:rPr lang="en-US" sz="1600" dirty="0">
                    <a:latin typeface="+mj-lt"/>
                  </a:rPr>
                  <a:t>​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          b. Compute trapezoidal approximation:</a:t>
                </a:r>
              </a:p>
              <a:p>
                <a:pPr lvl="0" algn="l" defTabSz="9144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>
                    <a:latin typeface="+mj-lt"/>
                  </a:rPr>
                  <a:t>                              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dirty="0"/>
                        <m:t>R</m:t>
                      </m:r>
                      <m:r>
                        <m:rPr>
                          <m:nor/>
                        </m:rPr>
                        <a:rPr lang="en-US" sz="1600" b="1" dirty="0"/>
                        <m:t>[</m:t>
                      </m:r>
                      <m:r>
                        <m:rPr>
                          <m:nor/>
                        </m:rPr>
                        <a:rPr lang="en-US" sz="1600" b="1"/>
                        <m:t>i</m:t>
                      </m:r>
                      <m:r>
                        <m:rPr>
                          <m:nor/>
                        </m:rPr>
                        <a:rPr lang="en-US" sz="1600" b="1" dirty="0"/>
                        <m:t>][0]</m:t>
                      </m:r>
                      <m:r>
                        <a:rPr lang="en-US" sz="1600" b="1" i="1" dirty="0"/>
                        <m:t>=</m:t>
                      </m:r>
                      <m:f>
                        <m:fPr>
                          <m:ctrlPr>
                            <a:rPr lang="en-US" sz="1600" b="1" i="1" dirty="0">
                              <a:solidFill>
                                <a:srgbClr val="836967"/>
                              </a:solidFill>
                            </a:rPr>
                          </m:ctrlPr>
                        </m:fPr>
                        <m:num>
                          <m:r>
                            <a:rPr lang="en-US" sz="1600" b="1" i="1" dirty="0">
                              <a:solidFill>
                                <a:srgbClr val="836967"/>
                              </a:solidFill>
                            </a:rPr>
                            <m:t>𝒉</m:t>
                          </m:r>
                        </m:num>
                        <m:den>
                          <m:r>
                            <a:rPr lang="en-US" sz="1600" b="1" dirty="0"/>
                            <m:t>𝟐</m:t>
                          </m:r>
                        </m:den>
                      </m:f>
                      <m:r>
                        <a:rPr lang="en-US" sz="1600" b="1" i="1" dirty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 dirty="0">
                              <a:solidFill>
                                <a:srgbClr val="836967"/>
                              </a:solidFill>
                            </a:rPr>
                          </m:ctrlPr>
                        </m:dPr>
                        <m:e>
                          <m:r>
                            <a:rPr lang="en-US" sz="1600" b="1" dirty="0">
                              <a:solidFill>
                                <a:srgbClr val="836967"/>
                              </a:solidFill>
                            </a:rPr>
                            <m:t>𝐟</m:t>
                          </m:r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836967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z="1600" b="1" i="1" dirty="0" smtClean="0">
                                  <a:solidFill>
                                    <a:srgbClr val="836967"/>
                                  </a:solidFill>
                                </a:rPr>
                                <m:t>𝒂</m:t>
                              </m:r>
                            </m:e>
                          </m:d>
                          <m:r>
                            <a:rPr lang="en-US" sz="1600" b="1" dirty="0">
                              <a:solidFill>
                                <a:srgbClr val="836967"/>
                              </a:solidFill>
                            </a:rPr>
                            <m:t>+</m:t>
                          </m:r>
                          <m:r>
                            <a:rPr lang="en-US" sz="1600" b="1" dirty="0">
                              <a:solidFill>
                                <a:srgbClr val="836967"/>
                              </a:solidFill>
                            </a:rPr>
                            <m:t>𝟐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1600" b="1" i="1" dirty="0"/>
                              </m:ctrlPr>
                            </m:naryPr>
                            <m:sub>
                              <m:r>
                                <m:rPr>
                                  <m:brk/>
                                  <m:aln/>
                                </m:rPr>
                                <a:rPr lang="en-US" sz="1600" b="1" i="1" dirty="0" smtClean="0"/>
                                <m:t>𝒌</m:t>
                              </m:r>
                              <m:r>
                                <a:rPr lang="en-US" sz="1600" b="1" i="1" dirty="0"/>
                                <m:t>=</m:t>
                              </m:r>
                              <m:r>
                                <a:rPr lang="en-US" sz="1600" b="1" i="1" dirty="0"/>
                                <m:t>𝟏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sz="1600" b="1" i="1" dirty="0" smtClean="0">
                                      <a:solidFill>
                                        <a:srgbClr val="836967"/>
                                      </a:solidFill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dirty="0"/>
                                    <m:t>2</m:t>
                                  </m:r>
                                </m:e>
                                <m:sup>
                                  <m:r>
                                    <a:rPr lang="en-US" sz="1600" b="1" i="1" dirty="0"/>
                                    <m:t>ⅈ</m:t>
                                  </m:r>
                                </m:sup>
                              </m:sSup>
                              <m:r>
                                <a:rPr lang="en-US" sz="1600" b="1" i="1" dirty="0"/>
                                <m:t>−</m:t>
                              </m:r>
                              <m:r>
                                <a:rPr lang="en-US" sz="1600" b="1" i="1" dirty="0"/>
                                <m:t>𝟏</m:t>
                              </m:r>
                            </m:sup>
                            <m:e>
                              <m:r>
                                <a:rPr lang="en-US" sz="1600" b="1" dirty="0"/>
                                <m:t>𝐟</m:t>
                              </m:r>
                              <m:d>
                                <m:dPr>
                                  <m:ctrlPr>
                                    <a:rPr lang="en-US" sz="1600" b="1" i="1" dirty="0"/>
                                  </m:ctrlPr>
                                </m:dPr>
                                <m:e>
                                  <m:r>
                                    <a:rPr lang="en-US" sz="1600" b="1" i="1" dirty="0" smtClean="0"/>
                                    <m:t>𝒂</m:t>
                                  </m:r>
                                  <m:r>
                                    <a:rPr lang="en-US" sz="1600" b="1" i="1" dirty="0" smtClean="0"/>
                                    <m:t>+</m:t>
                                  </m:r>
                                  <m:r>
                                    <a:rPr lang="en-US" sz="1600" b="1" i="1" dirty="0" smtClean="0"/>
                                    <m:t>𝒌𝒉</m:t>
                                  </m:r>
                                </m:e>
                              </m:d>
                              <m:r>
                                <a:rPr lang="en-US" sz="1600" b="1" i="1" dirty="0"/>
                                <m:t>+</m:t>
                              </m:r>
                              <m:r>
                                <a:rPr lang="en-US" sz="1600" b="1" i="1" dirty="0"/>
                                <m:t>𝒇</m:t>
                              </m:r>
                              <m:r>
                                <a:rPr lang="en-US" sz="1600" b="1" i="1" dirty="0"/>
                                <m:t>(</m:t>
                              </m:r>
                              <m:r>
                                <a:rPr lang="en-US" sz="1600" b="1" i="1" dirty="0"/>
                                <m:t>𝒃</m:t>
                              </m:r>
                              <m:r>
                                <a:rPr lang="en-US" sz="1600" b="1" i="1" dirty="0"/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algn="l"/>
                <a:endParaRPr lang="en-US" sz="1600" dirty="0">
                  <a:latin typeface="+mj-lt"/>
                </a:endParaRPr>
              </a:p>
              <a:p>
                <a:pPr algn="l"/>
                <a:endParaRPr lang="en-US" sz="1600" dirty="0">
                  <a:latin typeface="+mj-lt"/>
                </a:endParaRP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FBC3A33-6081-B416-668D-1A8517EC6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96389" y="313509"/>
                <a:ext cx="6742611" cy="10278291"/>
              </a:xfrm>
              <a:blipFill>
                <a:blip r:embed="rId2"/>
                <a:stretch>
                  <a:fillRect l="-452" t="-415" r="-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83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2A8B8C3-1A85-73D7-F63C-8E02FAA4B23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1001" y="167641"/>
                <a:ext cx="6690360" cy="1034796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sz="1600" b="1" dirty="0">
                    <a:latin typeface="+mj-lt"/>
                  </a:rPr>
                  <a:t>Step 5:</a:t>
                </a:r>
                <a:r>
                  <a:rPr lang="en-US" sz="1600" dirty="0">
                    <a:latin typeface="+mj-lt"/>
                  </a:rPr>
                  <a:t> For each i =1 to n−1: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  For j=1 to i:</a:t>
                </a:r>
              </a:p>
              <a:p>
                <a:pPr algn="l"/>
                <a:r>
                  <a:rPr lang="en-US" sz="1600" b="1" dirty="0">
                    <a:solidFill>
                      <a:srgbClr val="836967"/>
                    </a:solidFill>
                  </a:rPr>
                  <a:t>R[i] [j] = R[I] [j-1]+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836967"/>
                            </a:solidFill>
                          </a:rPr>
                        </m:ctrlPr>
                      </m:fPr>
                      <m:num>
                        <m:r>
                          <a:rPr lang="en-US" sz="1600" b="1" i="1" dirty="0">
                            <a:solidFill>
                              <a:srgbClr val="836967"/>
                            </a:solidFill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sz="1600" b="1" i="1" dirty="0">
                                <a:solidFill>
                                  <a:srgbClr val="836967"/>
                                </a:solidFill>
                              </a:rPr>
                            </m:ctrlPr>
                          </m:sSupPr>
                          <m:e>
                            <m:r>
                              <a:rPr lang="en-US" sz="1600" b="1" i="1" dirty="0">
                                <a:solidFill>
                                  <a:srgbClr val="836967"/>
                                </a:solidFill>
                              </a:rPr>
                              <m:t>𝟒</m:t>
                            </m:r>
                          </m:e>
                          <m:sup>
                            <m:r>
                              <a:rPr lang="en-US" sz="1600" b="1" i="1" dirty="0" smtClean="0">
                                <a:solidFill>
                                  <a:srgbClr val="836967"/>
                                </a:solidFill>
                              </a:rPr>
                              <m:t>𝒋</m:t>
                            </m:r>
                          </m:sup>
                        </m:sSup>
                        <m:r>
                          <a:rPr lang="en-US" sz="1600" b="1" i="1" dirty="0"/>
                          <m:t>−</m:t>
                        </m:r>
                        <m:r>
                          <a:rPr lang="en-US" sz="1600" b="1" i="1" dirty="0"/>
                          <m:t>𝟏</m:t>
                        </m:r>
                      </m:den>
                    </m:f>
                    <m:r>
                      <a:rPr lang="en-US" sz="1600" b="1" i="0" dirty="0" smtClean="0"/>
                      <m:t> (</m:t>
                    </m:r>
                  </m:oMath>
                </a14:m>
                <a:r>
                  <a:rPr lang="en-US" sz="1600" b="1" dirty="0"/>
                  <a:t>R[i] [j-1] – R[i-1,j-1])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Step 6:</a:t>
                </a:r>
                <a:r>
                  <a:rPr lang="en-US" sz="1600" dirty="0">
                    <a:latin typeface="+mj-lt"/>
                  </a:rPr>
                  <a:t> Repeat until all entries of the Romberg table are filled.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Step 7:</a:t>
                </a:r>
                <a:r>
                  <a:rPr lang="en-US" sz="1600" dirty="0">
                    <a:latin typeface="+mj-lt"/>
                  </a:rPr>
                  <a:t> The most accurate result is in R[n−1][n−1].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Step 8:</a:t>
                </a:r>
                <a:r>
                  <a:rPr lang="en-US" sz="1600" dirty="0">
                    <a:latin typeface="+mj-lt"/>
                  </a:rPr>
                  <a:t> Output the final result and the Romberg table.</a:t>
                </a:r>
              </a:p>
              <a:p>
                <a:pPr algn="l"/>
                <a:r>
                  <a:rPr lang="en-US" sz="1600" b="1" dirty="0">
                    <a:latin typeface="+mj-lt"/>
                  </a:rPr>
                  <a:t>Step 9:</a:t>
                </a:r>
                <a:r>
                  <a:rPr lang="en-US" sz="1600" dirty="0">
                    <a:latin typeface="+mj-lt"/>
                  </a:rPr>
                  <a:t> End.</a:t>
                </a:r>
              </a:p>
              <a:p>
                <a:pPr algn="l"/>
                <a:r>
                  <a:rPr lang="en-US" sz="1600" b="1" u="sng" dirty="0">
                    <a:latin typeface="+mj-lt"/>
                  </a:rPr>
                  <a:t>SOURCE CODE :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#include &lt;stdio.h&gt;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#include &lt;math.h&gt;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#define LEVEL_EXTRAPOLATION 10  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#define TOL 0.01              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float f(float x) {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return 1.0 / x;}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float Trapezoidal(float a, float b, int n) {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float h = (b - a) / n;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float I = f(a) + f(b);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for (int i = 1; i &lt; n; i++) {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    I += f(a + i * h);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}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return I * (h / 2);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}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float Richardson_Extrapolation(float a, float b) {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float R[LEVEL_EXTRAPOLATION][LEVEL_EXTRAPOLATION];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int i, j;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for (i = 0; i &lt; LEVEL_EXTRAPOLATION; i++) {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    R[i][0] = Trapezoidal(a, b, pow(2, i));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    printf("%f", R[i][0]);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        for (j = 1; j &lt;= i; j++) {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        R[i][j] = (pow(4, j) * R[i][j - 1] - R[i - 1][j - 1]) / (pow(4, j) - 1);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        printf("\t%f", R[i][j]);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        }</a:t>
                </a:r>
                <a:br>
                  <a:rPr lang="en-US" sz="1600" dirty="0">
                    <a:latin typeface="+mj-lt"/>
                  </a:rPr>
                </a:br>
                <a:r>
                  <a:rPr lang="en-US" sz="1600" dirty="0">
                    <a:latin typeface="+mj-lt"/>
                  </a:rPr>
                  <a:t>           printf("\n");</a:t>
                </a:r>
              </a:p>
              <a:p>
                <a:pPr algn="l"/>
                <a:endParaRPr lang="en-US" sz="1600" dirty="0">
                  <a:latin typeface="+mj-lt"/>
                </a:endParaRP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2A8B8C3-1A85-73D7-F63C-8E02FAA4B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1001" y="167641"/>
                <a:ext cx="6690360" cy="10347960"/>
              </a:xfrm>
              <a:blipFill>
                <a:blip r:embed="rId2"/>
                <a:stretch>
                  <a:fillRect l="-547" t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365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8FE56B-BD8A-4331-2A07-BFFD6C8E1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" y="274320"/>
            <a:ext cx="7101840" cy="10180320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+mj-lt"/>
              </a:rPr>
              <a:t>        if (i &gt; 0 &amp;&amp; fabs(R[i][i] - R[i - 1][i - 1]) &lt; TOL) {</a:t>
            </a:r>
          </a:p>
          <a:p>
            <a:pPr algn="l"/>
            <a:r>
              <a:rPr lang="en-US" sz="1600" dirty="0">
                <a:latin typeface="+mj-lt"/>
              </a:rPr>
              <a:t>            return R[i][i];</a:t>
            </a:r>
          </a:p>
          <a:p>
            <a:pPr algn="l"/>
            <a:r>
              <a:rPr lang="en-US" sz="1600" dirty="0">
                <a:latin typeface="+mj-lt"/>
              </a:rPr>
              <a:t>        }</a:t>
            </a:r>
          </a:p>
          <a:p>
            <a:pPr algn="l"/>
            <a:r>
              <a:rPr lang="en-US" sz="1600" dirty="0">
                <a:latin typeface="+mj-lt"/>
              </a:rPr>
              <a:t>    }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    return R[LEVEL_EXTRAPOLATION - 1][LEVEL_EXTRAPOLATION - 1]; </a:t>
            </a:r>
          </a:p>
          <a:p>
            <a:pPr algn="l"/>
            <a:r>
              <a:rPr lang="en-US" sz="1600" dirty="0">
                <a:latin typeface="+mj-lt"/>
              </a:rPr>
              <a:t>}</a:t>
            </a:r>
          </a:p>
          <a:p>
            <a:pPr algn="l"/>
            <a:r>
              <a:rPr lang="en-US" sz="1600" dirty="0">
                <a:latin typeface="+mj-lt"/>
              </a:rPr>
              <a:t>int main() {</a:t>
            </a:r>
          </a:p>
          <a:p>
            <a:pPr algn="l"/>
            <a:r>
              <a:rPr lang="en-US" sz="1600" dirty="0">
                <a:latin typeface="+mj-lt"/>
              </a:rPr>
              <a:t>    float a, b, I;</a:t>
            </a:r>
          </a:p>
          <a:p>
            <a:pPr algn="l"/>
            <a:r>
              <a:rPr lang="en-US" sz="1600" dirty="0">
                <a:latin typeface="+mj-lt"/>
              </a:rPr>
              <a:t>    printf("Enter lower and upper limits [a b]: ");</a:t>
            </a:r>
          </a:p>
          <a:p>
            <a:pPr algn="l"/>
            <a:r>
              <a:rPr lang="en-US" sz="1600" dirty="0">
                <a:latin typeface="+mj-lt"/>
              </a:rPr>
              <a:t>    scanf("%f%f", &amp;a, &amp;b);</a:t>
            </a:r>
          </a:p>
          <a:p>
            <a:pPr algn="l"/>
            <a:r>
              <a:rPr lang="en-US" sz="1600" dirty="0">
                <a:latin typeface="+mj-lt"/>
              </a:rPr>
              <a:t>    I = Richardson_Extrapolation(a, b); </a:t>
            </a:r>
          </a:p>
          <a:p>
            <a:pPr algn="l"/>
            <a:r>
              <a:rPr lang="en-US" sz="1600" dirty="0">
                <a:latin typeface="+mj-lt"/>
              </a:rPr>
              <a:t>    printf("\nThe value of the integral from %.2f to %.2f is: %f\n", a, b, I);</a:t>
            </a:r>
          </a:p>
          <a:p>
            <a:pPr algn="l"/>
            <a:r>
              <a:rPr lang="en-US" sz="1600" dirty="0">
                <a:latin typeface="+mj-lt"/>
              </a:rPr>
              <a:t>    return 0;</a:t>
            </a:r>
          </a:p>
          <a:p>
            <a:pPr algn="l"/>
            <a:r>
              <a:rPr lang="en-US" sz="1600" dirty="0">
                <a:latin typeface="+mj-lt"/>
              </a:rPr>
              <a:t>}</a:t>
            </a:r>
          </a:p>
          <a:p>
            <a:pPr algn="l"/>
            <a:r>
              <a:rPr lang="en-US" sz="1600" b="1" u="sng" dirty="0">
                <a:latin typeface="+mj-lt"/>
              </a:rPr>
              <a:t>OUTPUT :</a:t>
            </a: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endParaRPr lang="en-US" sz="1600" b="1" dirty="0">
              <a:latin typeface="+mj-lt"/>
            </a:endParaRPr>
          </a:p>
          <a:p>
            <a:pPr algn="l"/>
            <a:r>
              <a:rPr lang="en-US" sz="1600" b="1" u="sng" dirty="0">
                <a:latin typeface="+mj-lt"/>
              </a:rPr>
              <a:t>DISCUSSION  AND CONCLUSION :</a:t>
            </a:r>
          </a:p>
          <a:p>
            <a:pPr algn="l"/>
            <a:r>
              <a:rPr lang="en-US" altLang="en-US" sz="1600" dirty="0">
                <a:latin typeface="+mj-lt"/>
              </a:rPr>
              <a:t>Romberg’s Integration method was successfully implemented to numerically evaluate the definite integral of f(x)=1/X The method used successive trapezoidal approximations combined with Richardson extrapolation to improve accuracy. The program generated a Romberg table and stopped when the result met the given tolerance. The approach provided accurate results efficiently, demonstrating the effectiveness of Romberg’s method for smooth functions.</a:t>
            </a:r>
          </a:p>
          <a:p>
            <a:pPr algn="l"/>
            <a:endParaRPr lang="en-US" sz="1600" b="1" u="sn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7D7F5-D467-72DF-DD18-1A5B1112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2" y="5134378"/>
            <a:ext cx="6935476" cy="209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5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152</TotalTime>
  <Words>857</Words>
  <Application>Microsoft Office PowerPoint</Application>
  <PresentationFormat>Custom</PresentationFormat>
  <Paragraphs>76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oshan bajracharya</dc:creator>
  <cp:lastModifiedBy>oshan bajracharya</cp:lastModifiedBy>
  <cp:revision>5</cp:revision>
  <dcterms:created xsi:type="dcterms:W3CDTF">2025-06-20T14:22:52Z</dcterms:created>
  <dcterms:modified xsi:type="dcterms:W3CDTF">2025-06-20T16:58:42Z</dcterms:modified>
</cp:coreProperties>
</file>