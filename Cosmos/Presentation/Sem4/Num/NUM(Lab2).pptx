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5" saveSubsetFonts="1">
  <p:sldMasterIdLst>
    <p:sldMasterId id="2147483660" r:id="rId1"/>
  </p:sldMasterIdLst>
  <p:sldIdLst>
    <p:sldId id="256" r:id="rId2"/>
    <p:sldId id="257" r:id="rId3"/>
    <p:sldId id="258" r:id="rId4"/>
    <p:sldId id="259" r:id="rId5"/>
    <p:sldId id="260" r:id="rId6"/>
  </p:sldIdLst>
  <p:sldSz cx="7589838" cy="106981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59" d="100"/>
          <a:sy n="59" d="100"/>
        </p:scale>
        <p:origin x="38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9238" y="1750834"/>
            <a:ext cx="6451362" cy="3724546"/>
          </a:xfrm>
        </p:spPr>
        <p:txBody>
          <a:bodyPr anchor="b"/>
          <a:lstStyle>
            <a:lvl1pPr algn="ctr">
              <a:defRPr sz="4980"/>
            </a:lvl1pPr>
          </a:lstStyle>
          <a:p>
            <a:r>
              <a:rPr lang="en-US"/>
              <a:t>Click to edit Master title style</a:t>
            </a:r>
            <a:endParaRPr lang="en-US" dirty="0"/>
          </a:p>
        </p:txBody>
      </p:sp>
      <p:sp>
        <p:nvSpPr>
          <p:cNvPr id="3" name="Subtitle 2"/>
          <p:cNvSpPr>
            <a:spLocks noGrp="1"/>
          </p:cNvSpPr>
          <p:nvPr>
            <p:ph type="subTitle" idx="1"/>
          </p:nvPr>
        </p:nvSpPr>
        <p:spPr>
          <a:xfrm>
            <a:off x="948730" y="5619013"/>
            <a:ext cx="5692379" cy="2582912"/>
          </a:xfrm>
        </p:spPr>
        <p:txBody>
          <a:bodyPr/>
          <a:lstStyle>
            <a:lvl1pPr marL="0" indent="0" algn="ctr">
              <a:buNone/>
              <a:defRPr sz="1992"/>
            </a:lvl1pPr>
            <a:lvl2pPr marL="379476" indent="0" algn="ctr">
              <a:buNone/>
              <a:defRPr sz="1660"/>
            </a:lvl2pPr>
            <a:lvl3pPr marL="758952" indent="0" algn="ctr">
              <a:buNone/>
              <a:defRPr sz="1494"/>
            </a:lvl3pPr>
            <a:lvl4pPr marL="1138428" indent="0" algn="ctr">
              <a:buNone/>
              <a:defRPr sz="1328"/>
            </a:lvl4pPr>
            <a:lvl5pPr marL="1517904" indent="0" algn="ctr">
              <a:buNone/>
              <a:defRPr sz="1328"/>
            </a:lvl5pPr>
            <a:lvl6pPr marL="1897380" indent="0" algn="ctr">
              <a:buNone/>
              <a:defRPr sz="1328"/>
            </a:lvl6pPr>
            <a:lvl7pPr marL="2276856" indent="0" algn="ctr">
              <a:buNone/>
              <a:defRPr sz="1328"/>
            </a:lvl7pPr>
            <a:lvl8pPr marL="2656332" indent="0" algn="ctr">
              <a:buNone/>
              <a:defRPr sz="1328"/>
            </a:lvl8pPr>
            <a:lvl9pPr marL="3035808" indent="0" algn="ctr">
              <a:buNone/>
              <a:defRPr sz="132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F7196F-7DBD-4772-BCF4-4718029AB8E8}"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2868758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7196F-7DBD-4772-BCF4-4718029AB8E8}"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1578565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7849" y="2667115"/>
            <a:ext cx="6546235" cy="4450138"/>
          </a:xfrm>
        </p:spPr>
        <p:txBody>
          <a:bodyPr anchor="b"/>
          <a:lstStyle>
            <a:lvl1pPr>
              <a:defRPr sz="4980"/>
            </a:lvl1pPr>
          </a:lstStyle>
          <a:p>
            <a:r>
              <a:rPr lang="en-US"/>
              <a:t>Click to edit Master title style</a:t>
            </a:r>
            <a:endParaRPr lang="en-US" dirty="0"/>
          </a:p>
        </p:txBody>
      </p:sp>
      <p:sp>
        <p:nvSpPr>
          <p:cNvPr id="3" name="Text Placeholder 2"/>
          <p:cNvSpPr>
            <a:spLocks noGrp="1"/>
          </p:cNvSpPr>
          <p:nvPr>
            <p:ph type="body" idx="1"/>
          </p:nvPr>
        </p:nvSpPr>
        <p:spPr>
          <a:xfrm>
            <a:off x="517849" y="7159353"/>
            <a:ext cx="6546235" cy="2340222"/>
          </a:xfrm>
        </p:spPr>
        <p:txBody>
          <a:bodyPr/>
          <a:lstStyle>
            <a:lvl1pPr marL="0" indent="0">
              <a:buNone/>
              <a:defRPr sz="1992">
                <a:solidFill>
                  <a:schemeClr val="tx1"/>
                </a:solidFill>
              </a:defRPr>
            </a:lvl1pPr>
            <a:lvl2pPr marL="379476" indent="0">
              <a:buNone/>
              <a:defRPr sz="1660">
                <a:solidFill>
                  <a:schemeClr val="tx1">
                    <a:tint val="75000"/>
                  </a:schemeClr>
                </a:solidFill>
              </a:defRPr>
            </a:lvl2pPr>
            <a:lvl3pPr marL="758952" indent="0">
              <a:buNone/>
              <a:defRPr sz="1494">
                <a:solidFill>
                  <a:schemeClr val="tx1">
                    <a:tint val="75000"/>
                  </a:schemeClr>
                </a:solidFill>
              </a:defRPr>
            </a:lvl3pPr>
            <a:lvl4pPr marL="1138428" indent="0">
              <a:buNone/>
              <a:defRPr sz="1328">
                <a:solidFill>
                  <a:schemeClr val="tx1">
                    <a:tint val="75000"/>
                  </a:schemeClr>
                </a:solidFill>
              </a:defRPr>
            </a:lvl4pPr>
            <a:lvl5pPr marL="1517904" indent="0">
              <a:buNone/>
              <a:defRPr sz="1328">
                <a:solidFill>
                  <a:schemeClr val="tx1">
                    <a:tint val="75000"/>
                  </a:schemeClr>
                </a:solidFill>
              </a:defRPr>
            </a:lvl5pPr>
            <a:lvl6pPr marL="1897380" indent="0">
              <a:buNone/>
              <a:defRPr sz="1328">
                <a:solidFill>
                  <a:schemeClr val="tx1">
                    <a:tint val="75000"/>
                  </a:schemeClr>
                </a:solidFill>
              </a:defRPr>
            </a:lvl6pPr>
            <a:lvl7pPr marL="2276856" indent="0">
              <a:buNone/>
              <a:defRPr sz="1328">
                <a:solidFill>
                  <a:schemeClr val="tx1">
                    <a:tint val="75000"/>
                  </a:schemeClr>
                </a:solidFill>
              </a:defRPr>
            </a:lvl7pPr>
            <a:lvl8pPr marL="2656332" indent="0">
              <a:buNone/>
              <a:defRPr sz="1328">
                <a:solidFill>
                  <a:schemeClr val="tx1">
                    <a:tint val="75000"/>
                  </a:schemeClr>
                </a:solidFill>
              </a:defRPr>
            </a:lvl8pPr>
            <a:lvl9pPr marL="3035808" indent="0">
              <a:buNone/>
              <a:defRPr sz="13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F7196F-7DBD-4772-BCF4-4718029AB8E8}"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524958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21801"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42356"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F7196F-7DBD-4772-BCF4-4718029AB8E8}"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401038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2790" y="569580"/>
            <a:ext cx="6546235" cy="20678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2791" y="2622536"/>
            <a:ext cx="3210857"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4" name="Content Placeholder 3"/>
          <p:cNvSpPr>
            <a:spLocks noGrp="1"/>
          </p:cNvSpPr>
          <p:nvPr>
            <p:ph sz="half" idx="2"/>
          </p:nvPr>
        </p:nvSpPr>
        <p:spPr>
          <a:xfrm>
            <a:off x="522791" y="3907801"/>
            <a:ext cx="3210857"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42356" y="2622536"/>
            <a:ext cx="3226670"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6" name="Content Placeholder 5"/>
          <p:cNvSpPr>
            <a:spLocks noGrp="1"/>
          </p:cNvSpPr>
          <p:nvPr>
            <p:ph sz="quarter" idx="4"/>
          </p:nvPr>
        </p:nvSpPr>
        <p:spPr>
          <a:xfrm>
            <a:off x="3842356" y="3907801"/>
            <a:ext cx="3226670"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F7196F-7DBD-4772-BCF4-4718029AB8E8}" type="datetimeFigureOut">
              <a:rPr lang="en-US" smtClean="0"/>
              <a:t>5/21/2025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1962461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F7196F-7DBD-4772-BCF4-4718029AB8E8}" type="datetimeFigureOut">
              <a:rPr lang="en-US" smtClean="0"/>
              <a:t>5/21/2025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1633783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F7196F-7DBD-4772-BCF4-4718029AB8E8}" type="datetimeFigureOut">
              <a:rPr lang="en-US" smtClean="0"/>
              <a:t>5/21/2025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3502461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Content Placeholder 2"/>
          <p:cNvSpPr>
            <a:spLocks noGrp="1"/>
          </p:cNvSpPr>
          <p:nvPr>
            <p:ph idx="1"/>
          </p:nvPr>
        </p:nvSpPr>
        <p:spPr>
          <a:xfrm>
            <a:off x="3226670" y="1540340"/>
            <a:ext cx="3842355" cy="7602630"/>
          </a:xfrm>
        </p:spPr>
        <p:txBody>
          <a:bodyPr/>
          <a:lstStyle>
            <a:lvl1pPr>
              <a:defRPr sz="2656"/>
            </a:lvl1pPr>
            <a:lvl2pPr>
              <a:defRPr sz="2324"/>
            </a:lvl2pPr>
            <a:lvl3pPr>
              <a:defRPr sz="1992"/>
            </a:lvl3pPr>
            <a:lvl4pPr>
              <a:defRPr sz="1660"/>
            </a:lvl4pPr>
            <a:lvl5pPr>
              <a:defRPr sz="1660"/>
            </a:lvl5pPr>
            <a:lvl6pPr>
              <a:defRPr sz="1660"/>
            </a:lvl6pPr>
            <a:lvl7pPr>
              <a:defRPr sz="1660"/>
            </a:lvl7pPr>
            <a:lvl8pPr>
              <a:defRPr sz="1660"/>
            </a:lvl8pPr>
            <a:lvl9pPr>
              <a:defRPr sz="16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91F7196F-7DBD-4772-BCF4-4718029AB8E8}"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1876100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Picture Placeholder 2"/>
          <p:cNvSpPr>
            <a:spLocks noGrp="1" noChangeAspect="1"/>
          </p:cNvSpPr>
          <p:nvPr>
            <p:ph type="pic" idx="1"/>
          </p:nvPr>
        </p:nvSpPr>
        <p:spPr>
          <a:xfrm>
            <a:off x="3226670" y="1540340"/>
            <a:ext cx="3842355" cy="7602630"/>
          </a:xfrm>
        </p:spPr>
        <p:txBody>
          <a:bodyPr anchor="t"/>
          <a:lstStyle>
            <a:lvl1pPr marL="0" indent="0">
              <a:buNone/>
              <a:defRPr sz="2656"/>
            </a:lvl1pPr>
            <a:lvl2pPr marL="379476" indent="0">
              <a:buNone/>
              <a:defRPr sz="2324"/>
            </a:lvl2pPr>
            <a:lvl3pPr marL="758952" indent="0">
              <a:buNone/>
              <a:defRPr sz="1992"/>
            </a:lvl3pPr>
            <a:lvl4pPr marL="1138428" indent="0">
              <a:buNone/>
              <a:defRPr sz="1660"/>
            </a:lvl4pPr>
            <a:lvl5pPr marL="1517904" indent="0">
              <a:buNone/>
              <a:defRPr sz="1660"/>
            </a:lvl5pPr>
            <a:lvl6pPr marL="1897380" indent="0">
              <a:buNone/>
              <a:defRPr sz="1660"/>
            </a:lvl6pPr>
            <a:lvl7pPr marL="2276856" indent="0">
              <a:buNone/>
              <a:defRPr sz="1660"/>
            </a:lvl7pPr>
            <a:lvl8pPr marL="2656332" indent="0">
              <a:buNone/>
              <a:defRPr sz="1660"/>
            </a:lvl8pPr>
            <a:lvl9pPr marL="3035808" indent="0">
              <a:buNone/>
              <a:defRPr sz="1660"/>
            </a:lvl9pPr>
          </a:lstStyle>
          <a:p>
            <a:r>
              <a:rPr lang="en-US"/>
              <a:t>Click icon to add picture</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91F7196F-7DBD-4772-BCF4-4718029AB8E8}"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641003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7196F-7DBD-4772-BCF4-4718029AB8E8}"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4019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31478" y="569578"/>
            <a:ext cx="1636559" cy="90661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21802" y="569578"/>
            <a:ext cx="4814803" cy="906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7196F-7DBD-4772-BCF4-4718029AB8E8}"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28DFA1-32A4-44C2-922F-327A3EC0976F}" type="slidenum">
              <a:rPr lang="en-US" smtClean="0"/>
              <a:t>‹#›</a:t>
            </a:fld>
            <a:endParaRPr lang="en-US"/>
          </a:p>
        </p:txBody>
      </p:sp>
    </p:spTree>
    <p:extLst>
      <p:ext uri="{BB962C8B-B14F-4D97-AF65-F5344CB8AC3E}">
        <p14:creationId xmlns:p14="http://schemas.microsoft.com/office/powerpoint/2010/main" val="1736135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1802" y="569580"/>
            <a:ext cx="6546235" cy="20678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21802" y="2847891"/>
            <a:ext cx="6546235" cy="67878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21801" y="9915615"/>
            <a:ext cx="1707714" cy="569578"/>
          </a:xfrm>
          <a:prstGeom prst="rect">
            <a:avLst/>
          </a:prstGeom>
        </p:spPr>
        <p:txBody>
          <a:bodyPr vert="horz" lIns="91440" tIns="45720" rIns="91440" bIns="45720" rtlCol="0" anchor="ctr"/>
          <a:lstStyle>
            <a:lvl1pPr algn="l">
              <a:defRPr sz="996">
                <a:solidFill>
                  <a:schemeClr val="tx1">
                    <a:tint val="75000"/>
                  </a:schemeClr>
                </a:solidFill>
              </a:defRPr>
            </a:lvl1pPr>
          </a:lstStyle>
          <a:p>
            <a:fld id="{91F7196F-7DBD-4772-BCF4-4718029AB8E8}" type="datetimeFigureOut">
              <a:rPr lang="en-US" smtClean="0"/>
              <a:t>5/21/2025</a:t>
            </a:fld>
            <a:endParaRPr lang="en-US"/>
          </a:p>
        </p:txBody>
      </p:sp>
      <p:sp>
        <p:nvSpPr>
          <p:cNvPr id="5" name="Footer Placeholder 4"/>
          <p:cNvSpPr>
            <a:spLocks noGrp="1"/>
          </p:cNvSpPr>
          <p:nvPr>
            <p:ph type="ftr" sz="quarter" idx="3"/>
          </p:nvPr>
        </p:nvSpPr>
        <p:spPr>
          <a:xfrm>
            <a:off x="2514134" y="9915615"/>
            <a:ext cx="2561570" cy="569578"/>
          </a:xfrm>
          <a:prstGeom prst="rect">
            <a:avLst/>
          </a:prstGeom>
        </p:spPr>
        <p:txBody>
          <a:bodyPr vert="horz" lIns="91440" tIns="45720" rIns="91440" bIns="45720" rtlCol="0" anchor="ctr"/>
          <a:lstStyle>
            <a:lvl1pPr algn="ctr">
              <a:defRPr sz="99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60323" y="9915615"/>
            <a:ext cx="1707714" cy="569578"/>
          </a:xfrm>
          <a:prstGeom prst="rect">
            <a:avLst/>
          </a:prstGeom>
        </p:spPr>
        <p:txBody>
          <a:bodyPr vert="horz" lIns="91440" tIns="45720" rIns="91440" bIns="45720" rtlCol="0" anchor="ctr"/>
          <a:lstStyle>
            <a:lvl1pPr algn="r">
              <a:defRPr sz="996">
                <a:solidFill>
                  <a:schemeClr val="tx1">
                    <a:tint val="75000"/>
                  </a:schemeClr>
                </a:solidFill>
              </a:defRPr>
            </a:lvl1pPr>
          </a:lstStyle>
          <a:p>
            <a:fld id="{0228DFA1-32A4-44C2-922F-327A3EC0976F}" type="slidenum">
              <a:rPr lang="en-US" smtClean="0"/>
              <a:t>‹#›</a:t>
            </a:fld>
            <a:endParaRPr lang="en-US"/>
          </a:p>
        </p:txBody>
      </p:sp>
    </p:spTree>
    <p:extLst>
      <p:ext uri="{BB962C8B-B14F-4D97-AF65-F5344CB8AC3E}">
        <p14:creationId xmlns:p14="http://schemas.microsoft.com/office/powerpoint/2010/main" val="3429628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8952" rtl="0" eaLnBrk="1" latinLnBrk="0" hangingPunct="1">
        <a:lnSpc>
          <a:spcPct val="90000"/>
        </a:lnSpc>
        <a:spcBef>
          <a:spcPct val="0"/>
        </a:spcBef>
        <a:buNone/>
        <a:defRPr sz="3652" kern="1200">
          <a:solidFill>
            <a:schemeClr val="tx1"/>
          </a:solidFill>
          <a:latin typeface="+mj-lt"/>
          <a:ea typeface="+mj-ea"/>
          <a:cs typeface="+mj-cs"/>
        </a:defRPr>
      </a:lvl1pPr>
    </p:titleStyle>
    <p:bodyStyle>
      <a:lvl1pPr marL="189738" indent="-189738" algn="l" defTabSz="758952" rtl="0" eaLnBrk="1" latinLnBrk="0" hangingPunct="1">
        <a:lnSpc>
          <a:spcPct val="90000"/>
        </a:lnSpc>
        <a:spcBef>
          <a:spcPts val="830"/>
        </a:spcBef>
        <a:buFont typeface="Arial" panose="020B0604020202020204" pitchFamily="34" charset="0"/>
        <a:buChar char="•"/>
        <a:defRPr sz="2324" kern="1200">
          <a:solidFill>
            <a:schemeClr val="tx1"/>
          </a:solidFill>
          <a:latin typeface="+mn-lt"/>
          <a:ea typeface="+mn-ea"/>
          <a:cs typeface="+mn-cs"/>
        </a:defRPr>
      </a:lvl1pPr>
      <a:lvl2pPr marL="569214" indent="-189738" algn="l" defTabSz="758952" rtl="0" eaLnBrk="1" latinLnBrk="0" hangingPunct="1">
        <a:lnSpc>
          <a:spcPct val="90000"/>
        </a:lnSpc>
        <a:spcBef>
          <a:spcPts val="415"/>
        </a:spcBef>
        <a:buFont typeface="Arial" panose="020B0604020202020204" pitchFamily="34" charset="0"/>
        <a:buChar char="•"/>
        <a:defRPr sz="1992" kern="1200">
          <a:solidFill>
            <a:schemeClr val="tx1"/>
          </a:solidFill>
          <a:latin typeface="+mn-lt"/>
          <a:ea typeface="+mn-ea"/>
          <a:cs typeface="+mn-cs"/>
        </a:defRPr>
      </a:lvl2pPr>
      <a:lvl3pPr marL="948690" indent="-189738" algn="l" defTabSz="758952" rtl="0" eaLnBrk="1" latinLnBrk="0" hangingPunct="1">
        <a:lnSpc>
          <a:spcPct val="90000"/>
        </a:lnSpc>
        <a:spcBef>
          <a:spcPts val="415"/>
        </a:spcBef>
        <a:buFont typeface="Arial" panose="020B0604020202020204" pitchFamily="34" charset="0"/>
        <a:buChar char="•"/>
        <a:defRPr sz="1660" kern="1200">
          <a:solidFill>
            <a:schemeClr val="tx1"/>
          </a:solidFill>
          <a:latin typeface="+mn-lt"/>
          <a:ea typeface="+mn-ea"/>
          <a:cs typeface="+mn-cs"/>
        </a:defRPr>
      </a:lvl3pPr>
      <a:lvl4pPr marL="132816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4pPr>
      <a:lvl5pPr marL="1707642"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5pPr>
      <a:lvl6pPr marL="2087118"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6pPr>
      <a:lvl7pPr marL="2466594"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7pPr>
      <a:lvl8pPr marL="2846070"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8pPr>
      <a:lvl9pPr marL="322554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9pPr>
    </p:bodyStyle>
    <p:otherStyle>
      <a:defPPr>
        <a:defRPr lang="en-US"/>
      </a:defPPr>
      <a:lvl1pPr marL="0" algn="l" defTabSz="758952" rtl="0" eaLnBrk="1" latinLnBrk="0" hangingPunct="1">
        <a:defRPr sz="1494" kern="1200">
          <a:solidFill>
            <a:schemeClr val="tx1"/>
          </a:solidFill>
          <a:latin typeface="+mn-lt"/>
          <a:ea typeface="+mn-ea"/>
          <a:cs typeface="+mn-cs"/>
        </a:defRPr>
      </a:lvl1pPr>
      <a:lvl2pPr marL="379476" algn="l" defTabSz="758952" rtl="0" eaLnBrk="1" latinLnBrk="0" hangingPunct="1">
        <a:defRPr sz="1494" kern="1200">
          <a:solidFill>
            <a:schemeClr val="tx1"/>
          </a:solidFill>
          <a:latin typeface="+mn-lt"/>
          <a:ea typeface="+mn-ea"/>
          <a:cs typeface="+mn-cs"/>
        </a:defRPr>
      </a:lvl2pPr>
      <a:lvl3pPr marL="758952" algn="l" defTabSz="758952" rtl="0" eaLnBrk="1" latinLnBrk="0" hangingPunct="1">
        <a:defRPr sz="1494" kern="1200">
          <a:solidFill>
            <a:schemeClr val="tx1"/>
          </a:solidFill>
          <a:latin typeface="+mn-lt"/>
          <a:ea typeface="+mn-ea"/>
          <a:cs typeface="+mn-cs"/>
        </a:defRPr>
      </a:lvl3pPr>
      <a:lvl4pPr marL="1138428" algn="l" defTabSz="758952" rtl="0" eaLnBrk="1" latinLnBrk="0" hangingPunct="1">
        <a:defRPr sz="1494" kern="1200">
          <a:solidFill>
            <a:schemeClr val="tx1"/>
          </a:solidFill>
          <a:latin typeface="+mn-lt"/>
          <a:ea typeface="+mn-ea"/>
          <a:cs typeface="+mn-cs"/>
        </a:defRPr>
      </a:lvl4pPr>
      <a:lvl5pPr marL="1517904" algn="l" defTabSz="758952" rtl="0" eaLnBrk="1" latinLnBrk="0" hangingPunct="1">
        <a:defRPr sz="1494" kern="1200">
          <a:solidFill>
            <a:schemeClr val="tx1"/>
          </a:solidFill>
          <a:latin typeface="+mn-lt"/>
          <a:ea typeface="+mn-ea"/>
          <a:cs typeface="+mn-cs"/>
        </a:defRPr>
      </a:lvl5pPr>
      <a:lvl6pPr marL="1897380" algn="l" defTabSz="758952" rtl="0" eaLnBrk="1" latinLnBrk="0" hangingPunct="1">
        <a:defRPr sz="1494" kern="1200">
          <a:solidFill>
            <a:schemeClr val="tx1"/>
          </a:solidFill>
          <a:latin typeface="+mn-lt"/>
          <a:ea typeface="+mn-ea"/>
          <a:cs typeface="+mn-cs"/>
        </a:defRPr>
      </a:lvl6pPr>
      <a:lvl7pPr marL="2276856" algn="l" defTabSz="758952" rtl="0" eaLnBrk="1" latinLnBrk="0" hangingPunct="1">
        <a:defRPr sz="1494" kern="1200">
          <a:solidFill>
            <a:schemeClr val="tx1"/>
          </a:solidFill>
          <a:latin typeface="+mn-lt"/>
          <a:ea typeface="+mn-ea"/>
          <a:cs typeface="+mn-cs"/>
        </a:defRPr>
      </a:lvl7pPr>
      <a:lvl8pPr marL="2656332" algn="l" defTabSz="758952" rtl="0" eaLnBrk="1" latinLnBrk="0" hangingPunct="1">
        <a:defRPr sz="1494" kern="1200">
          <a:solidFill>
            <a:schemeClr val="tx1"/>
          </a:solidFill>
          <a:latin typeface="+mn-lt"/>
          <a:ea typeface="+mn-ea"/>
          <a:cs typeface="+mn-cs"/>
        </a:defRPr>
      </a:lvl8pPr>
      <a:lvl9pPr marL="3035808" algn="l" defTabSz="758952" rtl="0" eaLnBrk="1" latinLnBrk="0" hangingPunct="1">
        <a:defRPr sz="14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B7DE63CA-6F5C-5DBF-A32E-FB45AAA61CFA}"/>
                  </a:ext>
                </a:extLst>
              </p:cNvPr>
              <p:cNvSpPr>
                <a:spLocks noGrp="1"/>
              </p:cNvSpPr>
              <p:nvPr>
                <p:ph type="subTitle" idx="1"/>
              </p:nvPr>
            </p:nvSpPr>
            <p:spPr>
              <a:xfrm>
                <a:off x="444137" y="431075"/>
                <a:ext cx="6844937" cy="9993086"/>
              </a:xfrm>
            </p:spPr>
            <p:txBody>
              <a:bodyPr>
                <a:normAutofit/>
              </a:bodyPr>
              <a:lstStyle/>
              <a:p>
                <a:pPr algn="l"/>
                <a:r>
                  <a:rPr lang="en-US" sz="1600" b="1" i="1" u="sng" dirty="0">
                    <a:latin typeface="+mj-lt"/>
                  </a:rPr>
                  <a:t>TITLE :</a:t>
                </a:r>
              </a:p>
              <a:p>
                <a:pPr algn="l"/>
                <a:r>
                  <a:rPr lang="en-US" sz="1600" i="1" dirty="0">
                    <a:latin typeface="+mj-lt"/>
                  </a:rPr>
                  <a:t>Solution of Non-Linear Equation Using NR Method one Secant Method</a:t>
                </a:r>
              </a:p>
              <a:p>
                <a:pPr algn="l"/>
                <a:r>
                  <a:rPr lang="en-US" sz="1600" b="1" i="1" u="sng" dirty="0">
                    <a:latin typeface="+mj-lt"/>
                  </a:rPr>
                  <a:t>OBJECTIVE :</a:t>
                </a:r>
              </a:p>
              <a:p>
                <a:pPr marL="342900" indent="-342900" algn="l">
                  <a:buFont typeface="Arial" panose="020B0604020202020204" pitchFamily="34" charset="0"/>
                  <a:buChar char="•"/>
                </a:pPr>
                <a:r>
                  <a:rPr lang="en-US" sz="1600" i="1" dirty="0">
                    <a:latin typeface="+mj-lt"/>
                  </a:rPr>
                  <a:t>To numerically find the roots of given nonlinear equations using Newton-Raphson and Secant methods.</a:t>
                </a:r>
              </a:p>
              <a:p>
                <a:pPr marL="342900" indent="-342900" algn="l">
                  <a:buFont typeface="Arial" panose="020B0604020202020204" pitchFamily="34" charset="0"/>
                  <a:buChar char="•"/>
                </a:pPr>
                <a:r>
                  <a:rPr lang="en-US" sz="1600" i="1" dirty="0">
                    <a:latin typeface="+mj-lt"/>
                  </a:rPr>
                  <a:t>This involves iterative approximation techniques to achieve desired accuracy within a specified tolerance.</a:t>
                </a:r>
              </a:p>
              <a:p>
                <a:pPr algn="l"/>
                <a:r>
                  <a:rPr lang="en-US" sz="1600" b="1" i="1" u="sng" dirty="0">
                    <a:latin typeface="+mj-lt"/>
                  </a:rPr>
                  <a:t>THEORY :</a:t>
                </a:r>
              </a:p>
              <a:p>
                <a:pPr algn="l"/>
                <a:r>
                  <a:rPr lang="en-US" sz="1600" i="1" dirty="0">
                    <a:latin typeface="+mj-lt"/>
                  </a:rPr>
                  <a:t>Nonlinear equations are those which cannot be expressed as a straight line (i.e., not of the form </a:t>
                </a:r>
                <a:r>
                  <a:rPr lang="en-US" sz="1600" b="1" i="1" dirty="0">
                    <a:latin typeface="+mj-lt"/>
                  </a:rPr>
                  <a:t>ax  + b = 0. </a:t>
                </a:r>
                <a:r>
                  <a:rPr lang="en-US" sz="1600" i="1" dirty="0">
                    <a:latin typeface="+mj-lt"/>
                  </a:rPr>
                  <a:t>To find the roots of such equations, analytical solutions may not always be feasible, so numerical methods like Newton-Raphson and Secant methods are used.</a:t>
                </a:r>
                <a:endParaRPr lang="en-US" sz="1600" i="1" u="sng" dirty="0">
                  <a:latin typeface="+mj-lt"/>
                </a:endParaRPr>
              </a:p>
              <a:p>
                <a:pPr algn="l"/>
                <a:r>
                  <a:rPr lang="en-US" sz="1600" i="1" dirty="0">
                    <a:latin typeface="+mj-lt"/>
                  </a:rPr>
                  <a:t>1)Newton Raphson (NR) Method :</a:t>
                </a:r>
              </a:p>
              <a:p>
                <a:pPr algn="l"/>
                <a:r>
                  <a:rPr lang="en-US" sz="1600" i="1" dirty="0">
                    <a:latin typeface="+mj-lt"/>
                  </a:rPr>
                  <a:t>It is a powerful and fast converging iterative method based on the idea of linear approximation. Starting from an initial guess  </a:t>
                </a:r>
                <a14:m>
                  <m:oMath xmlns:m="http://schemas.openxmlformats.org/officeDocument/2006/math">
                    <m:sSub>
                      <m:sSubPr>
                        <m:ctrlPr>
                          <a:rPr lang="en-US" sz="1600" b="1" i="1" dirty="0" smtClean="0">
                            <a:solidFill>
                              <a:srgbClr val="836967"/>
                            </a:solidFill>
                            <a:latin typeface="+mj-lt"/>
                          </a:rPr>
                        </m:ctrlPr>
                      </m:sSubPr>
                      <m:e>
                        <m:r>
                          <a:rPr lang="en-US" sz="1600" b="1" i="1" dirty="0" smtClean="0">
                            <a:latin typeface="+mj-lt"/>
                          </a:rPr>
                          <m:t>𝒙</m:t>
                        </m:r>
                      </m:e>
                      <m:sub>
                        <m:r>
                          <a:rPr lang="en-US" sz="1600" b="1" i="1" dirty="0" smtClean="0">
                            <a:latin typeface="+mj-lt"/>
                          </a:rPr>
                          <m:t>𝟎</m:t>
                        </m:r>
                      </m:sub>
                    </m:sSub>
                  </m:oMath>
                </a14:m>
                <a:r>
                  <a:rPr lang="en-US" sz="1600" b="1" i="1" dirty="0">
                    <a:latin typeface="+mj-lt"/>
                  </a:rPr>
                  <a:t> </a:t>
                </a:r>
                <a:r>
                  <a:rPr lang="en-US" sz="1600" i="1" dirty="0">
                    <a:latin typeface="+mj-lt"/>
                  </a:rPr>
                  <a:t>, the next value is calculated using:</a:t>
                </a:r>
              </a:p>
              <a:p>
                <a:pPr algn="l"/>
                <a14:m>
                  <m:oMathPara xmlns:m="http://schemas.openxmlformats.org/officeDocument/2006/math">
                    <m:oMathParaPr>
                      <m:jc m:val="centerGroup"/>
                    </m:oMathParaPr>
                    <m:oMath xmlns:m="http://schemas.openxmlformats.org/officeDocument/2006/math">
                      <m:sSub>
                        <m:sSubPr>
                          <m:ctrlPr>
                            <a:rPr lang="en-US" sz="1600" b="1" i="1" dirty="0" smtClean="0">
                              <a:solidFill>
                                <a:srgbClr val="836967"/>
                              </a:solidFill>
                              <a:latin typeface="+mj-lt"/>
                            </a:rPr>
                          </m:ctrlPr>
                        </m:sSubPr>
                        <m:e>
                          <m:r>
                            <a:rPr lang="en-US" sz="1600" b="1" i="1" dirty="0" smtClean="0">
                              <a:latin typeface="+mj-lt"/>
                            </a:rPr>
                            <m:t>𝒙</m:t>
                          </m:r>
                        </m:e>
                        <m:sub>
                          <m:r>
                            <a:rPr lang="en-US" sz="1600" b="1" i="1" dirty="0" smtClean="0">
                              <a:latin typeface="+mj-lt"/>
                            </a:rPr>
                            <m:t>𝒏</m:t>
                          </m:r>
                          <m:r>
                            <a:rPr lang="en-US" sz="1600" b="1" i="1" dirty="0" smtClean="0">
                              <a:latin typeface="+mj-lt"/>
                            </a:rPr>
                            <m:t>+</m:t>
                          </m:r>
                          <m:r>
                            <a:rPr lang="en-US" sz="1600" b="1" i="1" dirty="0" smtClean="0">
                              <a:latin typeface="+mj-lt"/>
                            </a:rPr>
                            <m:t>𝟏</m:t>
                          </m:r>
                        </m:sub>
                      </m:sSub>
                      <m:r>
                        <a:rPr lang="en-US" sz="1600" b="1" i="1" dirty="0" smtClean="0">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𝒏</m:t>
                          </m:r>
                          <m:r>
                            <a:rPr lang="en-US" sz="1600" b="1" i="1" dirty="0" smtClean="0">
                              <a:latin typeface="+mj-lt"/>
                            </a:rPr>
                            <m:t> − </m:t>
                          </m:r>
                        </m:sub>
                      </m:sSub>
                      <m:f>
                        <m:fPr>
                          <m:ctrlPr>
                            <a:rPr lang="en-US" sz="1600" b="1" i="1" dirty="0" smtClean="0">
                              <a:solidFill>
                                <a:srgbClr val="836967"/>
                              </a:solidFill>
                              <a:latin typeface="+mj-lt"/>
                            </a:rPr>
                          </m:ctrlPr>
                        </m:fPr>
                        <m:num>
                          <m:r>
                            <a:rPr lang="en-US" sz="1600" b="1" i="1" dirty="0" smtClean="0">
                              <a:solidFill>
                                <a:srgbClr val="836967"/>
                              </a:solidFill>
                              <a:latin typeface="+mj-lt"/>
                            </a:rPr>
                            <m:t>𝒇</m:t>
                          </m:r>
                          <m:r>
                            <a:rPr lang="en-US" sz="1600" b="1" i="1" dirty="0" smtClean="0">
                              <a:solidFill>
                                <a:srgbClr val="836967"/>
                              </a:solidFill>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𝒏</m:t>
                              </m:r>
                            </m:sub>
                          </m:sSub>
                          <m:r>
                            <a:rPr lang="en-US" sz="1600" b="1" i="1" dirty="0" smtClean="0">
                              <a:latin typeface="+mj-lt"/>
                            </a:rPr>
                            <m:t>)</m:t>
                          </m:r>
                        </m:num>
                        <m:den>
                          <m:r>
                            <a:rPr lang="en-US" sz="1600" b="1" i="1" dirty="0" smtClean="0">
                              <a:solidFill>
                                <a:srgbClr val="836967"/>
                              </a:solidFill>
                              <a:latin typeface="+mj-lt"/>
                            </a:rPr>
                            <m:t>𝒇</m:t>
                          </m:r>
                          <m:r>
                            <a:rPr lang="en-US" sz="1600" b="1" i="1" dirty="0" smtClean="0">
                              <a:solidFill>
                                <a:srgbClr val="836967"/>
                              </a:solidFill>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𝒏</m:t>
                              </m:r>
                            </m:sub>
                          </m:sSub>
                          <m:r>
                            <a:rPr lang="en-US" sz="1600" b="1" i="1" dirty="0" smtClean="0">
                              <a:latin typeface="+mj-lt"/>
                            </a:rPr>
                            <m:t>)</m:t>
                          </m:r>
                        </m:den>
                      </m:f>
                    </m:oMath>
                  </m:oMathPara>
                </a14:m>
                <a:endParaRPr lang="en-US" sz="1600" b="1" i="1" dirty="0">
                  <a:latin typeface="+mj-lt"/>
                </a:endParaRPr>
              </a:p>
              <a:p>
                <a:pPr algn="l"/>
                <a:r>
                  <a:rPr lang="en-US" sz="1600" i="1" dirty="0">
                    <a:latin typeface="+mj-lt"/>
                  </a:rPr>
                  <a:t>It requires the derivative </a:t>
                </a:r>
                <a:r>
                  <a:rPr lang="en-US" sz="1600" b="1" i="1" dirty="0">
                    <a:latin typeface="+mj-lt"/>
                  </a:rPr>
                  <a:t>f′(x)</a:t>
                </a:r>
                <a:r>
                  <a:rPr lang="en-US" sz="1600" i="1" dirty="0">
                    <a:latin typeface="+mj-lt"/>
                  </a:rPr>
                  <a:t> and works best when the initial guess is close to the actual root.</a:t>
                </a:r>
              </a:p>
              <a:p>
                <a:pPr algn="l">
                  <a:buNone/>
                </a:pPr>
                <a:r>
                  <a:rPr lang="en-US" sz="1600" i="1" dirty="0">
                    <a:latin typeface="+mj-lt"/>
                  </a:rPr>
                  <a:t>2) Secant Method:</a:t>
                </a:r>
              </a:p>
              <a:p>
                <a:pPr algn="l"/>
                <a:r>
                  <a:rPr lang="en-US" sz="1600" i="1" dirty="0">
                    <a:latin typeface="+mj-lt"/>
                  </a:rPr>
                  <a:t>This method is similar to Newton-Raphson but does not require the derivative. It uses two initial, guesses  </a:t>
                </a:r>
                <a14:m>
                  <m:oMath xmlns:m="http://schemas.openxmlformats.org/officeDocument/2006/math">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𝟎</m:t>
                        </m:r>
                      </m:sub>
                    </m:sSub>
                  </m:oMath>
                </a14:m>
                <a:r>
                  <a:rPr lang="en-US" sz="1600" b="1" i="1" dirty="0">
                    <a:solidFill>
                      <a:srgbClr val="836967"/>
                    </a:solidFill>
                    <a:latin typeface="+mj-lt"/>
                  </a:rPr>
                  <a:t> </a:t>
                </a:r>
                <a14:m>
                  <m:oMath xmlns:m="http://schemas.openxmlformats.org/officeDocument/2006/math">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𝟏</m:t>
                        </m:r>
                      </m:sub>
                    </m:sSub>
                    <m:r>
                      <a:rPr lang="en-US" sz="1600" b="1" i="1" dirty="0" smtClean="0">
                        <a:latin typeface="+mj-lt"/>
                      </a:rPr>
                      <m:t> </m:t>
                    </m:r>
                  </m:oMath>
                </a14:m>
                <a:r>
                  <a:rPr lang="en-US" sz="1600" i="1" dirty="0">
                    <a:latin typeface="+mj-lt"/>
                  </a:rPr>
                  <a:t>​, and the next approximation is given by:</a:t>
                </a:r>
              </a:p>
              <a:p>
                <a:pPr algn="l"/>
                <a14:m>
                  <m:oMathPara xmlns:m="http://schemas.openxmlformats.org/officeDocument/2006/math">
                    <m:oMathParaPr>
                      <m:jc m:val="centerGroup"/>
                    </m:oMathParaPr>
                    <m:oMath xmlns:m="http://schemas.openxmlformats.org/officeDocument/2006/math">
                      <m:sSub>
                        <m:sSubPr>
                          <m:ctrlPr>
                            <a:rPr lang="en-US" sz="1600" b="1" i="1" dirty="0" smtClean="0">
                              <a:solidFill>
                                <a:srgbClr val="836967"/>
                              </a:solidFill>
                              <a:latin typeface="+mj-lt"/>
                            </a:rPr>
                          </m:ctrlPr>
                        </m:sSubPr>
                        <m:e>
                          <m:r>
                            <a:rPr lang="en-US" sz="1600" b="1" i="1" dirty="0" smtClean="0">
                              <a:latin typeface="+mj-lt"/>
                            </a:rPr>
                            <m:t>𝒙</m:t>
                          </m:r>
                        </m:e>
                        <m:sub>
                          <m:r>
                            <a:rPr lang="en-US" sz="1600" b="1" i="1" dirty="0" smtClean="0">
                              <a:latin typeface="+mj-lt"/>
                            </a:rPr>
                            <m:t>𝒏</m:t>
                          </m:r>
                          <m:r>
                            <a:rPr lang="en-US" sz="1600" b="1" i="1" dirty="0" smtClean="0">
                              <a:latin typeface="+mj-lt"/>
                            </a:rPr>
                            <m:t>+</m:t>
                          </m:r>
                          <m:r>
                            <a:rPr lang="en-US" sz="1600" b="1" i="1" dirty="0" smtClean="0">
                              <a:latin typeface="+mj-lt"/>
                            </a:rPr>
                            <m:t>𝟏</m:t>
                          </m:r>
                        </m:sub>
                      </m:sSub>
                      <m:r>
                        <a:rPr lang="en-US" sz="1600" b="1" i="1" dirty="0" smtClean="0">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𝒏</m:t>
                          </m:r>
                          <m:r>
                            <a:rPr lang="en-US" sz="1600" b="1" i="1" dirty="0" smtClean="0">
                              <a:latin typeface="+mj-lt"/>
                            </a:rPr>
                            <m:t> − </m:t>
                          </m:r>
                        </m:sub>
                      </m:sSub>
                      <m:f>
                        <m:fPr>
                          <m:ctrlPr>
                            <a:rPr lang="en-US" sz="1600" b="1" i="1" dirty="0" smtClean="0">
                              <a:solidFill>
                                <a:srgbClr val="836967"/>
                              </a:solidFill>
                              <a:latin typeface="+mj-lt"/>
                            </a:rPr>
                          </m:ctrlPr>
                        </m:fPr>
                        <m:num>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𝟎</m:t>
                              </m:r>
                            </m:sub>
                          </m:sSub>
                          <m:r>
                            <a:rPr lang="en-US" sz="1600" b="1" i="1" dirty="0" smtClean="0">
                              <a:solidFill>
                                <a:srgbClr val="836967"/>
                              </a:solidFill>
                              <a:latin typeface="+mj-lt"/>
                            </a:rPr>
                            <m:t>𝒇</m:t>
                          </m:r>
                          <m:d>
                            <m:dPr>
                              <m:ctrlPr>
                                <a:rPr lang="en-US" sz="1600" b="1" i="1" dirty="0" smtClean="0">
                                  <a:solidFill>
                                    <a:srgbClr val="836967"/>
                                  </a:solidFill>
                                  <a:latin typeface="+mj-lt"/>
                                </a:rPr>
                              </m:ctrlPr>
                            </m:dPr>
                            <m:e>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𝟏</m:t>
                                  </m:r>
                                </m:sub>
                              </m:sSub>
                            </m:e>
                          </m:d>
                          <m:r>
                            <a:rPr lang="en-US" sz="1600" b="1" i="1" dirty="0" smtClean="0">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𝟏</m:t>
                              </m:r>
                            </m:sub>
                          </m:sSub>
                          <m:r>
                            <a:rPr lang="en-US" sz="1600" b="1" i="1" dirty="0" smtClean="0">
                              <a:latin typeface="+mj-lt"/>
                            </a:rPr>
                            <m:t>𝒇</m:t>
                          </m:r>
                          <m:r>
                            <a:rPr lang="en-US" sz="1600" b="1" i="1" dirty="0" smtClean="0">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𝟎</m:t>
                              </m:r>
                            </m:sub>
                          </m:sSub>
                          <m:r>
                            <a:rPr lang="en-US" sz="1600" b="1" i="1" dirty="0" smtClean="0">
                              <a:latin typeface="+mj-lt"/>
                            </a:rPr>
                            <m:t>)</m:t>
                          </m:r>
                        </m:num>
                        <m:den>
                          <m:r>
                            <a:rPr lang="en-US" sz="1600" b="1" i="1" dirty="0" smtClean="0">
                              <a:solidFill>
                                <a:srgbClr val="836967"/>
                              </a:solidFill>
                              <a:latin typeface="+mj-lt"/>
                            </a:rPr>
                            <m:t>𝒇</m:t>
                          </m:r>
                          <m:d>
                            <m:dPr>
                              <m:ctrlPr>
                                <a:rPr lang="en-US" sz="1600" b="1" i="1" dirty="0">
                                  <a:solidFill>
                                    <a:srgbClr val="836967"/>
                                  </a:solidFill>
                                  <a:latin typeface="+mj-lt"/>
                                </a:rPr>
                              </m:ctrlPr>
                            </m:dPr>
                            <m:e>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𝟏</m:t>
                                  </m:r>
                                </m:sub>
                              </m:sSub>
                            </m:e>
                          </m:d>
                          <m:r>
                            <a:rPr lang="en-US" sz="1600" b="1" i="1" dirty="0" smtClean="0">
                              <a:latin typeface="+mj-lt"/>
                            </a:rPr>
                            <m:t>−</m:t>
                          </m:r>
                          <m:r>
                            <a:rPr lang="en-US" sz="1600" b="1" i="1" dirty="0" smtClean="0">
                              <a:latin typeface="+mj-lt"/>
                            </a:rPr>
                            <m:t>𝒇</m:t>
                          </m:r>
                          <m:r>
                            <a:rPr lang="en-US" sz="1600" b="1" i="1" dirty="0" smtClean="0">
                              <a:latin typeface="+mj-lt"/>
                            </a:rPr>
                            <m:t>(</m:t>
                          </m:r>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𝟎</m:t>
                              </m:r>
                            </m:sub>
                          </m:sSub>
                          <m:r>
                            <a:rPr lang="en-US" sz="1600" b="1" i="1" dirty="0" smtClean="0">
                              <a:latin typeface="+mj-lt"/>
                            </a:rPr>
                            <m:t>)</m:t>
                          </m:r>
                        </m:den>
                      </m:f>
                    </m:oMath>
                  </m:oMathPara>
                </a14:m>
                <a:endParaRPr lang="en-US" sz="1600" i="1" dirty="0">
                  <a:latin typeface="+mj-lt"/>
                </a:endParaRPr>
              </a:p>
              <a:p>
                <a:pPr algn="l"/>
                <a:r>
                  <a:rPr lang="en-US" sz="1600" i="1" dirty="0">
                    <a:latin typeface="+mj-lt"/>
                  </a:rPr>
                  <a:t>It approximates the derivative using previous points, making it useful when </a:t>
                </a:r>
                <a:r>
                  <a:rPr lang="en-US" sz="1600" b="1" i="1" dirty="0">
                    <a:latin typeface="+mj-lt"/>
                  </a:rPr>
                  <a:t>f′(x) </a:t>
                </a:r>
                <a:r>
                  <a:rPr lang="en-US" sz="1600" i="1" dirty="0">
                    <a:latin typeface="+mj-lt"/>
                  </a:rPr>
                  <a:t>is difficult to compute.</a:t>
                </a:r>
              </a:p>
              <a:p>
                <a:pPr algn="l">
                  <a:buNone/>
                </a:pPr>
                <a:r>
                  <a:rPr lang="en-US" sz="1600" i="1" dirty="0">
                    <a:latin typeface="+mj-lt"/>
                  </a:rPr>
                  <a:t>1)Newton-Raphson Method Algorithm:</a:t>
                </a:r>
              </a:p>
              <a:p>
                <a:pPr algn="l"/>
                <a:r>
                  <a:rPr lang="en-US" sz="1600" i="1" dirty="0">
                    <a:latin typeface="+mj-lt"/>
                  </a:rPr>
                  <a:t> </a:t>
                </a:r>
                <a:r>
                  <a:rPr lang="en-US" sz="1600" i="1" dirty="0" err="1">
                    <a:latin typeface="+mj-lt"/>
                  </a:rPr>
                  <a:t>i</a:t>
                </a:r>
                <a:r>
                  <a:rPr lang="en-US" sz="1600" i="1" dirty="0">
                    <a:latin typeface="+mj-lt"/>
                  </a:rPr>
                  <a:t>.   Start with an initial guess </a:t>
                </a:r>
                <a14:m>
                  <m:oMath xmlns:m="http://schemas.openxmlformats.org/officeDocument/2006/math">
                    <m:sSub>
                      <m:sSubPr>
                        <m:ctrlPr>
                          <a:rPr lang="en-US" sz="1600" b="1" i="1" dirty="0" smtClean="0">
                            <a:solidFill>
                              <a:srgbClr val="836967"/>
                            </a:solidFill>
                            <a:latin typeface="+mj-lt"/>
                          </a:rPr>
                        </m:ctrlPr>
                      </m:sSubPr>
                      <m:e>
                        <m:r>
                          <a:rPr lang="en-US" sz="1600" b="1" i="1" dirty="0" smtClean="0">
                            <a:latin typeface="+mj-lt"/>
                          </a:rPr>
                          <m:t>𝒙</m:t>
                        </m:r>
                      </m:e>
                      <m:sub>
                        <m:r>
                          <a:rPr lang="en-US" sz="1600" b="1" i="1" dirty="0" smtClean="0">
                            <a:latin typeface="+mj-lt"/>
                          </a:rPr>
                          <m:t>𝟎</m:t>
                        </m:r>
                      </m:sub>
                    </m:sSub>
                  </m:oMath>
                </a14:m>
                <a:r>
                  <a:rPr lang="en-US" sz="1600" i="1" dirty="0">
                    <a:latin typeface="+mj-lt"/>
                  </a:rPr>
                  <a:t> .</a:t>
                </a:r>
              </a:p>
              <a:p>
                <a:pPr algn="l"/>
                <a:r>
                  <a:rPr lang="en-US" sz="1600" i="1" dirty="0">
                    <a:latin typeface="+mj-lt"/>
                  </a:rPr>
                  <a:t> ii.  Set the tolerance value</a:t>
                </a:r>
                <a:r>
                  <a:rPr lang="en-US" sz="1600" b="1" i="1" dirty="0">
                    <a:latin typeface="+mj-lt"/>
                  </a:rPr>
                  <a:t> </a:t>
                </a:r>
                <a:r>
                  <a:rPr lang="el-GR" sz="1600" b="1" i="1" dirty="0">
                    <a:latin typeface="+mj-lt"/>
                  </a:rPr>
                  <a:t>ε</a:t>
                </a:r>
                <a:r>
                  <a:rPr lang="en-US" sz="1600" b="1" i="1" dirty="0">
                    <a:latin typeface="+mj-lt"/>
                  </a:rPr>
                  <a:t> </a:t>
                </a:r>
                <a:r>
                  <a:rPr lang="el-GR" sz="1600" i="1" dirty="0">
                    <a:latin typeface="+mj-lt"/>
                  </a:rPr>
                  <a:t>(</a:t>
                </a:r>
                <a:r>
                  <a:rPr lang="en-US" sz="1600" i="1" dirty="0">
                    <a:latin typeface="+mj-lt"/>
                  </a:rPr>
                  <a:t>e.g., 0.001).</a:t>
                </a:r>
              </a:p>
              <a:p>
                <a:pPr algn="l"/>
                <a:r>
                  <a:rPr lang="en-US" sz="1600" i="1" dirty="0">
                    <a:latin typeface="+mj-lt"/>
                  </a:rPr>
                  <a:t>iii.  Repeat:</a:t>
                </a:r>
              </a:p>
              <a:p>
                <a:pPr marL="857250" lvl="1" indent="-400050" algn="l">
                  <a:buFont typeface="Arial" panose="020B0604020202020204" pitchFamily="34" charset="0"/>
                  <a:buChar char="•"/>
                </a:pPr>
                <a:r>
                  <a:rPr lang="en-US" sz="1600" i="1" dirty="0">
                    <a:latin typeface="+mj-lt"/>
                  </a:rPr>
                  <a:t>Compute </a:t>
                </a:r>
                <a:r>
                  <a:rPr lang="en-US" sz="1600" b="1" i="1" dirty="0">
                    <a:latin typeface="+mj-lt"/>
                  </a:rPr>
                  <a:t>f(</a:t>
                </a:r>
                <a14:m>
                  <m:oMath xmlns:m="http://schemas.openxmlformats.org/officeDocument/2006/math">
                    <m:sSub>
                      <m:sSubPr>
                        <m:ctrlPr>
                          <a:rPr lang="en-US" sz="1600" b="1" i="1" dirty="0" smtClean="0">
                            <a:solidFill>
                              <a:srgbClr val="836967"/>
                            </a:solidFill>
                            <a:latin typeface="+mj-lt"/>
                          </a:rPr>
                        </m:ctrlPr>
                      </m:sSubPr>
                      <m:e>
                        <m:r>
                          <a:rPr lang="en-US" sz="1600" b="1" i="1" dirty="0" smtClean="0">
                            <a:latin typeface="+mj-lt"/>
                          </a:rPr>
                          <m:t>𝒙</m:t>
                        </m:r>
                      </m:e>
                      <m:sub>
                        <m:r>
                          <a:rPr lang="en-US" sz="1600" b="1" i="1" dirty="0" smtClean="0">
                            <a:latin typeface="+mj-lt"/>
                          </a:rPr>
                          <m:t>𝟎</m:t>
                        </m:r>
                      </m:sub>
                    </m:sSub>
                    <m:r>
                      <a:rPr lang="en-US" sz="1600" b="1" i="1" dirty="0" smtClean="0">
                        <a:latin typeface="+mj-lt"/>
                      </a:rPr>
                      <m:t>)</m:t>
                    </m:r>
                  </m:oMath>
                </a14:m>
                <a:r>
                  <a:rPr lang="en-US" sz="1600" b="1" i="1" dirty="0">
                    <a:latin typeface="+mj-lt"/>
                  </a:rPr>
                  <a:t> </a:t>
                </a:r>
                <a:r>
                  <a:rPr lang="en-US" sz="1600" i="1" dirty="0">
                    <a:latin typeface="+mj-lt"/>
                  </a:rPr>
                  <a:t>and </a:t>
                </a:r>
                <a:r>
                  <a:rPr lang="en-US" sz="1600" b="1" i="1" dirty="0">
                    <a:latin typeface="+mj-lt"/>
                  </a:rPr>
                  <a:t>f′(</a:t>
                </a:r>
                <a14:m>
                  <m:oMath xmlns:m="http://schemas.openxmlformats.org/officeDocument/2006/math">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𝟎</m:t>
                        </m:r>
                      </m:sub>
                    </m:sSub>
                    <m:r>
                      <a:rPr lang="en-US" sz="1600" b="1" i="1" dirty="0" smtClean="0">
                        <a:latin typeface="+mj-lt"/>
                      </a:rPr>
                      <m:t>)</m:t>
                    </m:r>
                  </m:oMath>
                </a14:m>
                <a:r>
                  <a:rPr lang="en-US" sz="1600" b="1" i="1" dirty="0">
                    <a:latin typeface="+mj-lt"/>
                  </a:rPr>
                  <a:t>.</a:t>
                </a:r>
              </a:p>
              <a:p>
                <a:pPr marL="857250" lvl="1" indent="-400050" algn="l">
                  <a:buFont typeface="Arial" panose="020B0604020202020204" pitchFamily="34" charset="0"/>
                  <a:buChar char="•"/>
                </a:pPr>
                <a:r>
                  <a:rPr lang="en-US" sz="1600" i="1" dirty="0">
                    <a:latin typeface="+mj-lt"/>
                  </a:rPr>
                  <a:t>If f</a:t>
                </a:r>
                <a:r>
                  <a:rPr lang="en-US" sz="1600" b="1" i="1" dirty="0">
                    <a:latin typeface="+mj-lt"/>
                  </a:rPr>
                  <a:t>′(</a:t>
                </a:r>
                <a14:m>
                  <m:oMath xmlns:m="http://schemas.openxmlformats.org/officeDocument/2006/math">
                    <m:sSub>
                      <m:sSubPr>
                        <m:ctrlPr>
                          <a:rPr lang="en-US" sz="1600" b="1" i="1" dirty="0">
                            <a:solidFill>
                              <a:srgbClr val="836967"/>
                            </a:solidFill>
                            <a:latin typeface="+mj-lt"/>
                          </a:rPr>
                        </m:ctrlPr>
                      </m:sSubPr>
                      <m:e>
                        <m:r>
                          <a:rPr lang="en-US" sz="1600" b="1" i="1" dirty="0" smtClean="0">
                            <a:latin typeface="+mj-lt"/>
                          </a:rPr>
                          <m:t>𝒙</m:t>
                        </m:r>
                      </m:e>
                      <m:sub>
                        <m:r>
                          <a:rPr lang="en-US" sz="1600" b="1" i="1" dirty="0" smtClean="0">
                            <a:latin typeface="+mj-lt"/>
                          </a:rPr>
                          <m:t>𝟎</m:t>
                        </m:r>
                      </m:sub>
                    </m:sSub>
                    <m:r>
                      <a:rPr lang="en-US" sz="1600" b="1" i="1" dirty="0" smtClean="0">
                        <a:latin typeface="+mj-lt"/>
                      </a:rPr>
                      <m:t>) </m:t>
                    </m:r>
                  </m:oMath>
                </a14:m>
                <a:r>
                  <a:rPr lang="en-US" sz="1600" i="1" dirty="0">
                    <a:latin typeface="+mj-lt"/>
                  </a:rPr>
                  <a:t>, method fails (division by zero).</a:t>
                </a:r>
              </a:p>
              <a:p>
                <a:pPr marL="857250" lvl="1" indent="-400050" algn="l">
                  <a:buFont typeface="Arial" panose="020B0604020202020204" pitchFamily="34" charset="0"/>
                  <a:buChar char="•"/>
                </a:pPr>
                <a:r>
                  <a:rPr lang="en-US" sz="1600" dirty="0">
                    <a:latin typeface="+mj-lt"/>
                  </a:rPr>
                  <a:t>Compute :</a:t>
                </a:r>
              </a:p>
              <a:p>
                <a:pPr marL="457200" lvl="1" algn="l"/>
                <a:r>
                  <a:rPr lang="en-US" sz="1600" b="1" dirty="0">
                    <a:solidFill>
                      <a:srgbClr val="836967"/>
                    </a:solidFill>
                    <a:latin typeface="+mj-lt"/>
                  </a:rPr>
                  <a:t>                              </a:t>
                </a:r>
                <a14:m>
                  <m:oMath xmlns:m="http://schemas.openxmlformats.org/officeDocument/2006/math">
                    <m:sSub>
                      <m:sSubPr>
                        <m:ctrlPr>
                          <a:rPr lang="en-US" sz="1600" b="1" i="1" dirty="0">
                            <a:solidFill>
                              <a:srgbClr val="836967"/>
                            </a:solidFill>
                            <a:latin typeface="+mj-lt"/>
                          </a:rPr>
                        </m:ctrlPr>
                      </m:sSubPr>
                      <m:e>
                        <m:r>
                          <a:rPr lang="en-US" sz="1600" b="1" i="1" dirty="0">
                            <a:latin typeface="+mj-lt"/>
                          </a:rPr>
                          <m:t>𝒙</m:t>
                        </m:r>
                      </m:e>
                      <m:sub>
                        <m:r>
                          <a:rPr lang="en-US" sz="1600" b="1" i="1" dirty="0" smtClean="0">
                            <a:latin typeface="+mj-lt"/>
                          </a:rPr>
                          <m:t>𝟏</m:t>
                        </m:r>
                        <m:r>
                          <a:rPr lang="en-US" sz="1600" b="1" i="1" dirty="0">
                            <a:latin typeface="+mj-lt"/>
                          </a:rPr>
                          <m:t> </m:t>
                        </m:r>
                      </m:sub>
                    </m:sSub>
                    <m:r>
                      <a:rPr lang="en-US" sz="1600" b="1" i="0" dirty="0" smtClean="0">
                        <a:latin typeface="+mj-lt"/>
                      </a:rPr>
                      <m:t>=</m:t>
                    </m:r>
                    <m:sSub>
                      <m:sSubPr>
                        <m:ctrlPr>
                          <a:rPr lang="en-US" sz="1600" b="1" i="1" dirty="0">
                            <a:solidFill>
                              <a:srgbClr val="836967"/>
                            </a:solidFill>
                            <a:latin typeface="+mj-lt"/>
                          </a:rPr>
                        </m:ctrlPr>
                      </m:sSubPr>
                      <m:e>
                        <m:r>
                          <a:rPr lang="en-US" sz="1600" b="1" i="1" dirty="0">
                            <a:latin typeface="+mj-lt"/>
                          </a:rPr>
                          <m:t>𝒙</m:t>
                        </m:r>
                      </m:e>
                      <m:sub>
                        <m:r>
                          <a:rPr lang="en-US" sz="1600" b="1" i="1" dirty="0">
                            <a:latin typeface="+mj-lt"/>
                          </a:rPr>
                          <m:t>𝒏</m:t>
                        </m:r>
                        <m:r>
                          <a:rPr lang="en-US" sz="1600" b="1" i="1" dirty="0" smtClean="0">
                            <a:latin typeface="+mj-lt"/>
                          </a:rPr>
                          <m:t> − </m:t>
                        </m:r>
                      </m:sub>
                    </m:sSub>
                    <m:f>
                      <m:fPr>
                        <m:ctrlPr>
                          <a:rPr lang="en-US" sz="1600" b="1" i="1" dirty="0" smtClean="0">
                            <a:solidFill>
                              <a:srgbClr val="836967"/>
                            </a:solidFill>
                            <a:latin typeface="+mj-lt"/>
                          </a:rPr>
                        </m:ctrlPr>
                      </m:fPr>
                      <m:num>
                        <m:r>
                          <a:rPr lang="en-US" sz="1600" b="1" i="1" dirty="0" smtClean="0">
                            <a:solidFill>
                              <a:srgbClr val="836967"/>
                            </a:solidFill>
                            <a:latin typeface="+mj-lt"/>
                          </a:rPr>
                          <m:t>𝒇</m:t>
                        </m:r>
                        <m:r>
                          <a:rPr lang="en-US" sz="1600" b="1" i="1" dirty="0" smtClean="0">
                            <a:solidFill>
                              <a:srgbClr val="836967"/>
                            </a:solidFill>
                            <a:latin typeface="+mj-lt"/>
                          </a:rPr>
                          <m:t>(</m:t>
                        </m:r>
                        <m:sSub>
                          <m:sSubPr>
                            <m:ctrlPr>
                              <a:rPr lang="en-US" sz="1600" b="1" i="1" dirty="0" smtClean="0">
                                <a:solidFill>
                                  <a:srgbClr val="836967"/>
                                </a:solidFill>
                                <a:latin typeface="+mj-lt"/>
                              </a:rPr>
                            </m:ctrlPr>
                          </m:sSubPr>
                          <m:e>
                            <m:r>
                              <a:rPr lang="en-US" sz="1600" b="1" i="1" dirty="0">
                                <a:latin typeface="+mj-lt"/>
                              </a:rPr>
                              <m:t>𝒙</m:t>
                            </m:r>
                          </m:e>
                          <m:sub>
                            <m:r>
                              <a:rPr lang="en-US" sz="1600" b="1" i="1" dirty="0" smtClean="0">
                                <a:latin typeface="+mj-lt"/>
                              </a:rPr>
                              <m:t>𝟎</m:t>
                            </m:r>
                          </m:sub>
                        </m:sSub>
                        <m:r>
                          <a:rPr lang="en-US" sz="1600" b="1" i="1" dirty="0" smtClean="0">
                            <a:latin typeface="+mj-lt"/>
                          </a:rPr>
                          <m:t>)</m:t>
                        </m:r>
                      </m:num>
                      <m:den>
                        <m:r>
                          <a:rPr lang="en-US" sz="1600" b="1" i="1" dirty="0">
                            <a:solidFill>
                              <a:srgbClr val="836967"/>
                            </a:solidFill>
                            <a:latin typeface="+mj-lt"/>
                          </a:rPr>
                          <m:t>𝒇</m:t>
                        </m:r>
                        <m:r>
                          <a:rPr lang="en-US" sz="1600" b="1" i="1" dirty="0" smtClean="0">
                            <a:solidFill>
                              <a:srgbClr val="836967"/>
                            </a:solidFill>
                            <a:latin typeface="+mj-lt"/>
                          </a:rPr>
                          <m:t>′</m:t>
                        </m:r>
                        <m:r>
                          <a:rPr lang="en-US" sz="1600" b="1" i="1" dirty="0">
                            <a:solidFill>
                              <a:srgbClr val="836967"/>
                            </a:solidFill>
                            <a:latin typeface="+mj-lt"/>
                          </a:rPr>
                          <m:t>(</m:t>
                        </m:r>
                        <m:sSub>
                          <m:sSubPr>
                            <m:ctrlPr>
                              <a:rPr lang="en-US" sz="1600" b="1" i="1" dirty="0">
                                <a:solidFill>
                                  <a:srgbClr val="836967"/>
                                </a:solidFill>
                                <a:latin typeface="+mj-lt"/>
                              </a:rPr>
                            </m:ctrlPr>
                          </m:sSubPr>
                          <m:e>
                            <m:r>
                              <a:rPr lang="en-US" sz="1600" b="1" i="1" dirty="0">
                                <a:latin typeface="+mj-lt"/>
                              </a:rPr>
                              <m:t>𝒙</m:t>
                            </m:r>
                          </m:e>
                          <m:sub>
                            <m:r>
                              <a:rPr lang="en-US" sz="1600" b="1" i="1" dirty="0" smtClean="0">
                                <a:latin typeface="+mj-lt"/>
                              </a:rPr>
                              <m:t>𝟎</m:t>
                            </m:r>
                          </m:sub>
                        </m:sSub>
                        <m:r>
                          <a:rPr lang="en-US" sz="1600" b="1" i="1" dirty="0">
                            <a:latin typeface="+mj-lt"/>
                          </a:rPr>
                          <m:t>)</m:t>
                        </m:r>
                      </m:den>
                    </m:f>
                  </m:oMath>
                </a14:m>
                <a:endParaRPr lang="en-US" sz="1600" i="1" dirty="0">
                  <a:latin typeface="+mj-lt"/>
                </a:endParaRPr>
              </a:p>
              <a:p>
                <a:pPr algn="l"/>
                <a:endParaRPr lang="en-US" sz="1600" i="1" dirty="0">
                  <a:latin typeface="+mj-lt"/>
                </a:endParaRPr>
              </a:p>
              <a:p>
                <a:pPr algn="l"/>
                <a:endParaRPr lang="en-US" sz="1600" i="1" dirty="0">
                  <a:latin typeface="+mj-lt"/>
                </a:endParaRPr>
              </a:p>
              <a:p>
                <a:pPr algn="l"/>
                <a:endParaRPr lang="en-US" sz="1600" i="1" dirty="0">
                  <a:latin typeface="+mj-lt"/>
                </a:endParaRPr>
              </a:p>
            </p:txBody>
          </p:sp>
        </mc:Choice>
        <mc:Fallback>
          <p:sp>
            <p:nvSpPr>
              <p:cNvPr id="3" name="Subtitle 2">
                <a:extLst>
                  <a:ext uri="{FF2B5EF4-FFF2-40B4-BE49-F238E27FC236}">
                    <a16:creationId xmlns:a16="http://schemas.microsoft.com/office/drawing/2014/main" id="{B7DE63CA-6F5C-5DBF-A32E-FB45AAA61CFA}"/>
                  </a:ext>
                </a:extLst>
              </p:cNvPr>
              <p:cNvSpPr>
                <a:spLocks noGrp="1" noRot="1" noChangeAspect="1" noMove="1" noResize="1" noEditPoints="1" noAdjustHandles="1" noChangeArrowheads="1" noChangeShapeType="1" noTextEdit="1"/>
              </p:cNvSpPr>
              <p:nvPr>
                <p:ph type="subTitle" idx="1"/>
              </p:nvPr>
            </p:nvSpPr>
            <p:spPr>
              <a:xfrm>
                <a:off x="444137" y="431075"/>
                <a:ext cx="6844937" cy="9993086"/>
              </a:xfrm>
              <a:blipFill>
                <a:blip r:embed="rId2"/>
                <a:stretch>
                  <a:fillRect l="-534" t="-427" r="-623"/>
                </a:stretch>
              </a:blipFill>
            </p:spPr>
            <p:txBody>
              <a:bodyPr/>
              <a:lstStyle/>
              <a:p>
                <a:r>
                  <a:rPr lang="en-US">
                    <a:noFill/>
                  </a:rPr>
                  <a:t> </a:t>
                </a:r>
              </a:p>
            </p:txBody>
          </p:sp>
        </mc:Fallback>
      </mc:AlternateContent>
    </p:spTree>
    <p:extLst>
      <p:ext uri="{BB962C8B-B14F-4D97-AF65-F5344CB8AC3E}">
        <p14:creationId xmlns:p14="http://schemas.microsoft.com/office/powerpoint/2010/main" val="3775509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484AD53-5DF5-5CC1-4695-076A15622BE5}"/>
                  </a:ext>
                </a:extLst>
              </p:cNvPr>
              <p:cNvSpPr>
                <a:spLocks noGrp="1"/>
              </p:cNvSpPr>
              <p:nvPr>
                <p:ph idx="1"/>
              </p:nvPr>
            </p:nvSpPr>
            <p:spPr>
              <a:xfrm>
                <a:off x="521802" y="219918"/>
                <a:ext cx="6546235" cy="10139423"/>
              </a:xfrm>
            </p:spPr>
            <p:txBody>
              <a:bodyPr>
                <a:normAutofit lnSpcReduction="10000"/>
              </a:bodyPr>
              <a:lstStyle/>
              <a:p>
                <a:pPr marL="457200" lvl="1" indent="0">
                  <a:buNone/>
                </a:pPr>
                <a:endParaRPr lang="en-US" sz="1600" dirty="0">
                  <a:latin typeface="+mj-lt"/>
                </a:endParaRPr>
              </a:p>
              <a:p>
                <a:pPr marL="857250" lvl="1" indent="-400050"/>
                <a:r>
                  <a:rPr lang="en-US" sz="1600" dirty="0">
                    <a:latin typeface="+mj-lt"/>
                  </a:rPr>
                  <a:t>Calculate error </a:t>
                </a:r>
                <a:r>
                  <a:rPr lang="en-US" sz="1600" b="1" dirty="0" err="1">
                    <a:latin typeface="+mj-lt"/>
                  </a:rPr>
                  <a:t>ea</a:t>
                </a:r>
                <a:r>
                  <a:rPr lang="en-US" sz="1600" b="1" dirty="0">
                    <a:latin typeface="+mj-lt"/>
                  </a:rPr>
                  <a:t> = ∣</a:t>
                </a:r>
                <a:r>
                  <a:rPr lang="en-US" sz="1600" b="1" dirty="0">
                    <a:solidFill>
                      <a:srgbClr val="836967"/>
                    </a:solidFill>
                    <a:latin typeface="+mj-lt"/>
                  </a:rPr>
                  <a:t> </a:t>
                </a:r>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oMath>
                </a14:m>
                <a:r>
                  <a:rPr lang="en-US" sz="1600" b="1" dirty="0">
                    <a:latin typeface="+mj-lt"/>
                  </a:rPr>
                  <a:t>-</a:t>
                </a:r>
                <a:r>
                  <a:rPr lang="en-US" sz="1600" b="1" dirty="0">
                    <a:solidFill>
                      <a:srgbClr val="836967"/>
                    </a:solidFill>
                    <a:latin typeface="+mj-lt"/>
                  </a:rPr>
                  <a:t> </a:t>
                </a:r>
                <a14:m>
                  <m:oMath xmlns:m="http://schemas.openxmlformats.org/officeDocument/2006/math">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 </m:t>
                    </m:r>
                  </m:oMath>
                </a14:m>
                <a:r>
                  <a:rPr lang="en-US" sz="1600" b="1" dirty="0">
                    <a:latin typeface="+mj-lt"/>
                  </a:rPr>
                  <a:t>∣</a:t>
                </a:r>
                <a:r>
                  <a:rPr lang="en-US" sz="1600" dirty="0">
                    <a:latin typeface="+mj-lt"/>
                  </a:rPr>
                  <a:t>.</a:t>
                </a:r>
              </a:p>
              <a:p>
                <a:pPr marL="857250" lvl="1" indent="-400050"/>
                <a:r>
                  <a:rPr lang="en-US" sz="1600" dirty="0">
                    <a:latin typeface="+mj-lt"/>
                  </a:rPr>
                  <a:t>Set </a:t>
                </a:r>
                <a14:m>
                  <m:oMath xmlns:m="http://schemas.openxmlformats.org/officeDocument/2006/math">
                    <m:sSub>
                      <m:sSubPr>
                        <m:ctrlPr>
                          <a:rPr lang="en-US" sz="1600" b="1" dirty="0" smtClean="0">
                            <a:solidFill>
                              <a:srgbClr val="836967"/>
                            </a:solidFill>
                            <a:latin typeface="+mj-lt"/>
                          </a:rPr>
                        </m:ctrlPr>
                      </m:sSubPr>
                      <m:e>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m:t>
                        </m:r>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oMath>
                </a14:m>
                <a:r>
                  <a:rPr lang="en-US" sz="1600" dirty="0">
                    <a:latin typeface="+mj-lt"/>
                  </a:rPr>
                  <a:t>​.</a:t>
                </a:r>
              </a:p>
              <a:p>
                <a:pPr marL="0" indent="0">
                  <a:buNone/>
                </a:pPr>
                <a:r>
                  <a:rPr lang="en-US" sz="1600" dirty="0">
                    <a:latin typeface="+mj-lt"/>
                  </a:rPr>
                  <a:t>  iv. Until  </a:t>
                </a:r>
                <a:r>
                  <a:rPr lang="en-US" sz="1600" b="1" dirty="0" err="1">
                    <a:latin typeface="+mj-lt"/>
                  </a:rPr>
                  <a:t>ea</a:t>
                </a:r>
                <a:r>
                  <a:rPr lang="en-US" sz="1600" b="1" dirty="0">
                    <a:latin typeface="+mj-lt"/>
                  </a:rPr>
                  <a:t> &lt; </a:t>
                </a:r>
                <a:r>
                  <a:rPr lang="el-GR" sz="1600" b="1" dirty="0">
                    <a:latin typeface="+mj-lt"/>
                  </a:rPr>
                  <a:t>ε</a:t>
                </a:r>
                <a:r>
                  <a:rPr lang="en-US" sz="1600" b="1" dirty="0">
                    <a:latin typeface="+mj-lt"/>
                  </a:rPr>
                  <a:t> </a:t>
                </a:r>
                <a:r>
                  <a:rPr lang="en-US" sz="1600" dirty="0">
                    <a:latin typeface="+mj-lt"/>
                  </a:rPr>
                  <a:t>or maximum iterations reached.</a:t>
                </a:r>
              </a:p>
              <a:p>
                <a:pPr marL="0" indent="0">
                  <a:buNone/>
                </a:pPr>
                <a:r>
                  <a:rPr lang="en-US" sz="1600" dirty="0">
                    <a:latin typeface="+mj-lt"/>
                  </a:rPr>
                  <a:t>  v.  Output ​</a:t>
                </a:r>
                <a:r>
                  <a:rPr lang="en-US" sz="1600" b="1" dirty="0">
                    <a:solidFill>
                      <a:srgbClr val="836967"/>
                    </a:solidFill>
                    <a:latin typeface="+mj-lt"/>
                  </a:rPr>
                  <a:t> </a:t>
                </a:r>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oMath>
                </a14:m>
                <a:r>
                  <a:rPr lang="en-US" sz="1600" dirty="0">
                    <a:latin typeface="+mj-lt"/>
                  </a:rPr>
                  <a:t> as the root.</a:t>
                </a:r>
              </a:p>
              <a:p>
                <a:pPr marL="0" indent="0">
                  <a:buNone/>
                </a:pPr>
                <a:r>
                  <a:rPr lang="en-US" sz="1600" dirty="0">
                    <a:latin typeface="+mj-lt"/>
                  </a:rPr>
                  <a:t>2)Secant Method Algorithm:</a:t>
                </a:r>
              </a:p>
              <a:p>
                <a:pPr marL="0" indent="0">
                  <a:buNone/>
                </a:pPr>
                <a:r>
                  <a:rPr lang="en-US" sz="1600" dirty="0" err="1">
                    <a:latin typeface="+mj-lt"/>
                  </a:rPr>
                  <a:t>i</a:t>
                </a:r>
                <a:r>
                  <a:rPr lang="en-US" sz="1600" dirty="0">
                    <a:latin typeface="+mj-lt"/>
                  </a:rPr>
                  <a:t>.   Start with two initial guesses  </a:t>
                </a:r>
                <a14:m>
                  <m:oMath xmlns:m="http://schemas.openxmlformats.org/officeDocument/2006/math">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 </m:t>
                    </m:r>
                  </m:oMath>
                </a14:m>
                <a:r>
                  <a:rPr lang="en-US" sz="1600" dirty="0">
                    <a:latin typeface="+mj-lt"/>
                  </a:rPr>
                  <a:t>and </a:t>
                </a:r>
                <a14:m>
                  <m:oMath xmlns:m="http://schemas.openxmlformats.org/officeDocument/2006/math">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oMath>
                </a14:m>
                <a:r>
                  <a:rPr lang="en-US" sz="1600" dirty="0">
                    <a:latin typeface="+mj-lt"/>
                  </a:rPr>
                  <a:t>​.</a:t>
                </a:r>
              </a:p>
              <a:p>
                <a:pPr marL="0" indent="0">
                  <a:buNone/>
                </a:pPr>
                <a:r>
                  <a:rPr lang="en-US" sz="1600" dirty="0">
                    <a:latin typeface="+mj-lt"/>
                  </a:rPr>
                  <a:t>ii.  Set the tolerance value </a:t>
                </a:r>
                <a:r>
                  <a:rPr lang="el-GR" sz="1600" b="1" dirty="0">
                    <a:latin typeface="+mj-lt"/>
                  </a:rPr>
                  <a:t>ε</a:t>
                </a:r>
                <a:r>
                  <a:rPr lang="el-GR" sz="1600" dirty="0">
                    <a:latin typeface="+mj-lt"/>
                  </a:rPr>
                  <a:t> (</a:t>
                </a:r>
                <a:r>
                  <a:rPr lang="en-US" sz="1600" dirty="0">
                    <a:latin typeface="+mj-lt"/>
                  </a:rPr>
                  <a:t>e.g., 0.001).</a:t>
                </a:r>
              </a:p>
              <a:p>
                <a:pPr marL="0" indent="0">
                  <a:buNone/>
                </a:pPr>
                <a:r>
                  <a:rPr lang="en-US" sz="1600" dirty="0">
                    <a:latin typeface="+mj-lt"/>
                  </a:rPr>
                  <a:t>iii. Repeat:</a:t>
                </a:r>
              </a:p>
              <a:p>
                <a:pPr marL="742950" lvl="1" indent="-285750"/>
                <a:r>
                  <a:rPr lang="en-US" sz="1600" dirty="0">
                    <a:latin typeface="+mj-lt"/>
                  </a:rPr>
                  <a:t>Compute </a:t>
                </a:r>
                <a:r>
                  <a:rPr lang="en-US" sz="1600" b="1" dirty="0">
                    <a:latin typeface="+mj-lt"/>
                  </a:rPr>
                  <a:t>f(</a:t>
                </a:r>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 </m:t>
                    </m:r>
                  </m:oMath>
                </a14:m>
                <a:r>
                  <a:rPr lang="en-US" sz="1600" b="1" dirty="0">
                    <a:latin typeface="+mj-lt"/>
                  </a:rPr>
                  <a:t>) </a:t>
                </a:r>
                <a:r>
                  <a:rPr lang="en-US" sz="1600" dirty="0">
                    <a:latin typeface="+mj-lt"/>
                  </a:rPr>
                  <a:t>and </a:t>
                </a:r>
                <a:r>
                  <a:rPr lang="en-US" sz="1600" b="1" dirty="0">
                    <a:latin typeface="+mj-lt"/>
                  </a:rPr>
                  <a:t>f(</a:t>
                </a:r>
                <a14:m>
                  <m:oMath xmlns:m="http://schemas.openxmlformats.org/officeDocument/2006/math">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oMath>
                </a14:m>
                <a:r>
                  <a:rPr lang="en-US" sz="1600" b="1" dirty="0">
                    <a:latin typeface="+mj-lt"/>
                  </a:rPr>
                  <a:t>) </a:t>
                </a:r>
                <a:r>
                  <a:rPr lang="en-US" sz="1600" dirty="0">
                    <a:latin typeface="+mj-lt"/>
                  </a:rPr>
                  <a:t>.</a:t>
                </a:r>
              </a:p>
              <a:p>
                <a:pPr marL="742950" lvl="1" indent="-285750"/>
                <a:r>
                  <a:rPr lang="en-US" sz="1600" dirty="0">
                    <a:latin typeface="+mj-lt"/>
                  </a:rPr>
                  <a:t>If </a:t>
                </a:r>
                <a:r>
                  <a:rPr lang="en-US" sz="1600" b="1" dirty="0">
                    <a:latin typeface="+mj-lt"/>
                  </a:rPr>
                  <a:t>f(</a:t>
                </a:r>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 </m:t>
                    </m:r>
                  </m:oMath>
                </a14:m>
                <a:r>
                  <a:rPr lang="en-US" sz="1600" b="1" dirty="0">
                    <a:latin typeface="+mj-lt"/>
                  </a:rPr>
                  <a:t>) = f(</a:t>
                </a:r>
                <a14:m>
                  <m:oMath xmlns:m="http://schemas.openxmlformats.org/officeDocument/2006/math">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oMath>
                </a14:m>
                <a:r>
                  <a:rPr lang="en-US" sz="1600" b="1" dirty="0">
                    <a:latin typeface="+mj-lt"/>
                  </a:rPr>
                  <a:t>) </a:t>
                </a:r>
                <a:r>
                  <a:rPr lang="en-US" sz="1600" dirty="0">
                    <a:latin typeface="+mj-lt"/>
                  </a:rPr>
                  <a:t>, method fails (division by zero).</a:t>
                </a:r>
              </a:p>
              <a:p>
                <a:pPr marL="742950" lvl="1" indent="-285750"/>
                <a:r>
                  <a:rPr lang="en-US" sz="1600" dirty="0">
                    <a:latin typeface="+mj-lt"/>
                  </a:rPr>
                  <a:t>Compute:</a:t>
                </a:r>
              </a:p>
              <a:p>
                <a:pPr marL="742950" lvl="1" indent="-285750"/>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𝟐</m:t>
                        </m:r>
                      </m:sub>
                    </m:sSub>
                    <m:r>
                      <a:rPr lang="en-US" sz="1600" b="1" i="0" dirty="0" smtClean="0">
                        <a:latin typeface="Cambria Math" panose="02040503050406030204" pitchFamily="18" charset="0"/>
                      </a:rPr>
                      <m:t>=</m:t>
                    </m:r>
                    <m:f>
                      <m:fPr>
                        <m:ctrlPr>
                          <a:rPr lang="en-US" sz="1600" b="1" dirty="0" smtClean="0">
                            <a:solidFill>
                              <a:srgbClr val="836967"/>
                            </a:solidFill>
                            <a:latin typeface="+mj-lt"/>
                          </a:rPr>
                        </m:ctrlPr>
                      </m:fPr>
                      <m:num>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solidFill>
                              <a:srgbClr val="836967"/>
                            </a:solidFill>
                            <a:latin typeface="Cambria Math" panose="02040503050406030204" pitchFamily="18" charset="0"/>
                          </a:rPr>
                          <m:t>𝐟</m:t>
                        </m:r>
                        <m:d>
                          <m:dPr>
                            <m:ctrlPr>
                              <a:rPr lang="en-US" sz="1600" b="1" dirty="0" smtClean="0">
                                <a:solidFill>
                                  <a:srgbClr val="836967"/>
                                </a:solidFill>
                                <a:latin typeface="+mj-lt"/>
                              </a:rPr>
                            </m:ctrlPr>
                          </m:dPr>
                          <m:e>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e>
                        </m:d>
                        <m:r>
                          <a:rPr lang="en-US" sz="1600" b="1" i="0" dirty="0" smtClean="0">
                            <a:latin typeface="Cambria Math" panose="02040503050406030204" pitchFamily="18" charset="0"/>
                          </a:rPr>
                          <m:t>−</m:t>
                        </m:r>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𝐟</m:t>
                        </m:r>
                        <m:r>
                          <a:rPr lang="en-US" sz="1600" b="1" i="0" dirty="0" smtClean="0">
                            <a:latin typeface="Cambria Math" panose="02040503050406030204" pitchFamily="18" charset="0"/>
                          </a:rPr>
                          <m:t>(</m:t>
                        </m:r>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m:t>
                        </m:r>
                      </m:num>
                      <m:den>
                        <m:r>
                          <a:rPr lang="en-US" sz="1600" b="1" i="0" dirty="0" smtClean="0">
                            <a:solidFill>
                              <a:srgbClr val="836967"/>
                            </a:solidFill>
                            <a:latin typeface="Cambria Math" panose="02040503050406030204" pitchFamily="18" charset="0"/>
                          </a:rPr>
                          <m:t>𝐟</m:t>
                        </m:r>
                        <m:d>
                          <m:dPr>
                            <m:ctrlPr>
                              <a:rPr lang="en-US" sz="1600" b="1" dirty="0">
                                <a:solidFill>
                                  <a:srgbClr val="836967"/>
                                </a:solidFill>
                                <a:latin typeface="+mj-lt"/>
                              </a:rPr>
                            </m:ctrlPr>
                          </m:dPr>
                          <m:e>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e>
                        </m:d>
                        <m:r>
                          <a:rPr lang="en-US" sz="1600" b="1" i="0" dirty="0" smtClean="0">
                            <a:latin typeface="Cambria Math" panose="02040503050406030204" pitchFamily="18" charset="0"/>
                          </a:rPr>
                          <m:t>−</m:t>
                        </m:r>
                        <m:r>
                          <a:rPr lang="en-US" sz="1600" b="1" i="0" dirty="0" smtClean="0">
                            <a:latin typeface="Cambria Math" panose="02040503050406030204" pitchFamily="18" charset="0"/>
                          </a:rPr>
                          <m:t>𝐟</m:t>
                        </m:r>
                        <m:r>
                          <a:rPr lang="en-US" sz="1600" b="1" i="0" dirty="0" smtClean="0">
                            <a:latin typeface="Cambria Math" panose="02040503050406030204" pitchFamily="18" charset="0"/>
                          </a:rPr>
                          <m:t>(</m:t>
                        </m:r>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m:t>
                        </m:r>
                      </m:den>
                    </m:f>
                    <m:r>
                      <a:rPr lang="en-US" sz="1600" b="1" i="0" dirty="0" smtClean="0">
                        <a:latin typeface="Cambria Math" panose="02040503050406030204" pitchFamily="18" charset="0"/>
                      </a:rPr>
                      <m:t> </m:t>
                    </m:r>
                  </m:oMath>
                </a14:m>
                <a:endParaRPr lang="en-US" sz="1600" dirty="0">
                  <a:latin typeface="+mj-lt"/>
                </a:endParaRPr>
              </a:p>
              <a:p>
                <a:pPr marL="742950" lvl="1" indent="-285750"/>
                <a:r>
                  <a:rPr lang="en-US" sz="1600" dirty="0">
                    <a:latin typeface="+mj-lt"/>
                  </a:rPr>
                  <a:t>Calculate error </a:t>
                </a:r>
                <a:r>
                  <a:rPr lang="en-US" sz="1600" b="1" dirty="0" err="1">
                    <a:latin typeface="+mj-lt"/>
                  </a:rPr>
                  <a:t>ea</a:t>
                </a:r>
                <a:r>
                  <a:rPr lang="en-US" sz="1600" b="1" dirty="0">
                    <a:latin typeface="+mj-lt"/>
                  </a:rPr>
                  <a:t> = ∣</a:t>
                </a:r>
                <a:r>
                  <a:rPr lang="en-US" sz="1600" b="1" dirty="0">
                    <a:solidFill>
                      <a:srgbClr val="836967"/>
                    </a:solidFill>
                    <a:latin typeface="+mj-lt"/>
                  </a:rPr>
                  <a:t> </a:t>
                </a:r>
                <a14:m>
                  <m:oMath xmlns:m="http://schemas.openxmlformats.org/officeDocument/2006/math">
                    <m:sSub>
                      <m:sSubPr>
                        <m:ctrlPr>
                          <a:rPr lang="en-US" sz="1600" b="1" dirty="0">
                            <a:solidFill>
                              <a:srgbClr val="836967"/>
                            </a:solidFill>
                            <a:latin typeface="+mj-lt"/>
                          </a:rPr>
                        </m:ctrlPr>
                      </m:sSubPr>
                      <m:e>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𝟐</m:t>
                            </m:r>
                          </m:sub>
                        </m:sSub>
                        <m:r>
                          <a:rPr lang="en-US" sz="1600" b="1" i="0" dirty="0" smtClean="0">
                            <a:latin typeface="Cambria Math" panose="02040503050406030204" pitchFamily="18" charset="0"/>
                          </a:rPr>
                          <m:t>−</m:t>
                        </m:r>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oMath>
                </a14:m>
                <a:r>
                  <a:rPr lang="en-US" sz="1600" b="1" dirty="0">
                    <a:latin typeface="+mj-lt"/>
                  </a:rPr>
                  <a:t>∣</a:t>
                </a:r>
                <a:r>
                  <a:rPr lang="en-US" sz="1600" dirty="0">
                    <a:latin typeface="+mj-lt"/>
                  </a:rPr>
                  <a:t>.</a:t>
                </a:r>
              </a:p>
              <a:p>
                <a:pPr marL="742950" lvl="1" indent="-285750"/>
                <a:r>
                  <a:rPr lang="en-US" sz="1600" dirty="0">
                    <a:latin typeface="+mj-lt"/>
                  </a:rPr>
                  <a:t>Update: </a:t>
                </a:r>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𝟎</m:t>
                        </m:r>
                      </m:sub>
                    </m:sSub>
                    <m:r>
                      <a:rPr lang="en-US" sz="1600" b="1" i="0" dirty="0" smtClean="0">
                        <a:latin typeface="Cambria Math" panose="02040503050406030204" pitchFamily="18" charset="0"/>
                      </a:rPr>
                      <m:t>= </m:t>
                    </m:r>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  </m:t>
                    </m:r>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𝟏</m:t>
                        </m:r>
                      </m:sub>
                    </m:sSub>
                    <m:r>
                      <a:rPr lang="en-US" sz="1600" b="1" i="0" dirty="0" smtClean="0">
                        <a:latin typeface="Cambria Math" panose="02040503050406030204" pitchFamily="18" charset="0"/>
                      </a:rPr>
                      <m:t>= </m:t>
                    </m:r>
                    <m:sSub>
                      <m:sSubPr>
                        <m:ctrlPr>
                          <a:rPr lang="en-US" sz="1600" b="1" dirty="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𝟐</m:t>
                        </m:r>
                      </m:sub>
                    </m:sSub>
                    <m:r>
                      <a:rPr lang="en-US" sz="1600" b="1" i="0" dirty="0" smtClean="0">
                        <a:latin typeface="Cambria Math" panose="02040503050406030204" pitchFamily="18" charset="0"/>
                      </a:rPr>
                      <m:t> </m:t>
                    </m:r>
                  </m:oMath>
                </a14:m>
                <a:r>
                  <a:rPr lang="en-US" sz="1600" dirty="0">
                    <a:latin typeface="+mj-lt"/>
                  </a:rPr>
                  <a:t>​.</a:t>
                </a:r>
              </a:p>
              <a:p>
                <a:pPr marL="0" indent="0">
                  <a:buNone/>
                </a:pPr>
                <a:r>
                  <a:rPr lang="en-US" sz="1600" dirty="0">
                    <a:latin typeface="+mj-lt"/>
                  </a:rPr>
                  <a:t>iv.  Until </a:t>
                </a:r>
                <a:r>
                  <a:rPr lang="en-US" sz="1600" b="1" dirty="0" err="1">
                    <a:latin typeface="+mj-lt"/>
                  </a:rPr>
                  <a:t>ea</a:t>
                </a:r>
                <a:r>
                  <a:rPr lang="en-US" sz="1600" b="1" dirty="0">
                    <a:latin typeface="+mj-lt"/>
                  </a:rPr>
                  <a:t> &lt; </a:t>
                </a:r>
                <a:r>
                  <a:rPr lang="el-GR" sz="1600" b="1" dirty="0">
                    <a:latin typeface="+mj-lt"/>
                  </a:rPr>
                  <a:t>ε</a:t>
                </a:r>
                <a:r>
                  <a:rPr lang="en-US" sz="1600" b="1" dirty="0">
                    <a:latin typeface="+mj-lt"/>
                  </a:rPr>
                  <a:t> </a:t>
                </a:r>
                <a:r>
                  <a:rPr lang="en-US" sz="1600" dirty="0">
                    <a:latin typeface="+mj-lt"/>
                  </a:rPr>
                  <a:t>or maximum iterations reached.</a:t>
                </a:r>
              </a:p>
              <a:p>
                <a:pPr marL="400050" indent="-400050">
                  <a:buAutoNum type="romanLcPeriod" startAt="5"/>
                </a:pPr>
                <a:r>
                  <a:rPr lang="en-US" sz="1600" dirty="0">
                    <a:latin typeface="+mj-lt"/>
                  </a:rPr>
                  <a:t>Output </a:t>
                </a:r>
                <a14:m>
                  <m:oMath xmlns:m="http://schemas.openxmlformats.org/officeDocument/2006/math">
                    <m:sSub>
                      <m:sSubPr>
                        <m:ctrlPr>
                          <a:rPr lang="en-US" sz="1600" b="1" dirty="0" smtClean="0">
                            <a:solidFill>
                              <a:srgbClr val="836967"/>
                            </a:solidFill>
                            <a:latin typeface="+mj-lt"/>
                          </a:rPr>
                        </m:ctrlPr>
                      </m:sSubPr>
                      <m:e>
                        <m:r>
                          <a:rPr lang="en-US" sz="1600" b="1" i="0" dirty="0" smtClean="0">
                            <a:latin typeface="Cambria Math" panose="02040503050406030204" pitchFamily="18" charset="0"/>
                          </a:rPr>
                          <m:t>𝐱</m:t>
                        </m:r>
                      </m:e>
                      <m:sub>
                        <m:r>
                          <a:rPr lang="en-US" sz="1600" b="1" i="0" dirty="0" smtClean="0">
                            <a:latin typeface="Cambria Math" panose="02040503050406030204" pitchFamily="18" charset="0"/>
                          </a:rPr>
                          <m:t>𝟐</m:t>
                        </m:r>
                      </m:sub>
                    </m:sSub>
                    <m:r>
                      <a:rPr lang="en-US" sz="1600" b="1" i="0" dirty="0" smtClean="0">
                        <a:latin typeface="Cambria Math" panose="02040503050406030204" pitchFamily="18" charset="0"/>
                      </a:rPr>
                      <m:t> </m:t>
                    </m:r>
                  </m:oMath>
                </a14:m>
                <a:r>
                  <a:rPr lang="en-US" sz="1600" dirty="0">
                    <a:latin typeface="+mj-lt"/>
                  </a:rPr>
                  <a:t>as the root.</a:t>
                </a:r>
              </a:p>
              <a:p>
                <a:pPr marL="0" indent="0">
                  <a:buNone/>
                </a:pPr>
                <a:r>
                  <a:rPr lang="en-US" sz="1600" b="1" u="sng" dirty="0">
                    <a:latin typeface="+mj-lt"/>
                  </a:rPr>
                  <a:t>Source Code:</a:t>
                </a:r>
              </a:p>
              <a:p>
                <a:pPr marL="0" indent="0">
                  <a:buNone/>
                </a:pPr>
                <a:r>
                  <a:rPr lang="en-US" sz="1600" dirty="0">
                    <a:latin typeface="+mj-lt"/>
                  </a:rPr>
                  <a:t>1)Newton Raphson (NR) Method :</a:t>
                </a:r>
              </a:p>
              <a:p>
                <a:pPr marL="0" indent="0">
                  <a:buNone/>
                </a:pPr>
                <a:r>
                  <a:rPr lang="en-US" sz="1600" dirty="0">
                    <a:latin typeface="+mj-lt"/>
                  </a:rPr>
                  <a:t>float f(float x){</a:t>
                </a:r>
              </a:p>
              <a:p>
                <a:pPr marL="0" indent="0">
                  <a:buNone/>
                </a:pPr>
                <a:r>
                  <a:rPr lang="en-US" sz="1600" dirty="0">
                    <a:latin typeface="+mj-lt"/>
                  </a:rPr>
                  <a:t>return x * x - x - 1 ;</a:t>
                </a:r>
              </a:p>
              <a:p>
                <a:pPr marL="0" indent="0">
                  <a:buNone/>
                </a:pPr>
                <a:r>
                  <a:rPr lang="en-US" sz="1600" dirty="0">
                    <a:latin typeface="+mj-lt"/>
                  </a:rPr>
                  <a:t>}</a:t>
                </a:r>
              </a:p>
              <a:p>
                <a:pPr marL="0" indent="0">
                  <a:buNone/>
                </a:pPr>
                <a:r>
                  <a:rPr lang="en-US" sz="1600" dirty="0">
                    <a:latin typeface="+mj-lt"/>
                  </a:rPr>
                  <a:t>float </a:t>
                </a:r>
                <a:r>
                  <a:rPr lang="en-US" sz="1600" dirty="0" err="1">
                    <a:latin typeface="+mj-lt"/>
                  </a:rPr>
                  <a:t>df</a:t>
                </a:r>
                <a:r>
                  <a:rPr lang="en-US" sz="1600" dirty="0">
                    <a:latin typeface="+mj-lt"/>
                  </a:rPr>
                  <a:t>(float x){</a:t>
                </a:r>
              </a:p>
              <a:p>
                <a:pPr marL="0" indent="0">
                  <a:buNone/>
                </a:pPr>
                <a:r>
                  <a:rPr lang="en-US" sz="1600" dirty="0">
                    <a:latin typeface="+mj-lt"/>
                  </a:rPr>
                  <a:t>return 2 * x - 1 ;</a:t>
                </a:r>
              </a:p>
              <a:p>
                <a:pPr marL="0" indent="0">
                  <a:buNone/>
                </a:pPr>
                <a:r>
                  <a:rPr lang="en-US" sz="1600" dirty="0">
                    <a:latin typeface="+mj-lt"/>
                  </a:rPr>
                  <a:t>}</a:t>
                </a:r>
              </a:p>
              <a:p>
                <a:pPr marL="0" indent="0">
                  <a:buNone/>
                </a:pPr>
                <a:r>
                  <a:rPr lang="en-US" sz="1600" dirty="0">
                    <a:latin typeface="+mj-lt"/>
                  </a:rPr>
                  <a:t>#include&lt;stdio.h&gt;</a:t>
                </a:r>
              </a:p>
              <a:p>
                <a:pPr marL="0" indent="0">
                  <a:buNone/>
                </a:pPr>
                <a:r>
                  <a:rPr lang="en-US" sz="1600" dirty="0">
                    <a:latin typeface="+mj-lt"/>
                  </a:rPr>
                  <a:t>#include&lt;math.h&gt;</a:t>
                </a:r>
              </a:p>
              <a:p>
                <a:pPr marL="0" indent="0">
                  <a:buNone/>
                </a:pPr>
                <a:r>
                  <a:rPr lang="en-US" sz="1600" dirty="0">
                    <a:latin typeface="+mj-lt"/>
                  </a:rPr>
                  <a:t>#define </a:t>
                </a:r>
                <a:r>
                  <a:rPr lang="en-US" sz="1600" dirty="0" err="1">
                    <a:latin typeface="+mj-lt"/>
                  </a:rPr>
                  <a:t>tol</a:t>
                </a:r>
                <a:r>
                  <a:rPr lang="en-US" sz="1600" dirty="0">
                    <a:latin typeface="+mj-lt"/>
                  </a:rPr>
                  <a:t> 0.001</a:t>
                </a:r>
              </a:p>
              <a:p>
                <a:pPr marL="0" indent="0">
                  <a:buNone/>
                </a:pPr>
                <a:r>
                  <a:rPr lang="en-US" sz="1600" dirty="0">
                    <a:latin typeface="+mj-lt"/>
                  </a:rPr>
                  <a:t>#define h 0.001</a:t>
                </a:r>
              </a:p>
              <a:p>
                <a:pPr marL="0" indent="0">
                  <a:buNone/>
                </a:pPr>
                <a:r>
                  <a:rPr lang="en-US" sz="1600" dirty="0">
                    <a:latin typeface="+mj-lt"/>
                  </a:rPr>
                  <a:t>int main(){</a:t>
                </a:r>
              </a:p>
              <a:p>
                <a:pPr marL="0" indent="0">
                  <a:buNone/>
                </a:pPr>
                <a:r>
                  <a:rPr lang="en-US" sz="1600" dirty="0">
                    <a:latin typeface="+mj-lt"/>
                  </a:rPr>
                  <a:t>float f1,f0,x0,x1,df0,ea;</a:t>
                </a:r>
              </a:p>
              <a:p>
                <a:pPr marL="0" indent="0">
                  <a:buNone/>
                </a:pPr>
                <a:r>
                  <a:rPr lang="en-US" sz="1600" dirty="0">
                    <a:latin typeface="+mj-lt"/>
                  </a:rPr>
                  <a:t>    int iteration=0;</a:t>
                </a:r>
              </a:p>
              <a:p>
                <a:pPr marL="0" indent="0">
                  <a:buNone/>
                </a:pPr>
                <a:r>
                  <a:rPr lang="en-US" sz="1600" dirty="0">
                    <a:latin typeface="+mj-lt"/>
                  </a:rPr>
                  <a:t>    do{</a:t>
                </a:r>
              </a:p>
              <a:p>
                <a:pPr marL="0" indent="0">
                  <a:buNone/>
                </a:pPr>
                <a:r>
                  <a:rPr lang="en-US" sz="1600" dirty="0" err="1">
                    <a:latin typeface="+mj-lt"/>
                  </a:rPr>
                  <a:t>printf</a:t>
                </a:r>
                <a:r>
                  <a:rPr lang="en-US" sz="1600" dirty="0">
                    <a:latin typeface="+mj-lt"/>
                  </a:rPr>
                  <a:t>("Enter the initial guess =");</a:t>
                </a:r>
              </a:p>
              <a:p>
                <a:pPr marL="0" indent="0">
                  <a:buNone/>
                </a:pPr>
                <a:endParaRPr lang="en-US" sz="1600" dirty="0">
                  <a:latin typeface="+mj-lt"/>
                </a:endParaRPr>
              </a:p>
              <a:p>
                <a:pPr marL="0" indent="0">
                  <a:buNone/>
                </a:pPr>
                <a:endParaRPr lang="en-US" sz="1600" dirty="0">
                  <a:latin typeface="+mj-lt"/>
                </a:endParaRPr>
              </a:p>
              <a:p>
                <a:pPr marL="0" indent="0">
                  <a:buNone/>
                </a:pPr>
                <a:endParaRPr lang="en-US" sz="1600" b="1" u="sng" dirty="0">
                  <a:latin typeface="+mj-lt"/>
                </a:endParaRPr>
              </a:p>
              <a:p>
                <a:pPr marL="400050" indent="-400050">
                  <a:buAutoNum type="romanLcPeriod" startAt="5"/>
                </a:pPr>
                <a:endParaRPr lang="en-US" sz="1600" dirty="0">
                  <a:latin typeface="+mj-lt"/>
                </a:endParaRPr>
              </a:p>
              <a:p>
                <a:pPr>
                  <a:buFont typeface="+mj-lt"/>
                  <a:buAutoNum type="romanUcPeriod"/>
                </a:pPr>
                <a:endParaRPr lang="en-US" sz="1600" dirty="0">
                  <a:latin typeface="+mj-lt"/>
                </a:endParaRPr>
              </a:p>
              <a:p>
                <a:pPr marL="0" indent="0">
                  <a:buNone/>
                </a:pPr>
                <a:endParaRPr lang="en-US" sz="1600" dirty="0">
                  <a:latin typeface="+mj-lt"/>
                </a:endParaRPr>
              </a:p>
            </p:txBody>
          </p:sp>
        </mc:Choice>
        <mc:Fallback>
          <p:sp>
            <p:nvSpPr>
              <p:cNvPr id="3" name="Content Placeholder 2">
                <a:extLst>
                  <a:ext uri="{FF2B5EF4-FFF2-40B4-BE49-F238E27FC236}">
                    <a16:creationId xmlns:a16="http://schemas.microsoft.com/office/drawing/2014/main" id="{A484AD53-5DF5-5CC1-4695-076A15622BE5}"/>
                  </a:ext>
                </a:extLst>
              </p:cNvPr>
              <p:cNvSpPr>
                <a:spLocks noGrp="1" noRot="1" noChangeAspect="1" noMove="1" noResize="1" noEditPoints="1" noAdjustHandles="1" noChangeArrowheads="1" noChangeShapeType="1" noTextEdit="1"/>
              </p:cNvSpPr>
              <p:nvPr>
                <p:ph idx="1"/>
              </p:nvPr>
            </p:nvSpPr>
            <p:spPr>
              <a:xfrm>
                <a:off x="521802" y="219918"/>
                <a:ext cx="6546235" cy="10139423"/>
              </a:xfrm>
              <a:blipFill>
                <a:blip r:embed="rId2"/>
                <a:stretch>
                  <a:fillRect l="-559"/>
                </a:stretch>
              </a:blipFill>
            </p:spPr>
            <p:txBody>
              <a:bodyPr/>
              <a:lstStyle/>
              <a:p>
                <a:r>
                  <a:rPr lang="en-US">
                    <a:noFill/>
                  </a:rPr>
                  <a:t> </a:t>
                </a:r>
              </a:p>
            </p:txBody>
          </p:sp>
        </mc:Fallback>
      </mc:AlternateContent>
    </p:spTree>
    <p:extLst>
      <p:ext uri="{BB962C8B-B14F-4D97-AF65-F5344CB8AC3E}">
        <p14:creationId xmlns:p14="http://schemas.microsoft.com/office/powerpoint/2010/main" val="2426462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C4967-3B0C-B6EC-54F1-0F2DAA2260C5}"/>
              </a:ext>
            </a:extLst>
          </p:cNvPr>
          <p:cNvSpPr>
            <a:spLocks noGrp="1"/>
          </p:cNvSpPr>
          <p:nvPr>
            <p:ph idx="1"/>
          </p:nvPr>
        </p:nvSpPr>
        <p:spPr>
          <a:xfrm>
            <a:off x="521802" y="365759"/>
            <a:ext cx="6741147" cy="10006150"/>
          </a:xfrm>
        </p:spPr>
        <p:txBody>
          <a:bodyPr>
            <a:normAutofit/>
          </a:bodyPr>
          <a:lstStyle/>
          <a:p>
            <a:pPr marL="0" indent="0">
              <a:buNone/>
            </a:pPr>
            <a:r>
              <a:rPr lang="en-US" sz="1600" i="1" dirty="0">
                <a:latin typeface="+mj-lt"/>
              </a:rPr>
              <a:t> </a:t>
            </a:r>
            <a:r>
              <a:rPr lang="en-US" sz="1600" i="1" dirty="0" err="1">
                <a:latin typeface="+mj-lt"/>
              </a:rPr>
              <a:t>scanf</a:t>
            </a:r>
            <a:r>
              <a:rPr lang="en-US" sz="1600" i="1" dirty="0">
                <a:latin typeface="+mj-lt"/>
              </a:rPr>
              <a:t>("%f",&amp;x0);</a:t>
            </a:r>
          </a:p>
          <a:p>
            <a:pPr marL="0" indent="0">
              <a:buNone/>
            </a:pPr>
            <a:r>
              <a:rPr lang="en-US" sz="1600" i="1" dirty="0">
                <a:latin typeface="+mj-lt"/>
              </a:rPr>
              <a:t>}</a:t>
            </a:r>
          </a:p>
          <a:p>
            <a:pPr marL="0" indent="0">
              <a:buNone/>
            </a:pPr>
            <a:r>
              <a:rPr lang="en-US" sz="1600" i="1" dirty="0">
                <a:latin typeface="+mj-lt"/>
              </a:rPr>
              <a:t>while(</a:t>
            </a:r>
            <a:r>
              <a:rPr lang="en-US" sz="1600" i="1" dirty="0" err="1">
                <a:latin typeface="+mj-lt"/>
              </a:rPr>
              <a:t>df</a:t>
            </a:r>
            <a:r>
              <a:rPr lang="en-US" sz="1600" i="1" dirty="0">
                <a:latin typeface="+mj-lt"/>
              </a:rPr>
              <a:t>(x0) ==0);</a:t>
            </a:r>
          </a:p>
          <a:p>
            <a:pPr marL="0" indent="0">
              <a:buNone/>
            </a:pPr>
            <a:r>
              <a:rPr lang="en-US" sz="1600" i="1" dirty="0">
                <a:latin typeface="+mj-lt"/>
              </a:rPr>
              <a:t>    </a:t>
            </a:r>
            <a:r>
              <a:rPr lang="en-US" sz="1600" i="1" dirty="0" err="1">
                <a:latin typeface="+mj-lt"/>
              </a:rPr>
              <a:t>printf</a:t>
            </a:r>
            <a:r>
              <a:rPr lang="en-US" sz="1600" i="1" dirty="0">
                <a:latin typeface="+mj-lt"/>
              </a:rPr>
              <a:t>("\n iteration \t x0\t x1\t </a:t>
            </a:r>
            <a:r>
              <a:rPr lang="en-US" sz="1600" i="1" dirty="0" err="1">
                <a:latin typeface="+mj-lt"/>
              </a:rPr>
              <a:t>ea</a:t>
            </a:r>
            <a:r>
              <a:rPr lang="en-US" sz="1600" i="1" dirty="0">
                <a:latin typeface="+mj-lt"/>
              </a:rPr>
              <a:t>");</a:t>
            </a:r>
          </a:p>
          <a:p>
            <a:pPr marL="0" indent="0">
              <a:buNone/>
            </a:pPr>
            <a:r>
              <a:rPr lang="en-US" sz="1600" i="1" dirty="0">
                <a:latin typeface="+mj-lt"/>
              </a:rPr>
              <a:t>do{</a:t>
            </a:r>
          </a:p>
          <a:p>
            <a:pPr marL="0" indent="0">
              <a:buNone/>
            </a:pPr>
            <a:r>
              <a:rPr lang="en-US" sz="1600" i="1" dirty="0">
                <a:latin typeface="+mj-lt"/>
              </a:rPr>
              <a:t>    f0=f(x0);</a:t>
            </a:r>
          </a:p>
          <a:p>
            <a:pPr marL="0" indent="0">
              <a:buNone/>
            </a:pPr>
            <a:r>
              <a:rPr lang="en-US" sz="1600" i="1" dirty="0">
                <a:latin typeface="+mj-lt"/>
              </a:rPr>
              <a:t>    df0=</a:t>
            </a:r>
            <a:r>
              <a:rPr lang="en-US" sz="1600" i="1" dirty="0" err="1">
                <a:latin typeface="+mj-lt"/>
              </a:rPr>
              <a:t>df</a:t>
            </a:r>
            <a:r>
              <a:rPr lang="en-US" sz="1600" i="1" dirty="0">
                <a:latin typeface="+mj-lt"/>
              </a:rPr>
              <a:t>(x0);</a:t>
            </a:r>
          </a:p>
          <a:p>
            <a:pPr marL="0" indent="0">
              <a:buNone/>
            </a:pPr>
            <a:r>
              <a:rPr lang="en-US" sz="1600" i="1" dirty="0">
                <a:latin typeface="+mj-lt"/>
              </a:rPr>
              <a:t>    x1=x0-f0/df0;</a:t>
            </a:r>
          </a:p>
          <a:p>
            <a:pPr marL="0" indent="0">
              <a:buNone/>
            </a:pPr>
            <a:r>
              <a:rPr lang="en-US" sz="1600" i="1" dirty="0">
                <a:latin typeface="+mj-lt"/>
              </a:rPr>
              <a:t>    </a:t>
            </a:r>
            <a:r>
              <a:rPr lang="en-US" sz="1600" i="1" dirty="0" err="1">
                <a:latin typeface="+mj-lt"/>
              </a:rPr>
              <a:t>ea</a:t>
            </a:r>
            <a:r>
              <a:rPr lang="en-US" sz="1600" i="1" dirty="0">
                <a:latin typeface="+mj-lt"/>
              </a:rPr>
              <a:t>=fabs(x1-x0);</a:t>
            </a:r>
          </a:p>
          <a:p>
            <a:pPr marL="0" indent="0">
              <a:buNone/>
            </a:pPr>
            <a:r>
              <a:rPr lang="en-US" sz="1600" i="1" dirty="0">
                <a:latin typeface="+mj-lt"/>
              </a:rPr>
              <a:t>    </a:t>
            </a:r>
            <a:r>
              <a:rPr lang="en-US" sz="1600" i="1" dirty="0" err="1">
                <a:latin typeface="+mj-lt"/>
              </a:rPr>
              <a:t>printf</a:t>
            </a:r>
            <a:r>
              <a:rPr lang="en-US" sz="1600" i="1" dirty="0">
                <a:latin typeface="+mj-lt"/>
              </a:rPr>
              <a:t>("\</a:t>
            </a:r>
            <a:r>
              <a:rPr lang="en-US" sz="1600" i="1" dirty="0" err="1">
                <a:latin typeface="+mj-lt"/>
              </a:rPr>
              <a:t>n%d</a:t>
            </a:r>
            <a:r>
              <a:rPr lang="en-US" sz="1600" i="1" dirty="0">
                <a:latin typeface="+mj-lt"/>
              </a:rPr>
              <a:t> \</a:t>
            </a:r>
            <a:r>
              <a:rPr lang="en-US" sz="1600" i="1" dirty="0" err="1">
                <a:latin typeface="+mj-lt"/>
              </a:rPr>
              <a:t>t%f</a:t>
            </a:r>
            <a:r>
              <a:rPr lang="en-US" sz="1600" i="1" dirty="0">
                <a:latin typeface="+mj-lt"/>
              </a:rPr>
              <a:t> \t %f \t%f",iteration,x0,x1,ea);</a:t>
            </a:r>
          </a:p>
          <a:p>
            <a:pPr marL="0" indent="0">
              <a:buNone/>
            </a:pPr>
            <a:r>
              <a:rPr lang="en-US" sz="1600" i="1" dirty="0">
                <a:latin typeface="+mj-lt"/>
              </a:rPr>
              <a:t>    if(f(x1)==0)</a:t>
            </a:r>
          </a:p>
          <a:p>
            <a:pPr marL="0" indent="0">
              <a:buNone/>
            </a:pPr>
            <a:r>
              <a:rPr lang="en-US" sz="1600" i="1" dirty="0">
                <a:latin typeface="+mj-lt"/>
              </a:rPr>
              <a:t>        break;</a:t>
            </a:r>
          </a:p>
          <a:p>
            <a:pPr marL="0" indent="0">
              <a:buNone/>
            </a:pPr>
            <a:r>
              <a:rPr lang="en-US" sz="1600" i="1" dirty="0">
                <a:latin typeface="+mj-lt"/>
              </a:rPr>
              <a:t>    else</a:t>
            </a:r>
          </a:p>
          <a:p>
            <a:pPr marL="0" indent="0">
              <a:buNone/>
            </a:pPr>
            <a:r>
              <a:rPr lang="en-US" sz="1600" i="1" dirty="0">
                <a:latin typeface="+mj-lt"/>
              </a:rPr>
              <a:t>        x0=x1;</a:t>
            </a:r>
          </a:p>
          <a:p>
            <a:pPr marL="0" indent="0">
              <a:buNone/>
            </a:pPr>
            <a:r>
              <a:rPr lang="en-US" sz="1600" i="1" dirty="0">
                <a:latin typeface="+mj-lt"/>
              </a:rPr>
              <a:t>    iteration++;</a:t>
            </a:r>
          </a:p>
          <a:p>
            <a:pPr marL="0" indent="0">
              <a:buNone/>
            </a:pPr>
            <a:r>
              <a:rPr lang="en-US" sz="1600" i="1" dirty="0">
                <a:latin typeface="+mj-lt"/>
              </a:rPr>
              <a:t>}while(</a:t>
            </a:r>
            <a:r>
              <a:rPr lang="en-US" sz="1600" i="1" dirty="0" err="1">
                <a:latin typeface="+mj-lt"/>
              </a:rPr>
              <a:t>ea</a:t>
            </a:r>
            <a:r>
              <a:rPr lang="en-US" sz="1600" i="1" dirty="0">
                <a:latin typeface="+mj-lt"/>
              </a:rPr>
              <a:t>&gt;</a:t>
            </a:r>
            <a:r>
              <a:rPr lang="en-US" sz="1600" i="1" dirty="0" err="1">
                <a:latin typeface="+mj-lt"/>
              </a:rPr>
              <a:t>tol</a:t>
            </a:r>
            <a:r>
              <a:rPr lang="en-US" sz="1600" i="1" dirty="0">
                <a:latin typeface="+mj-lt"/>
              </a:rPr>
              <a:t>);</a:t>
            </a:r>
          </a:p>
          <a:p>
            <a:pPr marL="0" indent="0">
              <a:buNone/>
            </a:pPr>
            <a:r>
              <a:rPr lang="en-US" sz="1600" i="1" dirty="0" err="1">
                <a:latin typeface="+mj-lt"/>
              </a:rPr>
              <a:t>printf</a:t>
            </a:r>
            <a:r>
              <a:rPr lang="en-US" sz="1600" i="1" dirty="0">
                <a:latin typeface="+mj-lt"/>
              </a:rPr>
              <a:t>("\</a:t>
            </a:r>
            <a:r>
              <a:rPr lang="en-US" sz="1600" i="1" dirty="0" err="1">
                <a:latin typeface="+mj-lt"/>
              </a:rPr>
              <a:t>nroot</a:t>
            </a:r>
            <a:r>
              <a:rPr lang="en-US" sz="1600" i="1" dirty="0">
                <a:latin typeface="+mj-lt"/>
              </a:rPr>
              <a:t> =%f",x1);</a:t>
            </a:r>
          </a:p>
          <a:p>
            <a:pPr marL="0" indent="0">
              <a:buNone/>
            </a:pPr>
            <a:r>
              <a:rPr lang="en-US" sz="1600" i="1" dirty="0">
                <a:latin typeface="+mj-lt"/>
              </a:rPr>
              <a:t>return 0;</a:t>
            </a:r>
          </a:p>
          <a:p>
            <a:pPr marL="0" indent="0">
              <a:buNone/>
            </a:pPr>
            <a:r>
              <a:rPr lang="en-US" sz="1600" i="1" dirty="0">
                <a:latin typeface="+mj-lt"/>
              </a:rPr>
              <a:t>}</a:t>
            </a:r>
          </a:p>
          <a:p>
            <a:pPr marL="0" indent="0">
              <a:buNone/>
            </a:pPr>
            <a:endParaRPr lang="en-US" sz="1600" i="1" dirty="0">
              <a:latin typeface="+mj-lt"/>
            </a:endParaRPr>
          </a:p>
          <a:p>
            <a:pPr marL="0" indent="0">
              <a:buNone/>
            </a:pPr>
            <a:endParaRPr lang="en-US" sz="1600" i="1" dirty="0">
              <a:latin typeface="+mj-lt"/>
            </a:endParaRPr>
          </a:p>
        </p:txBody>
      </p:sp>
      <p:pic>
        <p:nvPicPr>
          <p:cNvPr id="5" name="Picture 4">
            <a:extLst>
              <a:ext uri="{FF2B5EF4-FFF2-40B4-BE49-F238E27FC236}">
                <a16:creationId xmlns:a16="http://schemas.microsoft.com/office/drawing/2014/main" id="{3B489490-B10E-3581-29CC-7F00FCA4E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704" y="6911239"/>
            <a:ext cx="5944430" cy="3067478"/>
          </a:xfrm>
          <a:prstGeom prst="rect">
            <a:avLst/>
          </a:prstGeom>
        </p:spPr>
      </p:pic>
    </p:spTree>
    <p:extLst>
      <p:ext uri="{BB962C8B-B14F-4D97-AF65-F5344CB8AC3E}">
        <p14:creationId xmlns:p14="http://schemas.microsoft.com/office/powerpoint/2010/main" val="111571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6FFDF2-D9A4-2845-69CA-8362D792F9D0}"/>
              </a:ext>
            </a:extLst>
          </p:cNvPr>
          <p:cNvSpPr>
            <a:spLocks noGrp="1"/>
          </p:cNvSpPr>
          <p:nvPr>
            <p:ph idx="1"/>
          </p:nvPr>
        </p:nvSpPr>
        <p:spPr>
          <a:xfrm>
            <a:off x="521802" y="313509"/>
            <a:ext cx="6728084" cy="10189028"/>
          </a:xfrm>
        </p:spPr>
        <p:txBody>
          <a:bodyPr>
            <a:noAutofit/>
          </a:bodyPr>
          <a:lstStyle/>
          <a:p>
            <a:pPr marL="0" indent="0">
              <a:buNone/>
            </a:pPr>
            <a:r>
              <a:rPr lang="en-US" sz="1600" i="1" dirty="0">
                <a:latin typeface="+mj-lt"/>
              </a:rPr>
              <a:t>2) Secant Method:</a:t>
            </a:r>
          </a:p>
          <a:p>
            <a:pPr marL="0" indent="0">
              <a:buNone/>
            </a:pPr>
            <a:r>
              <a:rPr lang="en-US" sz="1600" i="1" dirty="0">
                <a:latin typeface="+mj-lt"/>
              </a:rPr>
              <a:t>#include &lt;</a:t>
            </a:r>
            <a:r>
              <a:rPr lang="en-US" sz="1600" i="1" dirty="0" err="1">
                <a:latin typeface="+mj-lt"/>
              </a:rPr>
              <a:t>stdio.h</a:t>
            </a:r>
            <a:r>
              <a:rPr lang="en-US" sz="1600" i="1" dirty="0">
                <a:latin typeface="+mj-lt"/>
              </a:rPr>
              <a:t>&gt;</a:t>
            </a:r>
          </a:p>
          <a:p>
            <a:pPr marL="0" indent="0">
              <a:buNone/>
            </a:pPr>
            <a:r>
              <a:rPr lang="en-US" sz="1600" i="1" dirty="0">
                <a:latin typeface="+mj-lt"/>
              </a:rPr>
              <a:t>#include &lt;</a:t>
            </a:r>
            <a:r>
              <a:rPr lang="en-US" sz="1600" i="1" dirty="0" err="1">
                <a:latin typeface="+mj-lt"/>
              </a:rPr>
              <a:t>math.h</a:t>
            </a:r>
            <a:r>
              <a:rPr lang="en-US" sz="1600" i="1" dirty="0">
                <a:latin typeface="+mj-lt"/>
              </a:rPr>
              <a:t>&gt;</a:t>
            </a:r>
          </a:p>
          <a:p>
            <a:pPr marL="0" indent="0">
              <a:buNone/>
            </a:pPr>
            <a:r>
              <a:rPr lang="en-US" sz="1600" i="1" dirty="0">
                <a:latin typeface="+mj-lt"/>
              </a:rPr>
              <a:t>#define </a:t>
            </a:r>
            <a:r>
              <a:rPr lang="en-US" sz="1600" i="1" dirty="0" err="1">
                <a:latin typeface="+mj-lt"/>
              </a:rPr>
              <a:t>tol</a:t>
            </a:r>
            <a:r>
              <a:rPr lang="en-US" sz="1600" i="1" dirty="0">
                <a:latin typeface="+mj-lt"/>
              </a:rPr>
              <a:t> 0.001</a:t>
            </a:r>
          </a:p>
          <a:p>
            <a:pPr marL="0" indent="0">
              <a:buNone/>
            </a:pPr>
            <a:r>
              <a:rPr lang="en-US" sz="1600" i="1" dirty="0">
                <a:latin typeface="+mj-lt"/>
              </a:rPr>
              <a:t>float f(float x) {</a:t>
            </a:r>
          </a:p>
          <a:p>
            <a:pPr marL="0" indent="0">
              <a:buNone/>
            </a:pPr>
            <a:r>
              <a:rPr lang="en-US" sz="1600" i="1" dirty="0">
                <a:latin typeface="+mj-lt"/>
              </a:rPr>
              <a:t>    return x * x - x - 1;</a:t>
            </a:r>
          </a:p>
          <a:p>
            <a:pPr marL="0" indent="0">
              <a:buNone/>
            </a:pPr>
            <a:r>
              <a:rPr lang="en-US" sz="1600" i="1" dirty="0">
                <a:latin typeface="+mj-lt"/>
              </a:rPr>
              <a:t>}</a:t>
            </a:r>
          </a:p>
          <a:p>
            <a:pPr marL="0" indent="0">
              <a:buNone/>
            </a:pPr>
            <a:r>
              <a:rPr lang="en-US" sz="1600" i="1" dirty="0">
                <a:latin typeface="+mj-lt"/>
              </a:rPr>
              <a:t>float </a:t>
            </a:r>
            <a:r>
              <a:rPr lang="en-US" sz="1600" i="1" dirty="0" err="1">
                <a:latin typeface="+mj-lt"/>
              </a:rPr>
              <a:t>df</a:t>
            </a:r>
            <a:r>
              <a:rPr lang="en-US" sz="1600" i="1" dirty="0">
                <a:latin typeface="+mj-lt"/>
              </a:rPr>
              <a:t>(float x) {</a:t>
            </a:r>
          </a:p>
          <a:p>
            <a:pPr marL="0" indent="0">
              <a:buNone/>
            </a:pPr>
            <a:r>
              <a:rPr lang="en-US" sz="1600" i="1" dirty="0">
                <a:latin typeface="+mj-lt"/>
              </a:rPr>
              <a:t>    return 2 * x - 1;</a:t>
            </a:r>
          </a:p>
          <a:p>
            <a:pPr marL="0" indent="0">
              <a:buNone/>
            </a:pPr>
            <a:r>
              <a:rPr lang="en-US" sz="1600" i="1" dirty="0">
                <a:latin typeface="+mj-lt"/>
              </a:rPr>
              <a:t>}</a:t>
            </a:r>
          </a:p>
          <a:p>
            <a:pPr marL="0" indent="0">
              <a:buNone/>
            </a:pPr>
            <a:r>
              <a:rPr lang="en-US" sz="1600" i="1" dirty="0">
                <a:latin typeface="+mj-lt"/>
              </a:rPr>
              <a:t>int main() {</a:t>
            </a:r>
          </a:p>
          <a:p>
            <a:pPr marL="0" indent="0">
              <a:buNone/>
            </a:pPr>
            <a:r>
              <a:rPr lang="en-US" sz="1600" i="1" dirty="0">
                <a:latin typeface="+mj-lt"/>
              </a:rPr>
              <a:t>   float x0,x1,f0,f1,x2,f2,ea;</a:t>
            </a:r>
          </a:p>
          <a:p>
            <a:pPr marL="0" indent="0">
              <a:buNone/>
            </a:pPr>
            <a:r>
              <a:rPr lang="en-US" sz="1600" i="1" dirty="0">
                <a:latin typeface="+mj-lt"/>
              </a:rPr>
              <a:t>   int iteration =0;</a:t>
            </a:r>
          </a:p>
          <a:p>
            <a:pPr marL="0" indent="0">
              <a:buNone/>
            </a:pPr>
            <a:r>
              <a:rPr lang="en-US" sz="1600" i="1" dirty="0">
                <a:latin typeface="+mj-lt"/>
              </a:rPr>
              <a:t>   while(1){</a:t>
            </a:r>
          </a:p>
          <a:p>
            <a:pPr marL="0" indent="0">
              <a:buNone/>
            </a:pPr>
            <a:r>
              <a:rPr lang="en-US" sz="1600" i="1" dirty="0">
                <a:latin typeface="+mj-lt"/>
              </a:rPr>
              <a:t>        </a:t>
            </a:r>
            <a:r>
              <a:rPr lang="en-US" sz="1600" i="1" dirty="0" err="1">
                <a:latin typeface="+mj-lt"/>
              </a:rPr>
              <a:t>printf</a:t>
            </a:r>
            <a:r>
              <a:rPr lang="en-US" sz="1600" i="1" dirty="0">
                <a:latin typeface="+mj-lt"/>
              </a:rPr>
              <a:t>("Enter x0,x1 =");</a:t>
            </a:r>
          </a:p>
          <a:p>
            <a:pPr marL="0" indent="0">
              <a:buNone/>
            </a:pPr>
            <a:r>
              <a:rPr lang="en-US" sz="1600" i="1" dirty="0">
                <a:latin typeface="+mj-lt"/>
              </a:rPr>
              <a:t>    </a:t>
            </a:r>
            <a:r>
              <a:rPr lang="en-US" sz="1600" i="1" dirty="0" err="1">
                <a:latin typeface="+mj-lt"/>
              </a:rPr>
              <a:t>scanf</a:t>
            </a:r>
            <a:r>
              <a:rPr lang="en-US" sz="1600" i="1" dirty="0">
                <a:latin typeface="+mj-lt"/>
              </a:rPr>
              <a:t>("%f%f",&amp;x0,&amp;x1);</a:t>
            </a:r>
          </a:p>
          <a:p>
            <a:pPr marL="0" indent="0">
              <a:buNone/>
            </a:pPr>
            <a:r>
              <a:rPr lang="en-US" sz="1600" i="1" dirty="0">
                <a:latin typeface="+mj-lt"/>
              </a:rPr>
              <a:t>    if(f(x0)!=f(x1))</a:t>
            </a:r>
          </a:p>
          <a:p>
            <a:pPr marL="0" indent="0">
              <a:buNone/>
            </a:pPr>
            <a:r>
              <a:rPr lang="en-US" sz="1600" i="1" dirty="0">
                <a:latin typeface="+mj-lt"/>
              </a:rPr>
              <a:t>     break;</a:t>
            </a:r>
          </a:p>
          <a:p>
            <a:pPr marL="0" indent="0">
              <a:buNone/>
            </a:pPr>
            <a:r>
              <a:rPr lang="en-US" sz="1600" i="1" dirty="0">
                <a:latin typeface="+mj-lt"/>
              </a:rPr>
              <a:t>    else</a:t>
            </a:r>
          </a:p>
          <a:p>
            <a:pPr marL="0" indent="0">
              <a:buNone/>
            </a:pPr>
            <a:r>
              <a:rPr lang="en-US" sz="1600" i="1" dirty="0">
                <a:latin typeface="+mj-lt"/>
              </a:rPr>
              <a:t>        </a:t>
            </a:r>
            <a:r>
              <a:rPr lang="en-US" sz="1600" i="1" dirty="0" err="1">
                <a:latin typeface="+mj-lt"/>
              </a:rPr>
              <a:t>printf</a:t>
            </a:r>
            <a:r>
              <a:rPr lang="en-US" sz="1600" i="1" dirty="0">
                <a:latin typeface="+mj-lt"/>
              </a:rPr>
              <a:t>("another guess");</a:t>
            </a:r>
          </a:p>
          <a:p>
            <a:pPr marL="0" indent="0">
              <a:buNone/>
            </a:pPr>
            <a:r>
              <a:rPr lang="en-US" sz="1600" i="1" dirty="0">
                <a:latin typeface="+mj-lt"/>
              </a:rPr>
              <a:t>    </a:t>
            </a:r>
            <a:r>
              <a:rPr lang="en-US" sz="1600" i="1" dirty="0" err="1">
                <a:latin typeface="+mj-lt"/>
              </a:rPr>
              <a:t>printf</a:t>
            </a:r>
            <a:r>
              <a:rPr lang="en-US" sz="1600" i="1" dirty="0">
                <a:latin typeface="+mj-lt"/>
              </a:rPr>
              <a:t>("\n iteration \t x0\t x1\t </a:t>
            </a:r>
            <a:r>
              <a:rPr lang="en-US" sz="1600" i="1" dirty="0" err="1">
                <a:latin typeface="+mj-lt"/>
              </a:rPr>
              <a:t>ea</a:t>
            </a:r>
            <a:r>
              <a:rPr lang="en-US" sz="1600" i="1" dirty="0">
                <a:latin typeface="+mj-lt"/>
              </a:rPr>
              <a:t>");</a:t>
            </a:r>
          </a:p>
          <a:p>
            <a:pPr marL="0" indent="0">
              <a:buNone/>
            </a:pPr>
            <a:r>
              <a:rPr lang="en-US" sz="1600" i="1" dirty="0">
                <a:latin typeface="+mj-lt"/>
              </a:rPr>
              <a:t>    }</a:t>
            </a:r>
          </a:p>
          <a:p>
            <a:pPr marL="0" indent="0">
              <a:buNone/>
            </a:pPr>
            <a:r>
              <a:rPr lang="en-US" sz="1600" i="1" dirty="0">
                <a:latin typeface="+mj-lt"/>
              </a:rPr>
              <a:t>    do{</a:t>
            </a:r>
          </a:p>
          <a:p>
            <a:pPr marL="0" indent="0">
              <a:buNone/>
            </a:pPr>
            <a:endParaRPr lang="en-US" sz="1600" i="1" dirty="0">
              <a:latin typeface="+mj-lt"/>
            </a:endParaRPr>
          </a:p>
          <a:p>
            <a:pPr marL="0" indent="0">
              <a:buNone/>
            </a:pPr>
            <a:r>
              <a:rPr lang="en-US" sz="1600" i="1" dirty="0">
                <a:latin typeface="+mj-lt"/>
              </a:rPr>
              <a:t>      f0=f(x0);</a:t>
            </a:r>
          </a:p>
          <a:p>
            <a:pPr marL="0" indent="0">
              <a:buNone/>
            </a:pPr>
            <a:r>
              <a:rPr lang="en-US" sz="1600" i="1" dirty="0">
                <a:latin typeface="+mj-lt"/>
              </a:rPr>
              <a:t>      f1=f(x1);</a:t>
            </a:r>
          </a:p>
          <a:p>
            <a:pPr marL="0" indent="0">
              <a:buNone/>
            </a:pPr>
            <a:r>
              <a:rPr lang="en-US" sz="1600" i="1" dirty="0">
                <a:latin typeface="+mj-lt"/>
              </a:rPr>
              <a:t>      x2=(x0*f1-x1*f0)/(f1-f0);</a:t>
            </a:r>
          </a:p>
          <a:p>
            <a:pPr marL="0" indent="0">
              <a:buNone/>
            </a:pPr>
            <a:r>
              <a:rPr lang="en-US" sz="1600" i="1" dirty="0">
                <a:latin typeface="+mj-lt"/>
              </a:rPr>
              <a:t>      f2=f(x2);</a:t>
            </a:r>
          </a:p>
          <a:p>
            <a:pPr marL="0" indent="0">
              <a:buNone/>
            </a:pPr>
            <a:r>
              <a:rPr lang="en-US" sz="1600" i="1" dirty="0">
                <a:latin typeface="+mj-lt"/>
              </a:rPr>
              <a:t>      </a:t>
            </a:r>
            <a:r>
              <a:rPr lang="en-US" sz="1600" i="1" dirty="0" err="1">
                <a:latin typeface="+mj-lt"/>
              </a:rPr>
              <a:t>ea</a:t>
            </a:r>
            <a:r>
              <a:rPr lang="en-US" sz="1600" i="1" dirty="0">
                <a:latin typeface="+mj-lt"/>
              </a:rPr>
              <a:t>=fabs(x2-x1);</a:t>
            </a:r>
          </a:p>
          <a:p>
            <a:pPr marL="0" indent="0">
              <a:buNone/>
            </a:pPr>
            <a:r>
              <a:rPr lang="en-US" sz="1600" i="1" dirty="0">
                <a:latin typeface="+mj-lt"/>
              </a:rPr>
              <a:t>        </a:t>
            </a:r>
            <a:r>
              <a:rPr lang="en-US" sz="1600" i="1" dirty="0" err="1">
                <a:latin typeface="+mj-lt"/>
              </a:rPr>
              <a:t>printf</a:t>
            </a:r>
            <a:r>
              <a:rPr lang="en-US" sz="1600" i="1" dirty="0">
                <a:latin typeface="+mj-lt"/>
              </a:rPr>
              <a:t>("\</a:t>
            </a:r>
            <a:r>
              <a:rPr lang="en-US" sz="1600" i="1" dirty="0" err="1">
                <a:latin typeface="+mj-lt"/>
              </a:rPr>
              <a:t>n%d</a:t>
            </a:r>
            <a:r>
              <a:rPr lang="en-US" sz="1600" i="1" dirty="0">
                <a:latin typeface="+mj-lt"/>
              </a:rPr>
              <a:t> \</a:t>
            </a:r>
            <a:r>
              <a:rPr lang="en-US" sz="1600" i="1" dirty="0" err="1">
                <a:latin typeface="+mj-lt"/>
              </a:rPr>
              <a:t>t%f</a:t>
            </a:r>
            <a:r>
              <a:rPr lang="en-US" sz="1600" i="1" dirty="0">
                <a:latin typeface="+mj-lt"/>
              </a:rPr>
              <a:t> \t %f \t%f",iteration,x0,x1,ea);</a:t>
            </a:r>
          </a:p>
          <a:p>
            <a:pPr marL="0" indent="0">
              <a:buNone/>
            </a:pPr>
            <a:r>
              <a:rPr lang="en-US" sz="1600" i="1" dirty="0">
                <a:latin typeface="+mj-lt"/>
              </a:rPr>
              <a:t>    iteration++;</a:t>
            </a:r>
          </a:p>
          <a:p>
            <a:pPr marL="0" indent="0">
              <a:buNone/>
            </a:pPr>
            <a:r>
              <a:rPr lang="en-US" sz="1600" i="1" dirty="0">
                <a:latin typeface="+mj-lt"/>
              </a:rPr>
              <a:t>      </a:t>
            </a:r>
          </a:p>
        </p:txBody>
      </p:sp>
    </p:spTree>
    <p:extLst>
      <p:ext uri="{BB962C8B-B14F-4D97-AF65-F5344CB8AC3E}">
        <p14:creationId xmlns:p14="http://schemas.microsoft.com/office/powerpoint/2010/main" val="2028709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45B9CD-4CA5-CE72-F0AC-91469EA9A453}"/>
              </a:ext>
            </a:extLst>
          </p:cNvPr>
          <p:cNvSpPr>
            <a:spLocks noGrp="1"/>
          </p:cNvSpPr>
          <p:nvPr>
            <p:ph idx="1"/>
          </p:nvPr>
        </p:nvSpPr>
        <p:spPr>
          <a:xfrm>
            <a:off x="521802" y="287382"/>
            <a:ext cx="6741147" cy="10162904"/>
          </a:xfrm>
        </p:spPr>
        <p:txBody>
          <a:bodyPr>
            <a:normAutofit/>
          </a:bodyPr>
          <a:lstStyle/>
          <a:p>
            <a:pPr marL="0" indent="0">
              <a:buNone/>
            </a:pPr>
            <a:r>
              <a:rPr lang="en-US" sz="1600" i="1" dirty="0">
                <a:latin typeface="+mj-lt"/>
              </a:rPr>
              <a:t>x0=x1;</a:t>
            </a:r>
          </a:p>
          <a:p>
            <a:pPr marL="0" indent="0">
              <a:buNone/>
            </a:pPr>
            <a:r>
              <a:rPr lang="en-US" sz="1600" i="1" dirty="0">
                <a:latin typeface="+mj-lt"/>
              </a:rPr>
              <a:t>      x1=x2;</a:t>
            </a:r>
          </a:p>
          <a:p>
            <a:pPr marL="0" indent="0">
              <a:buNone/>
            </a:pPr>
            <a:r>
              <a:rPr lang="en-US" sz="1600" i="1" dirty="0">
                <a:latin typeface="+mj-lt"/>
              </a:rPr>
              <a:t>    }while(</a:t>
            </a:r>
            <a:r>
              <a:rPr lang="en-US" sz="1600" i="1" dirty="0" err="1">
                <a:latin typeface="+mj-lt"/>
              </a:rPr>
              <a:t>ea</a:t>
            </a:r>
            <a:r>
              <a:rPr lang="en-US" sz="1600" i="1" dirty="0">
                <a:latin typeface="+mj-lt"/>
              </a:rPr>
              <a:t> &gt;</a:t>
            </a:r>
            <a:r>
              <a:rPr lang="en-US" sz="1600" i="1" dirty="0" err="1">
                <a:latin typeface="+mj-lt"/>
              </a:rPr>
              <a:t>tol</a:t>
            </a:r>
            <a:r>
              <a:rPr lang="en-US" sz="1600" i="1" dirty="0">
                <a:latin typeface="+mj-lt"/>
              </a:rPr>
              <a:t>);</a:t>
            </a:r>
          </a:p>
          <a:p>
            <a:pPr marL="0" indent="0">
              <a:buNone/>
            </a:pPr>
            <a:r>
              <a:rPr lang="en-US" sz="1600" i="1" dirty="0">
                <a:latin typeface="+mj-lt"/>
              </a:rPr>
              <a:t>    </a:t>
            </a:r>
            <a:r>
              <a:rPr lang="en-US" sz="1600" i="1" dirty="0" err="1">
                <a:latin typeface="+mj-lt"/>
              </a:rPr>
              <a:t>printf</a:t>
            </a:r>
            <a:r>
              <a:rPr lang="en-US" sz="1600" i="1" dirty="0">
                <a:latin typeface="+mj-lt"/>
              </a:rPr>
              <a:t>("\n root =%f ",x2);</a:t>
            </a:r>
          </a:p>
          <a:p>
            <a:pPr marL="0" indent="0">
              <a:buNone/>
            </a:pPr>
            <a:r>
              <a:rPr lang="en-US" sz="1600" i="1" dirty="0">
                <a:latin typeface="+mj-lt"/>
              </a:rPr>
              <a:t>    return 0;</a:t>
            </a:r>
          </a:p>
          <a:p>
            <a:pPr marL="0" indent="0">
              <a:buNone/>
            </a:pPr>
            <a:r>
              <a:rPr lang="en-US" sz="1600" i="1" dirty="0">
                <a:latin typeface="+mj-lt"/>
              </a:rPr>
              <a:t>}</a:t>
            </a: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b="1" i="1" u="sng" dirty="0">
              <a:latin typeface="+mj-lt"/>
            </a:endParaRPr>
          </a:p>
          <a:p>
            <a:pPr marL="0" indent="0">
              <a:buNone/>
            </a:pPr>
            <a:endParaRPr lang="en-US" sz="1600" b="1" i="1" u="sng" dirty="0">
              <a:latin typeface="+mj-lt"/>
            </a:endParaRPr>
          </a:p>
          <a:p>
            <a:pPr marL="0" indent="0">
              <a:buNone/>
            </a:pPr>
            <a:r>
              <a:rPr lang="en-US" sz="1600" b="1" i="1" u="sng" dirty="0">
                <a:latin typeface="+mj-lt"/>
              </a:rPr>
              <a:t>DISCUSSION AND CONCLUSION</a:t>
            </a:r>
          </a:p>
          <a:p>
            <a:pPr marL="0" indent="0">
              <a:buNone/>
            </a:pPr>
            <a:r>
              <a:rPr lang="en-US" sz="1600" i="1" dirty="0">
                <a:latin typeface="+mj-lt"/>
              </a:rPr>
              <a:t>In this lab, we implemented the Newton-Raphson and Secant methods to find the roots of nonlinear equations. The Newton-Raphson method, which used the function’s derivative, converged faster and gave accurate results when the initial guess was close to the root. The Secant method, which did not require the derivative, was easier to apply but converged more slowly. Both methods successfully approximated the roots within the desired tolerance, demonstrating their effectiveness for solving nonlinear equations numerically.</a:t>
            </a: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a:p>
            <a:pPr marL="0" indent="0">
              <a:buNone/>
            </a:pPr>
            <a:endParaRPr lang="en-US" sz="1600" i="1" dirty="0">
              <a:latin typeface="+mj-lt"/>
            </a:endParaRPr>
          </a:p>
        </p:txBody>
      </p:sp>
      <p:pic>
        <p:nvPicPr>
          <p:cNvPr id="5" name="Picture 4">
            <a:extLst>
              <a:ext uri="{FF2B5EF4-FFF2-40B4-BE49-F238E27FC236}">
                <a16:creationId xmlns:a16="http://schemas.microsoft.com/office/drawing/2014/main" id="{5069AAAE-25D9-7C6C-4EA5-0BC3A03540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388" y="2678395"/>
            <a:ext cx="6173061" cy="3010320"/>
          </a:xfrm>
          <a:prstGeom prst="rect">
            <a:avLst/>
          </a:prstGeom>
        </p:spPr>
      </p:pic>
    </p:spTree>
    <p:extLst>
      <p:ext uri="{BB962C8B-B14F-4D97-AF65-F5344CB8AC3E}">
        <p14:creationId xmlns:p14="http://schemas.microsoft.com/office/powerpoint/2010/main" val="1143864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90</TotalTime>
  <Words>998</Words>
  <Application>Microsoft Office PowerPoint</Application>
  <PresentationFormat>Custom</PresentationFormat>
  <Paragraphs>138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2</cp:revision>
  <dcterms:created xsi:type="dcterms:W3CDTF">2025-05-21T10:53:46Z</dcterms:created>
  <dcterms:modified xsi:type="dcterms:W3CDTF">2025-05-21T12:24:14Z</dcterms:modified>
</cp:coreProperties>
</file>