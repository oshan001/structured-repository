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7589838" cy="10698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0" d="100"/>
          <a:sy n="60" d="100"/>
        </p:scale>
        <p:origin x="232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238" y="1750834"/>
            <a:ext cx="6451362" cy="3724546"/>
          </a:xfrm>
        </p:spPr>
        <p:txBody>
          <a:bodyPr anchor="b"/>
          <a:lstStyle>
            <a:lvl1pPr algn="ctr">
              <a:defRPr sz="4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8730" y="5619013"/>
            <a:ext cx="5692379" cy="2582912"/>
          </a:xfrm>
        </p:spPr>
        <p:txBody>
          <a:bodyPr/>
          <a:lstStyle>
            <a:lvl1pPr marL="0" indent="0" algn="ctr">
              <a:buNone/>
              <a:defRPr sz="1992"/>
            </a:lvl1pPr>
            <a:lvl2pPr marL="379476" indent="0" algn="ctr">
              <a:buNone/>
              <a:defRPr sz="1660"/>
            </a:lvl2pPr>
            <a:lvl3pPr marL="758952" indent="0" algn="ctr">
              <a:buNone/>
              <a:defRPr sz="1494"/>
            </a:lvl3pPr>
            <a:lvl4pPr marL="1138428" indent="0" algn="ctr">
              <a:buNone/>
              <a:defRPr sz="1328"/>
            </a:lvl4pPr>
            <a:lvl5pPr marL="1517904" indent="0" algn="ctr">
              <a:buNone/>
              <a:defRPr sz="1328"/>
            </a:lvl5pPr>
            <a:lvl6pPr marL="1897380" indent="0" algn="ctr">
              <a:buNone/>
              <a:defRPr sz="1328"/>
            </a:lvl6pPr>
            <a:lvl7pPr marL="2276856" indent="0" algn="ctr">
              <a:buNone/>
              <a:defRPr sz="1328"/>
            </a:lvl7pPr>
            <a:lvl8pPr marL="2656332" indent="0" algn="ctr">
              <a:buNone/>
              <a:defRPr sz="1328"/>
            </a:lvl8pPr>
            <a:lvl9pPr marL="3035808" indent="0" algn="ctr">
              <a:buNone/>
              <a:defRPr sz="13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4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88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849" y="2667115"/>
            <a:ext cx="6546235" cy="4450138"/>
          </a:xfrm>
        </p:spPr>
        <p:txBody>
          <a:bodyPr anchor="b"/>
          <a:lstStyle>
            <a:lvl1pPr>
              <a:defRPr sz="4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849" y="7159353"/>
            <a:ext cx="6546235" cy="2340222"/>
          </a:xfrm>
        </p:spPr>
        <p:txBody>
          <a:bodyPr/>
          <a:lstStyle>
            <a:lvl1pPr marL="0" indent="0">
              <a:buNone/>
              <a:defRPr sz="1992">
                <a:solidFill>
                  <a:schemeClr val="tx1"/>
                </a:solidFill>
              </a:defRPr>
            </a:lvl1pPr>
            <a:lvl2pPr marL="379476" indent="0"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2pPr>
            <a:lvl3pPr marL="758952" indent="0">
              <a:buNone/>
              <a:defRPr sz="1494">
                <a:solidFill>
                  <a:schemeClr val="tx1">
                    <a:tint val="75000"/>
                  </a:schemeClr>
                </a:solidFill>
              </a:defRPr>
            </a:lvl3pPr>
            <a:lvl4pPr marL="1138428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4pPr>
            <a:lvl5pPr marL="1517904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5pPr>
            <a:lvl6pPr marL="1897380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6pPr>
            <a:lvl7pPr marL="2276856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7pPr>
            <a:lvl8pPr marL="2656332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8pPr>
            <a:lvl9pPr marL="3035808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0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1801" y="2847891"/>
            <a:ext cx="3225681" cy="6787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2356" y="2847891"/>
            <a:ext cx="3225681" cy="6787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7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569580"/>
            <a:ext cx="6546235" cy="20678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791" y="2622536"/>
            <a:ext cx="3210857" cy="1285265"/>
          </a:xfrm>
        </p:spPr>
        <p:txBody>
          <a:bodyPr anchor="b"/>
          <a:lstStyle>
            <a:lvl1pPr marL="0" indent="0">
              <a:buNone/>
              <a:defRPr sz="1992" b="1"/>
            </a:lvl1pPr>
            <a:lvl2pPr marL="379476" indent="0">
              <a:buNone/>
              <a:defRPr sz="1660" b="1"/>
            </a:lvl2pPr>
            <a:lvl3pPr marL="758952" indent="0">
              <a:buNone/>
              <a:defRPr sz="1494" b="1"/>
            </a:lvl3pPr>
            <a:lvl4pPr marL="1138428" indent="0">
              <a:buNone/>
              <a:defRPr sz="1328" b="1"/>
            </a:lvl4pPr>
            <a:lvl5pPr marL="1517904" indent="0">
              <a:buNone/>
              <a:defRPr sz="1328" b="1"/>
            </a:lvl5pPr>
            <a:lvl6pPr marL="1897380" indent="0">
              <a:buNone/>
              <a:defRPr sz="1328" b="1"/>
            </a:lvl6pPr>
            <a:lvl7pPr marL="2276856" indent="0">
              <a:buNone/>
              <a:defRPr sz="1328" b="1"/>
            </a:lvl7pPr>
            <a:lvl8pPr marL="2656332" indent="0">
              <a:buNone/>
              <a:defRPr sz="1328" b="1"/>
            </a:lvl8pPr>
            <a:lvl9pPr marL="3035808" indent="0">
              <a:buNone/>
              <a:defRPr sz="13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791" y="3907801"/>
            <a:ext cx="3210857" cy="574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2356" y="2622536"/>
            <a:ext cx="3226670" cy="1285265"/>
          </a:xfrm>
        </p:spPr>
        <p:txBody>
          <a:bodyPr anchor="b"/>
          <a:lstStyle>
            <a:lvl1pPr marL="0" indent="0">
              <a:buNone/>
              <a:defRPr sz="1992" b="1"/>
            </a:lvl1pPr>
            <a:lvl2pPr marL="379476" indent="0">
              <a:buNone/>
              <a:defRPr sz="1660" b="1"/>
            </a:lvl2pPr>
            <a:lvl3pPr marL="758952" indent="0">
              <a:buNone/>
              <a:defRPr sz="1494" b="1"/>
            </a:lvl3pPr>
            <a:lvl4pPr marL="1138428" indent="0">
              <a:buNone/>
              <a:defRPr sz="1328" b="1"/>
            </a:lvl4pPr>
            <a:lvl5pPr marL="1517904" indent="0">
              <a:buNone/>
              <a:defRPr sz="1328" b="1"/>
            </a:lvl5pPr>
            <a:lvl6pPr marL="1897380" indent="0">
              <a:buNone/>
              <a:defRPr sz="1328" b="1"/>
            </a:lvl6pPr>
            <a:lvl7pPr marL="2276856" indent="0">
              <a:buNone/>
              <a:defRPr sz="1328" b="1"/>
            </a:lvl7pPr>
            <a:lvl8pPr marL="2656332" indent="0">
              <a:buNone/>
              <a:defRPr sz="1328" b="1"/>
            </a:lvl8pPr>
            <a:lvl9pPr marL="3035808" indent="0">
              <a:buNone/>
              <a:defRPr sz="13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2356" y="3907801"/>
            <a:ext cx="3226670" cy="574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1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4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2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713211"/>
            <a:ext cx="2447920" cy="2496238"/>
          </a:xfrm>
        </p:spPr>
        <p:txBody>
          <a:bodyPr anchor="b"/>
          <a:lstStyle>
            <a:lvl1pPr>
              <a:defRPr sz="26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6670" y="1540340"/>
            <a:ext cx="3842355" cy="7602630"/>
          </a:xfrm>
        </p:spPr>
        <p:txBody>
          <a:bodyPr/>
          <a:lstStyle>
            <a:lvl1pPr>
              <a:defRPr sz="2656"/>
            </a:lvl1pPr>
            <a:lvl2pPr>
              <a:defRPr sz="2324"/>
            </a:lvl2pPr>
            <a:lvl3pPr>
              <a:defRPr sz="1992"/>
            </a:lvl3pPr>
            <a:lvl4pPr>
              <a:defRPr sz="1660"/>
            </a:lvl4pPr>
            <a:lvl5pPr>
              <a:defRPr sz="1660"/>
            </a:lvl5pPr>
            <a:lvl6pPr>
              <a:defRPr sz="1660"/>
            </a:lvl6pPr>
            <a:lvl7pPr>
              <a:defRPr sz="1660"/>
            </a:lvl7pPr>
            <a:lvl8pPr>
              <a:defRPr sz="1660"/>
            </a:lvl8pPr>
            <a:lvl9pPr>
              <a:defRPr sz="1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790" y="3209449"/>
            <a:ext cx="2447920" cy="5945901"/>
          </a:xfrm>
        </p:spPr>
        <p:txBody>
          <a:bodyPr/>
          <a:lstStyle>
            <a:lvl1pPr marL="0" indent="0">
              <a:buNone/>
              <a:defRPr sz="1328"/>
            </a:lvl1pPr>
            <a:lvl2pPr marL="379476" indent="0">
              <a:buNone/>
              <a:defRPr sz="1162"/>
            </a:lvl2pPr>
            <a:lvl3pPr marL="758952" indent="0">
              <a:buNone/>
              <a:defRPr sz="996"/>
            </a:lvl3pPr>
            <a:lvl4pPr marL="1138428" indent="0">
              <a:buNone/>
              <a:defRPr sz="830"/>
            </a:lvl4pPr>
            <a:lvl5pPr marL="1517904" indent="0">
              <a:buNone/>
              <a:defRPr sz="830"/>
            </a:lvl5pPr>
            <a:lvl6pPr marL="1897380" indent="0">
              <a:buNone/>
              <a:defRPr sz="830"/>
            </a:lvl6pPr>
            <a:lvl7pPr marL="2276856" indent="0">
              <a:buNone/>
              <a:defRPr sz="830"/>
            </a:lvl7pPr>
            <a:lvl8pPr marL="2656332" indent="0">
              <a:buNone/>
              <a:defRPr sz="830"/>
            </a:lvl8pPr>
            <a:lvl9pPr marL="3035808" indent="0">
              <a:buNone/>
              <a:defRPr sz="8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1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90" y="713211"/>
            <a:ext cx="2447920" cy="2496238"/>
          </a:xfrm>
        </p:spPr>
        <p:txBody>
          <a:bodyPr anchor="b"/>
          <a:lstStyle>
            <a:lvl1pPr>
              <a:defRPr sz="26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26670" y="1540340"/>
            <a:ext cx="3842355" cy="7602630"/>
          </a:xfrm>
        </p:spPr>
        <p:txBody>
          <a:bodyPr anchor="t"/>
          <a:lstStyle>
            <a:lvl1pPr marL="0" indent="0">
              <a:buNone/>
              <a:defRPr sz="2656"/>
            </a:lvl1pPr>
            <a:lvl2pPr marL="379476" indent="0">
              <a:buNone/>
              <a:defRPr sz="2324"/>
            </a:lvl2pPr>
            <a:lvl3pPr marL="758952" indent="0">
              <a:buNone/>
              <a:defRPr sz="1992"/>
            </a:lvl3pPr>
            <a:lvl4pPr marL="1138428" indent="0">
              <a:buNone/>
              <a:defRPr sz="1660"/>
            </a:lvl4pPr>
            <a:lvl5pPr marL="1517904" indent="0">
              <a:buNone/>
              <a:defRPr sz="1660"/>
            </a:lvl5pPr>
            <a:lvl6pPr marL="1897380" indent="0">
              <a:buNone/>
              <a:defRPr sz="1660"/>
            </a:lvl6pPr>
            <a:lvl7pPr marL="2276856" indent="0">
              <a:buNone/>
              <a:defRPr sz="1660"/>
            </a:lvl7pPr>
            <a:lvl8pPr marL="2656332" indent="0">
              <a:buNone/>
              <a:defRPr sz="1660"/>
            </a:lvl8pPr>
            <a:lvl9pPr marL="3035808" indent="0">
              <a:buNone/>
              <a:defRPr sz="16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790" y="3209449"/>
            <a:ext cx="2447920" cy="5945901"/>
          </a:xfrm>
        </p:spPr>
        <p:txBody>
          <a:bodyPr/>
          <a:lstStyle>
            <a:lvl1pPr marL="0" indent="0">
              <a:buNone/>
              <a:defRPr sz="1328"/>
            </a:lvl1pPr>
            <a:lvl2pPr marL="379476" indent="0">
              <a:buNone/>
              <a:defRPr sz="1162"/>
            </a:lvl2pPr>
            <a:lvl3pPr marL="758952" indent="0">
              <a:buNone/>
              <a:defRPr sz="996"/>
            </a:lvl3pPr>
            <a:lvl4pPr marL="1138428" indent="0">
              <a:buNone/>
              <a:defRPr sz="830"/>
            </a:lvl4pPr>
            <a:lvl5pPr marL="1517904" indent="0">
              <a:buNone/>
              <a:defRPr sz="830"/>
            </a:lvl5pPr>
            <a:lvl6pPr marL="1897380" indent="0">
              <a:buNone/>
              <a:defRPr sz="830"/>
            </a:lvl6pPr>
            <a:lvl7pPr marL="2276856" indent="0">
              <a:buNone/>
              <a:defRPr sz="830"/>
            </a:lvl7pPr>
            <a:lvl8pPr marL="2656332" indent="0">
              <a:buNone/>
              <a:defRPr sz="830"/>
            </a:lvl8pPr>
            <a:lvl9pPr marL="3035808" indent="0">
              <a:buNone/>
              <a:defRPr sz="8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2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4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31478" y="569578"/>
            <a:ext cx="1636559" cy="9066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1802" y="569578"/>
            <a:ext cx="4814803" cy="906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8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802" y="569580"/>
            <a:ext cx="6546235" cy="2067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802" y="2847891"/>
            <a:ext cx="6546235" cy="678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1801" y="9915615"/>
            <a:ext cx="1707714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1E505-8ED2-435C-B534-D62DD411DCD1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14134" y="9915615"/>
            <a:ext cx="2561570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60323" y="9915615"/>
            <a:ext cx="1707714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6B0A3-D228-4C82-8B87-50AB8CD92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8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8952" rtl="0" eaLnBrk="1" latinLnBrk="0" hangingPunct="1">
        <a:lnSpc>
          <a:spcPct val="90000"/>
        </a:lnSpc>
        <a:spcBef>
          <a:spcPct val="0"/>
        </a:spcBef>
        <a:buNone/>
        <a:defRPr sz="36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738" indent="-189738" algn="l" defTabSz="758952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2324" kern="1200">
          <a:solidFill>
            <a:schemeClr val="tx1"/>
          </a:solidFill>
          <a:latin typeface="+mn-lt"/>
          <a:ea typeface="+mn-ea"/>
          <a:cs typeface="+mn-cs"/>
        </a:defRPr>
      </a:lvl1pPr>
      <a:lvl2pPr marL="569214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948690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328166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4pPr>
      <a:lvl5pPr marL="1707642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5pPr>
      <a:lvl6pPr marL="2087118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6pPr>
      <a:lvl7pPr marL="2466594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7pPr>
      <a:lvl8pPr marL="2846070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8pPr>
      <a:lvl9pPr marL="3225546" indent="-189738" algn="l" defTabSz="758952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1pPr>
      <a:lvl2pPr marL="379476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2pPr>
      <a:lvl3pPr marL="758952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3pPr>
      <a:lvl4pPr marL="1138428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4pPr>
      <a:lvl5pPr marL="1517904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5pPr>
      <a:lvl6pPr marL="1897380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6pPr>
      <a:lvl7pPr marL="2276856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7pPr>
      <a:lvl8pPr marL="2656332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8pPr>
      <a:lvl9pPr marL="3035808" algn="l" defTabSz="758952" rtl="0" eaLnBrk="1" latinLnBrk="0" hangingPunct="1">
        <a:defRPr sz="1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017FE-C49E-DEBE-3922-1702BB396C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802" y="431800"/>
                <a:ext cx="6679098" cy="99822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i="1" u="sng" dirty="0"/>
                  <a:t> TITLE: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Lagrange Interpolation for curve fitting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i="1" u="sng" dirty="0"/>
                  <a:t>OBJECTIVE:</a:t>
                </a:r>
                <a:endParaRPr lang="en-US" dirty="0"/>
              </a:p>
              <a:p>
                <a:pPr marL="0" lvl="0" indent="0">
                  <a:buNone/>
                </a:pPr>
                <a:r>
                  <a:rPr lang="en-US" i="1" dirty="0"/>
                  <a:t>To implement the Lagrange Interpolation method for curve fitting using given data points.</a:t>
                </a:r>
                <a:endParaRPr lang="en-US" dirty="0"/>
              </a:p>
              <a:p>
                <a:pPr marL="0" lvl="0" indent="0">
                  <a:buNone/>
                </a:pPr>
                <a:r>
                  <a:rPr lang="en-US" i="1" dirty="0"/>
                  <a:t>To estimate the value of a function at a specific point using the constructed interpolation polynomial</a:t>
                </a:r>
                <a:r>
                  <a:rPr lang="en-US" b="1" i="1" u="sng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i="1" u="sng" dirty="0"/>
                  <a:t>THEORY: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Lagrange Interpolation is a method used to estimate the value of a function using known data points by constructing a polynomial that passes through all the points. The interpolation formula is: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 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.</m:t>
                          </m:r>
                          <m:nary>
                            <m:naryPr>
                              <m:chr m:val="∏"/>
                              <m:limLoc m:val="undOvr"/>
                              <m:grow m:val="on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eqAr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This polynomial exactly fits the given points and helps in finding unknown values between them.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i="1" u="sng" dirty="0"/>
                  <a:t>SOURCE CODE: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#include &lt;</a:t>
                </a:r>
                <a:r>
                  <a:rPr lang="en-US" i="1" dirty="0" err="1"/>
                  <a:t>stdio.h</a:t>
                </a:r>
                <a:r>
                  <a:rPr lang="en-US" i="1" dirty="0"/>
                  <a:t>&gt;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#include &lt;</a:t>
                </a:r>
                <a:r>
                  <a:rPr lang="en-US" i="1" dirty="0" err="1"/>
                  <a:t>math.h</a:t>
                </a:r>
                <a:r>
                  <a:rPr lang="en-US" i="1" dirty="0"/>
                  <a:t>&gt;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int main() {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float x[10], y[10], </a:t>
                </a:r>
                <a:r>
                  <a:rPr lang="en-US" i="1" dirty="0" err="1"/>
                  <a:t>xp</a:t>
                </a:r>
                <a:r>
                  <a:rPr lang="en-US" i="1" dirty="0"/>
                  <a:t>, </a:t>
                </a:r>
                <a:r>
                  <a:rPr lang="en-US" i="1" dirty="0" err="1"/>
                  <a:t>yp</a:t>
                </a:r>
                <a:r>
                  <a:rPr lang="en-US" i="1" dirty="0"/>
                  <a:t> = 0.0;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float l[10]; 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int </a:t>
                </a:r>
                <a:r>
                  <a:rPr lang="en-US" i="1" dirty="0" err="1"/>
                  <a:t>i</a:t>
                </a:r>
                <a:r>
                  <a:rPr lang="en-US" i="1" dirty="0"/>
                  <a:t>, j, n;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</a:t>
                </a:r>
                <a:r>
                  <a:rPr lang="en-US" i="1" dirty="0" err="1"/>
                  <a:t>printf</a:t>
                </a:r>
                <a:r>
                  <a:rPr lang="en-US" i="1" dirty="0"/>
                  <a:t>("Enter the number of data points: ");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</a:t>
                </a:r>
                <a:r>
                  <a:rPr lang="en-US" i="1" dirty="0" err="1"/>
                  <a:t>scanf</a:t>
                </a:r>
                <a:r>
                  <a:rPr lang="en-US" i="1" dirty="0"/>
                  <a:t>("%d", &amp;n);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</a:t>
                </a:r>
                <a:r>
                  <a:rPr lang="en-US" i="1" dirty="0" err="1"/>
                  <a:t>printf</a:t>
                </a:r>
                <a:r>
                  <a:rPr lang="en-US" i="1" dirty="0"/>
                  <a:t>("Enter the value of </a:t>
                </a:r>
                <a:r>
                  <a:rPr lang="en-US" i="1" dirty="0" err="1"/>
                  <a:t>xp</a:t>
                </a:r>
                <a:r>
                  <a:rPr lang="en-US" i="1" dirty="0"/>
                  <a:t>: ");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</a:t>
                </a:r>
                <a:r>
                  <a:rPr lang="en-US" i="1" dirty="0" err="1"/>
                  <a:t>scanf</a:t>
                </a:r>
                <a:r>
                  <a:rPr lang="en-US" i="1" dirty="0"/>
                  <a:t>("%f", &amp;</a:t>
                </a:r>
                <a:r>
                  <a:rPr lang="en-US" i="1" dirty="0" err="1"/>
                  <a:t>xp</a:t>
                </a:r>
                <a:r>
                  <a:rPr lang="en-US" i="1" dirty="0"/>
                  <a:t>);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</a:t>
                </a:r>
                <a:r>
                  <a:rPr lang="en-US" i="1" dirty="0" err="1"/>
                  <a:t>printf</a:t>
                </a:r>
                <a:r>
                  <a:rPr lang="en-US" i="1" dirty="0"/>
                  <a:t>("Enter the data points (x[</a:t>
                </a:r>
                <a:r>
                  <a:rPr lang="en-US" i="1" dirty="0" err="1"/>
                  <a:t>i</a:t>
                </a:r>
                <a:r>
                  <a:rPr lang="en-US" i="1" dirty="0"/>
                  <a:t>], y[</a:t>
                </a:r>
                <a:r>
                  <a:rPr lang="en-US" i="1" dirty="0" err="1"/>
                  <a:t>i</a:t>
                </a:r>
                <a:r>
                  <a:rPr lang="en-US" i="1" dirty="0"/>
                  <a:t>]):\n");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for (</a:t>
                </a:r>
                <a:r>
                  <a:rPr lang="en-US" i="1" dirty="0" err="1"/>
                  <a:t>i</a:t>
                </a:r>
                <a:r>
                  <a:rPr lang="en-US" i="1" dirty="0"/>
                  <a:t> = 0; </a:t>
                </a:r>
                <a:r>
                  <a:rPr lang="en-US" i="1" dirty="0" err="1"/>
                  <a:t>i</a:t>
                </a:r>
                <a:r>
                  <a:rPr lang="en-US" i="1" dirty="0"/>
                  <a:t> &lt; n; </a:t>
                </a:r>
                <a:r>
                  <a:rPr lang="en-US" i="1" dirty="0" err="1"/>
                  <a:t>i</a:t>
                </a:r>
                <a:r>
                  <a:rPr lang="en-US" i="1" dirty="0"/>
                  <a:t>++) {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    </a:t>
                </a:r>
                <a:r>
                  <a:rPr lang="en-US" i="1" dirty="0" err="1"/>
                  <a:t>printf</a:t>
                </a:r>
                <a:r>
                  <a:rPr lang="en-US" i="1" dirty="0"/>
                  <a:t>("x[%d], y[%d]: ", </a:t>
                </a:r>
                <a:r>
                  <a:rPr lang="en-US" i="1" dirty="0" err="1"/>
                  <a:t>i</a:t>
                </a:r>
                <a:r>
                  <a:rPr lang="en-US" i="1" dirty="0"/>
                  <a:t>, </a:t>
                </a:r>
                <a:r>
                  <a:rPr lang="en-US" i="1" dirty="0" err="1"/>
                  <a:t>i</a:t>
                </a:r>
                <a:r>
                  <a:rPr lang="en-US" i="1" dirty="0"/>
                  <a:t>);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    </a:t>
                </a:r>
                <a:r>
                  <a:rPr lang="en-US" i="1" dirty="0" err="1"/>
                  <a:t>scanf</a:t>
                </a:r>
                <a:r>
                  <a:rPr lang="en-US" i="1" dirty="0"/>
                  <a:t>("%f %f", &amp;x[</a:t>
                </a:r>
                <a:r>
                  <a:rPr lang="en-US" i="1" dirty="0" err="1"/>
                  <a:t>i</a:t>
                </a:r>
                <a:r>
                  <a:rPr lang="en-US" i="1" dirty="0"/>
                  <a:t>], &amp;y[</a:t>
                </a:r>
                <a:r>
                  <a:rPr lang="en-US" i="1" dirty="0" err="1"/>
                  <a:t>i</a:t>
                </a:r>
                <a:r>
                  <a:rPr lang="en-US" i="1" dirty="0"/>
                  <a:t>]);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    }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9017FE-C49E-DEBE-3922-1702BB396C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802" y="431800"/>
                <a:ext cx="6679098" cy="9982200"/>
              </a:xfrm>
              <a:blipFill>
                <a:blip r:embed="rId2"/>
                <a:stretch>
                  <a:fillRect l="-822" t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087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3F19629-951B-B623-184E-009E6C88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02" y="330200"/>
            <a:ext cx="6546235" cy="10063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i="1" dirty="0"/>
              <a:t> for (</a:t>
            </a:r>
            <a:r>
              <a:rPr lang="en-US" sz="1600" i="1" dirty="0" err="1"/>
              <a:t>i</a:t>
            </a:r>
            <a:r>
              <a:rPr lang="en-US" sz="1600" i="1" dirty="0"/>
              <a:t> = 0; </a:t>
            </a:r>
            <a:r>
              <a:rPr lang="en-US" sz="1600" i="1" dirty="0" err="1"/>
              <a:t>i</a:t>
            </a:r>
            <a:r>
              <a:rPr lang="en-US" sz="1600" i="1" dirty="0"/>
              <a:t> &lt; n; </a:t>
            </a:r>
            <a:r>
              <a:rPr lang="en-US" sz="1600" i="1" dirty="0" err="1"/>
              <a:t>i</a:t>
            </a:r>
            <a:r>
              <a:rPr lang="en-US" sz="1600" i="1" dirty="0"/>
              <a:t>++) {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    l[</a:t>
            </a:r>
            <a:r>
              <a:rPr lang="en-US" sz="1600" i="1" dirty="0" err="1"/>
              <a:t>i</a:t>
            </a:r>
            <a:r>
              <a:rPr lang="en-US" sz="1600" i="1" dirty="0"/>
              <a:t>] = 1.0;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    for (j = 0; j &lt; n; </a:t>
            </a:r>
            <a:r>
              <a:rPr lang="en-US" sz="1600" i="1" dirty="0" err="1"/>
              <a:t>j++</a:t>
            </a:r>
            <a:r>
              <a:rPr lang="en-US" sz="1600" i="1" dirty="0"/>
              <a:t>) {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        if (j != </a:t>
            </a:r>
            <a:r>
              <a:rPr lang="en-US" sz="1600" i="1" dirty="0" err="1"/>
              <a:t>i</a:t>
            </a:r>
            <a:r>
              <a:rPr lang="en-US" sz="1600" i="1" dirty="0"/>
              <a:t>) {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            l[</a:t>
            </a:r>
            <a:r>
              <a:rPr lang="en-US" sz="1600" i="1" dirty="0" err="1"/>
              <a:t>i</a:t>
            </a:r>
            <a:r>
              <a:rPr lang="en-US" sz="1600" i="1" dirty="0"/>
              <a:t>] = l[</a:t>
            </a:r>
            <a:r>
              <a:rPr lang="en-US" sz="1600" i="1" dirty="0" err="1"/>
              <a:t>i</a:t>
            </a:r>
            <a:r>
              <a:rPr lang="en-US" sz="1600" i="1" dirty="0"/>
              <a:t>] * (</a:t>
            </a:r>
            <a:r>
              <a:rPr lang="en-US" sz="1600" i="1" dirty="0" err="1"/>
              <a:t>xp</a:t>
            </a:r>
            <a:r>
              <a:rPr lang="en-US" sz="1600" i="1" dirty="0"/>
              <a:t> - x[j]) / (x[</a:t>
            </a:r>
            <a:r>
              <a:rPr lang="en-US" sz="1600" i="1" dirty="0" err="1"/>
              <a:t>i</a:t>
            </a:r>
            <a:r>
              <a:rPr lang="en-US" sz="1600" i="1" dirty="0"/>
              <a:t>] - x[j]);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        }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    }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    </a:t>
            </a:r>
            <a:r>
              <a:rPr lang="en-US" sz="1600" i="1" dirty="0" err="1"/>
              <a:t>yp</a:t>
            </a:r>
            <a:r>
              <a:rPr lang="en-US" sz="1600" i="1" dirty="0"/>
              <a:t> += l[</a:t>
            </a:r>
            <a:r>
              <a:rPr lang="en-US" sz="1600" i="1" dirty="0" err="1"/>
              <a:t>i</a:t>
            </a:r>
            <a:r>
              <a:rPr lang="en-US" sz="1600" i="1" dirty="0"/>
              <a:t>] * y[</a:t>
            </a:r>
            <a:r>
              <a:rPr lang="en-US" sz="1600" i="1" dirty="0" err="1"/>
              <a:t>i</a:t>
            </a:r>
            <a:r>
              <a:rPr lang="en-US" sz="1600" i="1" dirty="0"/>
              <a:t>]; 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}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</a:t>
            </a:r>
            <a:r>
              <a:rPr lang="en-US" sz="1600" i="1" dirty="0" err="1"/>
              <a:t>printf</a:t>
            </a:r>
            <a:r>
              <a:rPr lang="en-US" sz="1600" i="1" dirty="0"/>
              <a:t>("\</a:t>
            </a:r>
            <a:r>
              <a:rPr lang="en-US" sz="1600" i="1" dirty="0" err="1"/>
              <a:t>nLagrange</a:t>
            </a:r>
            <a:r>
              <a:rPr lang="en-US" sz="1600" i="1" dirty="0"/>
              <a:t> basis polynomial values:\n");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for (</a:t>
            </a:r>
            <a:r>
              <a:rPr lang="en-US" sz="1600" i="1" dirty="0" err="1"/>
              <a:t>i</a:t>
            </a:r>
            <a:r>
              <a:rPr lang="en-US" sz="1600" i="1" dirty="0"/>
              <a:t> = 0; </a:t>
            </a:r>
            <a:r>
              <a:rPr lang="en-US" sz="1600" i="1" dirty="0" err="1"/>
              <a:t>i</a:t>
            </a:r>
            <a:r>
              <a:rPr lang="en-US" sz="1600" i="1" dirty="0"/>
              <a:t> &lt; n; </a:t>
            </a:r>
            <a:r>
              <a:rPr lang="en-US" sz="1600" i="1" dirty="0" err="1"/>
              <a:t>i</a:t>
            </a:r>
            <a:r>
              <a:rPr lang="en-US" sz="1600" i="1" dirty="0"/>
              <a:t>++) {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    </a:t>
            </a:r>
            <a:r>
              <a:rPr lang="en-US" sz="1600" i="1" dirty="0" err="1"/>
              <a:t>printf</a:t>
            </a:r>
            <a:r>
              <a:rPr lang="en-US" sz="1600" i="1" dirty="0"/>
              <a:t>("L[%d] = %.6f\n", </a:t>
            </a:r>
            <a:r>
              <a:rPr lang="en-US" sz="1600" i="1" dirty="0" err="1"/>
              <a:t>i</a:t>
            </a:r>
            <a:r>
              <a:rPr lang="en-US" sz="1600" i="1" dirty="0"/>
              <a:t>, l[</a:t>
            </a:r>
            <a:r>
              <a:rPr lang="en-US" sz="1600" i="1" dirty="0" err="1"/>
              <a:t>i</a:t>
            </a:r>
            <a:r>
              <a:rPr lang="en-US" sz="1600" i="1" dirty="0"/>
              <a:t>]);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}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</a:t>
            </a:r>
            <a:r>
              <a:rPr lang="en-US" sz="1600" i="1" dirty="0" err="1"/>
              <a:t>printf</a:t>
            </a:r>
            <a:r>
              <a:rPr lang="en-US" sz="1600" i="1" dirty="0"/>
              <a:t>("\</a:t>
            </a:r>
            <a:r>
              <a:rPr lang="en-US" sz="1600" i="1" dirty="0" err="1"/>
              <a:t>nInterpolated</a:t>
            </a:r>
            <a:r>
              <a:rPr lang="en-US" sz="1600" i="1" dirty="0"/>
              <a:t> value at x = %.4f is y = %.6f\n", </a:t>
            </a:r>
            <a:r>
              <a:rPr lang="en-US" sz="1600" i="1" dirty="0" err="1"/>
              <a:t>xp</a:t>
            </a:r>
            <a:r>
              <a:rPr lang="en-US" sz="1600" i="1" dirty="0"/>
              <a:t>, </a:t>
            </a:r>
            <a:r>
              <a:rPr lang="en-US" sz="1600" i="1" dirty="0" err="1"/>
              <a:t>yp</a:t>
            </a:r>
            <a:r>
              <a:rPr lang="en-US" sz="1600" i="1" dirty="0"/>
              <a:t>);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    return 0;</a:t>
            </a:r>
          </a:p>
          <a:p>
            <a:pPr marL="0" indent="0">
              <a:buNone/>
            </a:pPr>
            <a:r>
              <a:rPr lang="en-US" sz="1600" i="1" dirty="0"/>
              <a:t>}</a:t>
            </a:r>
          </a:p>
          <a:p>
            <a:pPr marL="0" indent="0">
              <a:buNone/>
            </a:pPr>
            <a:r>
              <a:rPr lang="en-US" sz="1600" b="1" i="1" u="sng" dirty="0"/>
              <a:t>OUTPUT :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/>
              <a:t> 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/>
              <a:t> 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/>
              <a:t> 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/>
              <a:t> 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/>
              <a:t> 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/>
              <a:t> 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/>
              <a:t> 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u="sng" dirty="0"/>
              <a:t>DISCUSSION AND CONCLUSION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The Lagrange interpolation method was implemented to estimate the value of a function using given data points. the program successfully calculated the Lagrange basis polynomials and provided an accurate interpolated 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value at the desired point. the method effectively demonstrated how curve fitting can be achieved through polynomial interpolation.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04B8A12-819A-B211-DB62-500F336E0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929" y="5013166"/>
            <a:ext cx="3649980" cy="29933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799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478</Words>
  <Application>Microsoft Office PowerPoint</Application>
  <PresentationFormat>Custom</PresentationFormat>
  <Paragraphs>53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oshan bajracharya</dc:creator>
  <cp:lastModifiedBy>oshan bajracharya</cp:lastModifiedBy>
  <cp:revision>2</cp:revision>
  <dcterms:created xsi:type="dcterms:W3CDTF">2025-06-05T02:19:57Z</dcterms:created>
  <dcterms:modified xsi:type="dcterms:W3CDTF">2025-06-05T02:30:38Z</dcterms:modified>
</cp:coreProperties>
</file>